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0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0"/>
    <p:restoredTop sz="87959"/>
  </p:normalViewPr>
  <p:slideViewPr>
    <p:cSldViewPr snapToGrid="0">
      <p:cViewPr varScale="1">
        <p:scale>
          <a:sx n="107" d="100"/>
          <a:sy n="107" d="100"/>
        </p:scale>
        <p:origin x="872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90308F-C980-45EB-B829-6DDDDCFB743C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737B37-2B18-40A6-93F6-C9CDD6D2B205}">
      <dgm:prSet/>
      <dgm:spPr/>
      <dgm:t>
        <a:bodyPr/>
        <a:lstStyle/>
        <a:p>
          <a:r>
            <a:rPr lang="en-US" b="1" i="0" baseline="0"/>
            <a:t>Step 1:</a:t>
          </a:r>
          <a:r>
            <a:rPr lang="en-US" b="0" i="0" baseline="0"/>
            <a:t> Preprocess spectra (ROI filtering, scaling, PCA on train only)</a:t>
          </a:r>
          <a:endParaRPr lang="en-US"/>
        </a:p>
      </dgm:t>
    </dgm:pt>
    <dgm:pt modelId="{411230EC-9173-4785-A5EB-D1D64F2A0C6B}" type="parTrans" cxnId="{010D0838-C83F-469E-AE88-BB979A510A25}">
      <dgm:prSet/>
      <dgm:spPr/>
      <dgm:t>
        <a:bodyPr/>
        <a:lstStyle/>
        <a:p>
          <a:endParaRPr lang="en-US"/>
        </a:p>
      </dgm:t>
    </dgm:pt>
    <dgm:pt modelId="{5FA9606D-4AD6-43FE-86D8-AF31C8532501}" type="sibTrans" cxnId="{010D0838-C83F-469E-AE88-BB979A510A2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E4AC933-AD22-463F-8A80-4C7AFA63E6B9}">
      <dgm:prSet/>
      <dgm:spPr/>
      <dgm:t>
        <a:bodyPr/>
        <a:lstStyle/>
        <a:p>
          <a:r>
            <a:rPr lang="en-US" b="1" i="0" baseline="0"/>
            <a:t>Step 2:</a:t>
          </a:r>
          <a:r>
            <a:rPr lang="en-US" b="0" i="0" baseline="0"/>
            <a:t> Split dataset → </a:t>
          </a:r>
          <a:r>
            <a:rPr lang="en-US" b="1" i="0" baseline="0"/>
            <a:t>Train</a:t>
          </a:r>
          <a:r>
            <a:rPr lang="en-US" b="0" i="0" baseline="0"/>
            <a:t> vs </a:t>
          </a:r>
          <a:r>
            <a:rPr lang="en-US" b="1" i="0" baseline="0"/>
            <a:t>Test</a:t>
          </a:r>
          <a:r>
            <a:rPr lang="en-US" b="0" i="0" baseline="0"/>
            <a:t> (no peeking!)</a:t>
          </a:r>
          <a:endParaRPr lang="en-US"/>
        </a:p>
      </dgm:t>
    </dgm:pt>
    <dgm:pt modelId="{A5B8169A-2C6D-43A1-B934-800974CC2C3C}" type="parTrans" cxnId="{77E50B92-0261-42D9-AD3D-FAE404971279}">
      <dgm:prSet/>
      <dgm:spPr/>
      <dgm:t>
        <a:bodyPr/>
        <a:lstStyle/>
        <a:p>
          <a:endParaRPr lang="en-US"/>
        </a:p>
      </dgm:t>
    </dgm:pt>
    <dgm:pt modelId="{D1D74830-56A6-4DA4-8491-79258CBA985A}" type="sibTrans" cxnId="{77E50B92-0261-42D9-AD3D-FAE40497127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373FF2C-83B8-4DF9-8498-9BAEC1D259B7}">
      <dgm:prSet/>
      <dgm:spPr/>
      <dgm:t>
        <a:bodyPr/>
        <a:lstStyle/>
        <a:p>
          <a:r>
            <a:rPr lang="en-US" b="1" i="0" baseline="0" dirty="0"/>
            <a:t>Step 3:</a:t>
          </a:r>
          <a:r>
            <a:rPr lang="en-US" b="0" i="0" baseline="0" dirty="0"/>
            <a:t> Build models</a:t>
          </a:r>
        </a:p>
        <a:p>
          <a:r>
            <a:rPr lang="en-US" b="0" i="0" baseline="0" dirty="0"/>
            <a:t>Regression: predict </a:t>
          </a:r>
          <a:r>
            <a:rPr lang="en-US" b="1" i="0" baseline="0" dirty="0"/>
            <a:t>BMI</a:t>
          </a:r>
        </a:p>
        <a:p>
          <a:endParaRPr lang="en-US" b="1" i="0" baseline="0" dirty="0"/>
        </a:p>
        <a:p>
          <a:r>
            <a:rPr lang="en-US" b="0" i="0" baseline="0" dirty="0"/>
            <a:t>Classification: predict </a:t>
          </a:r>
          <a:r>
            <a:rPr lang="en-US" b="1" i="0" baseline="0" dirty="0"/>
            <a:t>COVID vs No COVID</a:t>
          </a:r>
        </a:p>
      </dgm:t>
    </dgm:pt>
    <dgm:pt modelId="{E26A060E-C159-43E7-BFC3-9A7AF23DF5ED}" type="parTrans" cxnId="{23527193-C30C-40F3-94AD-7277C5AC5F33}">
      <dgm:prSet/>
      <dgm:spPr/>
      <dgm:t>
        <a:bodyPr/>
        <a:lstStyle/>
        <a:p>
          <a:endParaRPr lang="en-US"/>
        </a:p>
      </dgm:t>
    </dgm:pt>
    <dgm:pt modelId="{B662C5C3-1203-49D0-825D-15F6D5F57683}" type="sibTrans" cxnId="{23527193-C30C-40F3-94AD-7277C5AC5F3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D39EF50-E10B-4DB2-9B31-CF22A5D9FE47}">
      <dgm:prSet/>
      <dgm:spPr/>
      <dgm:t>
        <a:bodyPr/>
        <a:lstStyle/>
        <a:p>
          <a:r>
            <a:rPr lang="en-US" b="1" i="0" baseline="0"/>
            <a:t>Step 4:</a:t>
          </a:r>
          <a:r>
            <a:rPr lang="en-US" b="0" i="0" baseline="0"/>
            <a:t> Evaluate performance (R², RMSE; Confusion Matrix, F1)</a:t>
          </a:r>
          <a:endParaRPr lang="en-US"/>
        </a:p>
      </dgm:t>
    </dgm:pt>
    <dgm:pt modelId="{78CD0FF6-A51B-4331-A8C0-5982162BF77F}" type="parTrans" cxnId="{D94A2B32-9559-4DA3-8E2D-4774F25C60C2}">
      <dgm:prSet/>
      <dgm:spPr/>
      <dgm:t>
        <a:bodyPr/>
        <a:lstStyle/>
        <a:p>
          <a:endParaRPr lang="en-US"/>
        </a:p>
      </dgm:t>
    </dgm:pt>
    <dgm:pt modelId="{42B07AF7-64D9-441F-8900-F75EC221CBF4}" type="sibTrans" cxnId="{D94A2B32-9559-4DA3-8E2D-4774F25C60C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16D1A36-7D4A-44B9-AEBB-21AEFFAB79BB}">
      <dgm:prSet/>
      <dgm:spPr/>
      <dgm:t>
        <a:bodyPr/>
        <a:lstStyle/>
        <a:p>
          <a:r>
            <a:rPr lang="en-US" b="1" i="0" baseline="0"/>
            <a:t>Step 5:</a:t>
          </a:r>
          <a:r>
            <a:rPr lang="en-US" b="0" i="0" baseline="0"/>
            <a:t> Interpret results in </a:t>
          </a:r>
          <a:r>
            <a:rPr lang="en-US" b="1" i="0" baseline="0"/>
            <a:t>ppm space</a:t>
          </a:r>
          <a:endParaRPr lang="en-US"/>
        </a:p>
      </dgm:t>
    </dgm:pt>
    <dgm:pt modelId="{F2A2A61D-16A1-4465-B23E-BD92D8F8706A}" type="parTrans" cxnId="{20B1D9AA-1220-4287-9935-9965B145FDE8}">
      <dgm:prSet/>
      <dgm:spPr/>
      <dgm:t>
        <a:bodyPr/>
        <a:lstStyle/>
        <a:p>
          <a:endParaRPr lang="en-US"/>
        </a:p>
      </dgm:t>
    </dgm:pt>
    <dgm:pt modelId="{7598CBFB-B5B7-46D2-B171-80AC157E4A7D}" type="sibTrans" cxnId="{20B1D9AA-1220-4287-9935-9965B145FDE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D0FF11C-6187-174D-BAA1-26990808836D}" type="pres">
      <dgm:prSet presAssocID="{A290308F-C980-45EB-B829-6DDDDCFB743C}" presName="linearFlow" presStyleCnt="0">
        <dgm:presLayoutVars>
          <dgm:dir/>
          <dgm:animLvl val="lvl"/>
          <dgm:resizeHandles val="exact"/>
        </dgm:presLayoutVars>
      </dgm:prSet>
      <dgm:spPr/>
    </dgm:pt>
    <dgm:pt modelId="{C282D2E3-E5D0-EB44-9576-B46FA180F6A0}" type="pres">
      <dgm:prSet presAssocID="{F7737B37-2B18-40A6-93F6-C9CDD6D2B205}" presName="compositeNode" presStyleCnt="0"/>
      <dgm:spPr/>
    </dgm:pt>
    <dgm:pt modelId="{B6C3E9C7-E042-FD46-9F20-F624E760A09E}" type="pres">
      <dgm:prSet presAssocID="{F7737B37-2B18-40A6-93F6-C9CDD6D2B20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BC6DFF6-C56D-1146-B7DC-19B7F7F9EE1D}" type="pres">
      <dgm:prSet presAssocID="{F7737B37-2B18-40A6-93F6-C9CDD6D2B205}" presName="parSh" presStyleCnt="0"/>
      <dgm:spPr/>
    </dgm:pt>
    <dgm:pt modelId="{3E0277AD-C6CA-9941-A737-26F5DE3D4460}" type="pres">
      <dgm:prSet presAssocID="{F7737B37-2B18-40A6-93F6-C9CDD6D2B205}" presName="lineNode" presStyleLbl="alignAccFollowNode1" presStyleIdx="0" presStyleCnt="15"/>
      <dgm:spPr/>
    </dgm:pt>
    <dgm:pt modelId="{8F540979-4DD9-474B-810F-F44549982458}" type="pres">
      <dgm:prSet presAssocID="{F7737B37-2B18-40A6-93F6-C9CDD6D2B205}" presName="lineArrowNode" presStyleLbl="alignAccFollowNode1" presStyleIdx="1" presStyleCnt="15"/>
      <dgm:spPr/>
    </dgm:pt>
    <dgm:pt modelId="{F7CFBFA6-B731-7F44-B24E-BDC8D11D4424}" type="pres">
      <dgm:prSet presAssocID="{5FA9606D-4AD6-43FE-86D8-AF31C8532501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8E353A14-F44F-824E-80F1-D6EB91AB72FF}" type="pres">
      <dgm:prSet presAssocID="{5FA9606D-4AD6-43FE-86D8-AF31C8532501}" presName="spacerBetweenCircleAndCallout" presStyleCnt="0">
        <dgm:presLayoutVars/>
      </dgm:prSet>
      <dgm:spPr/>
    </dgm:pt>
    <dgm:pt modelId="{424E68AC-B3D8-E14C-9EB1-49F65669104F}" type="pres">
      <dgm:prSet presAssocID="{F7737B37-2B18-40A6-93F6-C9CDD6D2B205}" presName="nodeText" presStyleLbl="alignAccFollowNode1" presStyleIdx="2" presStyleCnt="15">
        <dgm:presLayoutVars>
          <dgm:bulletEnabled val="1"/>
        </dgm:presLayoutVars>
      </dgm:prSet>
      <dgm:spPr/>
    </dgm:pt>
    <dgm:pt modelId="{1C66AD3B-4BEE-084E-B965-711EAC1778FD}" type="pres">
      <dgm:prSet presAssocID="{5FA9606D-4AD6-43FE-86D8-AF31C8532501}" presName="sibTransComposite" presStyleCnt="0"/>
      <dgm:spPr/>
    </dgm:pt>
    <dgm:pt modelId="{C944AFE2-A409-C041-9CF5-B0ABEAB5824B}" type="pres">
      <dgm:prSet presAssocID="{BE4AC933-AD22-463F-8A80-4C7AFA63E6B9}" presName="compositeNode" presStyleCnt="0"/>
      <dgm:spPr/>
    </dgm:pt>
    <dgm:pt modelId="{D8A96056-C323-E242-A37E-AE91428FFB99}" type="pres">
      <dgm:prSet presAssocID="{BE4AC933-AD22-463F-8A80-4C7AFA63E6B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664190C-85C4-E347-9E66-D0CD31218DB8}" type="pres">
      <dgm:prSet presAssocID="{BE4AC933-AD22-463F-8A80-4C7AFA63E6B9}" presName="parSh" presStyleCnt="0"/>
      <dgm:spPr/>
    </dgm:pt>
    <dgm:pt modelId="{40B32547-7A48-A248-BFC6-C6DE5F614439}" type="pres">
      <dgm:prSet presAssocID="{BE4AC933-AD22-463F-8A80-4C7AFA63E6B9}" presName="lineNode" presStyleLbl="alignAccFollowNode1" presStyleIdx="3" presStyleCnt="15"/>
      <dgm:spPr/>
    </dgm:pt>
    <dgm:pt modelId="{5BC8975F-A231-2D47-9E13-9B723BA35950}" type="pres">
      <dgm:prSet presAssocID="{BE4AC933-AD22-463F-8A80-4C7AFA63E6B9}" presName="lineArrowNode" presStyleLbl="alignAccFollowNode1" presStyleIdx="4" presStyleCnt="15"/>
      <dgm:spPr/>
    </dgm:pt>
    <dgm:pt modelId="{DD8A270D-2C14-794E-901E-1B82BB19BB47}" type="pres">
      <dgm:prSet presAssocID="{D1D74830-56A6-4DA4-8491-79258CBA985A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756118A9-20BF-FB41-91DC-AA045D4B9C4F}" type="pres">
      <dgm:prSet presAssocID="{D1D74830-56A6-4DA4-8491-79258CBA985A}" presName="spacerBetweenCircleAndCallout" presStyleCnt="0">
        <dgm:presLayoutVars/>
      </dgm:prSet>
      <dgm:spPr/>
    </dgm:pt>
    <dgm:pt modelId="{9A670A50-1FD4-4E45-9DE6-FA1C3AD6791D}" type="pres">
      <dgm:prSet presAssocID="{BE4AC933-AD22-463F-8A80-4C7AFA63E6B9}" presName="nodeText" presStyleLbl="alignAccFollowNode1" presStyleIdx="5" presStyleCnt="15">
        <dgm:presLayoutVars>
          <dgm:bulletEnabled val="1"/>
        </dgm:presLayoutVars>
      </dgm:prSet>
      <dgm:spPr/>
    </dgm:pt>
    <dgm:pt modelId="{4F902BAC-3E76-2C42-BCA2-857A54FE43B6}" type="pres">
      <dgm:prSet presAssocID="{D1D74830-56A6-4DA4-8491-79258CBA985A}" presName="sibTransComposite" presStyleCnt="0"/>
      <dgm:spPr/>
    </dgm:pt>
    <dgm:pt modelId="{58FAB4C6-F620-B34A-84A9-B98461424DBA}" type="pres">
      <dgm:prSet presAssocID="{9373FF2C-83B8-4DF9-8498-9BAEC1D259B7}" presName="compositeNode" presStyleCnt="0"/>
      <dgm:spPr/>
    </dgm:pt>
    <dgm:pt modelId="{1C8C88C3-EF3A-104A-A2A2-5275ABDC61B6}" type="pres">
      <dgm:prSet presAssocID="{9373FF2C-83B8-4DF9-8498-9BAEC1D259B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9954E2F-F7F2-0740-8B5A-AC9D3FB57D6D}" type="pres">
      <dgm:prSet presAssocID="{9373FF2C-83B8-4DF9-8498-9BAEC1D259B7}" presName="parSh" presStyleCnt="0"/>
      <dgm:spPr/>
    </dgm:pt>
    <dgm:pt modelId="{CD7B0850-300F-4748-97CA-61807992B27E}" type="pres">
      <dgm:prSet presAssocID="{9373FF2C-83B8-4DF9-8498-9BAEC1D259B7}" presName="lineNode" presStyleLbl="alignAccFollowNode1" presStyleIdx="6" presStyleCnt="15"/>
      <dgm:spPr/>
    </dgm:pt>
    <dgm:pt modelId="{7C5545DB-3A37-5343-97F6-56F9A3CBEC89}" type="pres">
      <dgm:prSet presAssocID="{9373FF2C-83B8-4DF9-8498-9BAEC1D259B7}" presName="lineArrowNode" presStyleLbl="alignAccFollowNode1" presStyleIdx="7" presStyleCnt="15"/>
      <dgm:spPr/>
    </dgm:pt>
    <dgm:pt modelId="{CA2B07FC-6B41-9740-B94E-9FB99E74D9B6}" type="pres">
      <dgm:prSet presAssocID="{B662C5C3-1203-49D0-825D-15F6D5F57683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B8163261-AF8A-D740-A317-95E5852AFB44}" type="pres">
      <dgm:prSet presAssocID="{B662C5C3-1203-49D0-825D-15F6D5F57683}" presName="spacerBetweenCircleAndCallout" presStyleCnt="0">
        <dgm:presLayoutVars/>
      </dgm:prSet>
      <dgm:spPr/>
    </dgm:pt>
    <dgm:pt modelId="{B357E3CC-2689-CC4F-AD62-4223D2F2A839}" type="pres">
      <dgm:prSet presAssocID="{9373FF2C-83B8-4DF9-8498-9BAEC1D259B7}" presName="nodeText" presStyleLbl="alignAccFollowNode1" presStyleIdx="8" presStyleCnt="15">
        <dgm:presLayoutVars>
          <dgm:bulletEnabled val="1"/>
        </dgm:presLayoutVars>
      </dgm:prSet>
      <dgm:spPr/>
    </dgm:pt>
    <dgm:pt modelId="{58E774B6-58D5-D24D-A9B0-5D9C7EF9D190}" type="pres">
      <dgm:prSet presAssocID="{B662C5C3-1203-49D0-825D-15F6D5F57683}" presName="sibTransComposite" presStyleCnt="0"/>
      <dgm:spPr/>
    </dgm:pt>
    <dgm:pt modelId="{26CFC193-BB9E-5447-9B00-94C3C6E72686}" type="pres">
      <dgm:prSet presAssocID="{6D39EF50-E10B-4DB2-9B31-CF22A5D9FE47}" presName="compositeNode" presStyleCnt="0"/>
      <dgm:spPr/>
    </dgm:pt>
    <dgm:pt modelId="{13DD81AB-2658-8742-A4A0-7D3B2C14392D}" type="pres">
      <dgm:prSet presAssocID="{6D39EF50-E10B-4DB2-9B31-CF22A5D9FE4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98BDE7C-B0A9-2541-81FB-8452C66E46AC}" type="pres">
      <dgm:prSet presAssocID="{6D39EF50-E10B-4DB2-9B31-CF22A5D9FE47}" presName="parSh" presStyleCnt="0"/>
      <dgm:spPr/>
    </dgm:pt>
    <dgm:pt modelId="{585197AF-9DFD-2145-9495-E2F9CD64033F}" type="pres">
      <dgm:prSet presAssocID="{6D39EF50-E10B-4DB2-9B31-CF22A5D9FE47}" presName="lineNode" presStyleLbl="alignAccFollowNode1" presStyleIdx="9" presStyleCnt="15"/>
      <dgm:spPr/>
    </dgm:pt>
    <dgm:pt modelId="{BB9561D6-5352-BF4F-9AD6-781207EC4CD0}" type="pres">
      <dgm:prSet presAssocID="{6D39EF50-E10B-4DB2-9B31-CF22A5D9FE47}" presName="lineArrowNode" presStyleLbl="alignAccFollowNode1" presStyleIdx="10" presStyleCnt="15"/>
      <dgm:spPr/>
    </dgm:pt>
    <dgm:pt modelId="{086B36F9-F623-8B43-876A-626F8A090CD1}" type="pres">
      <dgm:prSet presAssocID="{42B07AF7-64D9-441F-8900-F75EC221CBF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30F4DFA2-B8C5-C54D-B37B-7933A5628BB5}" type="pres">
      <dgm:prSet presAssocID="{42B07AF7-64D9-441F-8900-F75EC221CBF4}" presName="spacerBetweenCircleAndCallout" presStyleCnt="0">
        <dgm:presLayoutVars/>
      </dgm:prSet>
      <dgm:spPr/>
    </dgm:pt>
    <dgm:pt modelId="{E4BB6AB3-D00E-2548-8F86-1D72DB08417F}" type="pres">
      <dgm:prSet presAssocID="{6D39EF50-E10B-4DB2-9B31-CF22A5D9FE47}" presName="nodeText" presStyleLbl="alignAccFollowNode1" presStyleIdx="11" presStyleCnt="15">
        <dgm:presLayoutVars>
          <dgm:bulletEnabled val="1"/>
        </dgm:presLayoutVars>
      </dgm:prSet>
      <dgm:spPr/>
    </dgm:pt>
    <dgm:pt modelId="{A5390FCB-48CD-A34A-BF57-9A9338191658}" type="pres">
      <dgm:prSet presAssocID="{42B07AF7-64D9-441F-8900-F75EC221CBF4}" presName="sibTransComposite" presStyleCnt="0"/>
      <dgm:spPr/>
    </dgm:pt>
    <dgm:pt modelId="{D67E09B5-88EB-0C4E-AC6B-16C2F5EDA43D}" type="pres">
      <dgm:prSet presAssocID="{F16D1A36-7D4A-44B9-AEBB-21AEFFAB79BB}" presName="compositeNode" presStyleCnt="0"/>
      <dgm:spPr/>
    </dgm:pt>
    <dgm:pt modelId="{09B818ED-3F4B-854B-A53F-3B8792A4A24F}" type="pres">
      <dgm:prSet presAssocID="{F16D1A36-7D4A-44B9-AEBB-21AEFFAB79B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FC850D-35FD-5B4B-B295-3E2581503DCE}" type="pres">
      <dgm:prSet presAssocID="{F16D1A36-7D4A-44B9-AEBB-21AEFFAB79BB}" presName="parSh" presStyleCnt="0"/>
      <dgm:spPr/>
    </dgm:pt>
    <dgm:pt modelId="{F2C0BA35-8623-5B4B-A5E9-02BC689BD6B7}" type="pres">
      <dgm:prSet presAssocID="{F16D1A36-7D4A-44B9-AEBB-21AEFFAB79BB}" presName="lineNode" presStyleLbl="alignAccFollowNode1" presStyleIdx="12" presStyleCnt="15"/>
      <dgm:spPr/>
    </dgm:pt>
    <dgm:pt modelId="{96170FB6-95DB-A647-8481-C21A7C2EB36E}" type="pres">
      <dgm:prSet presAssocID="{F16D1A36-7D4A-44B9-AEBB-21AEFFAB79BB}" presName="lineArrowNode" presStyleLbl="alignAccFollowNode1" presStyleIdx="13" presStyleCnt="15"/>
      <dgm:spPr/>
    </dgm:pt>
    <dgm:pt modelId="{E2B68C82-BD52-D743-B504-80EEF52DB562}" type="pres">
      <dgm:prSet presAssocID="{7598CBFB-B5B7-46D2-B171-80AC157E4A7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18BF314C-772B-1B4E-8310-A8AF58139901}" type="pres">
      <dgm:prSet presAssocID="{7598CBFB-B5B7-46D2-B171-80AC157E4A7D}" presName="spacerBetweenCircleAndCallout" presStyleCnt="0">
        <dgm:presLayoutVars/>
      </dgm:prSet>
      <dgm:spPr/>
    </dgm:pt>
    <dgm:pt modelId="{B357B6F8-C7B6-F640-AA0A-4EA28B4A66DD}" type="pres">
      <dgm:prSet presAssocID="{F16D1A36-7D4A-44B9-AEBB-21AEFFAB79BB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C2966901-6F48-F94F-B4B9-C72A7AD4A2EB}" type="presOf" srcId="{5FA9606D-4AD6-43FE-86D8-AF31C8532501}" destId="{F7CFBFA6-B731-7F44-B24E-BDC8D11D4424}" srcOrd="0" destOrd="0" presId="urn:microsoft.com/office/officeart/2016/7/layout/LinearArrowProcessNumbered"/>
    <dgm:cxn modelId="{1FABC807-B773-BD4B-ABF0-DC5E974CC302}" type="presOf" srcId="{B662C5C3-1203-49D0-825D-15F6D5F57683}" destId="{CA2B07FC-6B41-9740-B94E-9FB99E74D9B6}" srcOrd="0" destOrd="0" presId="urn:microsoft.com/office/officeart/2016/7/layout/LinearArrowProcessNumbered"/>
    <dgm:cxn modelId="{19BE0F1A-AFEA-204F-B418-594F2C2E20CD}" type="presOf" srcId="{F7737B37-2B18-40A6-93F6-C9CDD6D2B205}" destId="{424E68AC-B3D8-E14C-9EB1-49F65669104F}" srcOrd="0" destOrd="0" presId="urn:microsoft.com/office/officeart/2016/7/layout/LinearArrowProcessNumbered"/>
    <dgm:cxn modelId="{D94A2B32-9559-4DA3-8E2D-4774F25C60C2}" srcId="{A290308F-C980-45EB-B829-6DDDDCFB743C}" destId="{6D39EF50-E10B-4DB2-9B31-CF22A5D9FE47}" srcOrd="3" destOrd="0" parTransId="{78CD0FF6-A51B-4331-A8C0-5982162BF77F}" sibTransId="{42B07AF7-64D9-441F-8900-F75EC221CBF4}"/>
    <dgm:cxn modelId="{010D0838-C83F-469E-AE88-BB979A510A25}" srcId="{A290308F-C980-45EB-B829-6DDDDCFB743C}" destId="{F7737B37-2B18-40A6-93F6-C9CDD6D2B205}" srcOrd="0" destOrd="0" parTransId="{411230EC-9173-4785-A5EB-D1D64F2A0C6B}" sibTransId="{5FA9606D-4AD6-43FE-86D8-AF31C8532501}"/>
    <dgm:cxn modelId="{97CDB348-C2DE-094E-A222-AF616196D954}" type="presOf" srcId="{9373FF2C-83B8-4DF9-8498-9BAEC1D259B7}" destId="{B357E3CC-2689-CC4F-AD62-4223D2F2A839}" srcOrd="0" destOrd="0" presId="urn:microsoft.com/office/officeart/2016/7/layout/LinearArrowProcessNumbered"/>
    <dgm:cxn modelId="{AE3DED4D-2843-1B48-B38B-67E7635B2D5C}" type="presOf" srcId="{D1D74830-56A6-4DA4-8491-79258CBA985A}" destId="{DD8A270D-2C14-794E-901E-1B82BB19BB47}" srcOrd="0" destOrd="0" presId="urn:microsoft.com/office/officeart/2016/7/layout/LinearArrowProcessNumbered"/>
    <dgm:cxn modelId="{29ECF158-D319-E443-B675-C746ACC1AEEF}" type="presOf" srcId="{BE4AC933-AD22-463F-8A80-4C7AFA63E6B9}" destId="{9A670A50-1FD4-4E45-9DE6-FA1C3AD6791D}" srcOrd="0" destOrd="0" presId="urn:microsoft.com/office/officeart/2016/7/layout/LinearArrowProcessNumbered"/>
    <dgm:cxn modelId="{8D47195A-3EE5-1343-8D08-0C489FF08120}" type="presOf" srcId="{7598CBFB-B5B7-46D2-B171-80AC157E4A7D}" destId="{E2B68C82-BD52-D743-B504-80EEF52DB562}" srcOrd="0" destOrd="0" presId="urn:microsoft.com/office/officeart/2016/7/layout/LinearArrowProcessNumbered"/>
    <dgm:cxn modelId="{ACA71A7A-05C4-A64F-AE7D-15E2CE8A4C32}" type="presOf" srcId="{F16D1A36-7D4A-44B9-AEBB-21AEFFAB79BB}" destId="{B357B6F8-C7B6-F640-AA0A-4EA28B4A66DD}" srcOrd="0" destOrd="0" presId="urn:microsoft.com/office/officeart/2016/7/layout/LinearArrowProcessNumbered"/>
    <dgm:cxn modelId="{1A7B558B-7B3D-AB43-8D7A-9EB5AC4108CF}" type="presOf" srcId="{6D39EF50-E10B-4DB2-9B31-CF22A5D9FE47}" destId="{E4BB6AB3-D00E-2548-8F86-1D72DB08417F}" srcOrd="0" destOrd="0" presId="urn:microsoft.com/office/officeart/2016/7/layout/LinearArrowProcessNumbered"/>
    <dgm:cxn modelId="{77E50B92-0261-42D9-AD3D-FAE404971279}" srcId="{A290308F-C980-45EB-B829-6DDDDCFB743C}" destId="{BE4AC933-AD22-463F-8A80-4C7AFA63E6B9}" srcOrd="1" destOrd="0" parTransId="{A5B8169A-2C6D-43A1-B934-800974CC2C3C}" sibTransId="{D1D74830-56A6-4DA4-8491-79258CBA985A}"/>
    <dgm:cxn modelId="{23527193-C30C-40F3-94AD-7277C5AC5F33}" srcId="{A290308F-C980-45EB-B829-6DDDDCFB743C}" destId="{9373FF2C-83B8-4DF9-8498-9BAEC1D259B7}" srcOrd="2" destOrd="0" parTransId="{E26A060E-C159-43E7-BFC3-9A7AF23DF5ED}" sibTransId="{B662C5C3-1203-49D0-825D-15F6D5F57683}"/>
    <dgm:cxn modelId="{20B1D9AA-1220-4287-9935-9965B145FDE8}" srcId="{A290308F-C980-45EB-B829-6DDDDCFB743C}" destId="{F16D1A36-7D4A-44B9-AEBB-21AEFFAB79BB}" srcOrd="4" destOrd="0" parTransId="{F2A2A61D-16A1-4465-B23E-BD92D8F8706A}" sibTransId="{7598CBFB-B5B7-46D2-B171-80AC157E4A7D}"/>
    <dgm:cxn modelId="{3D3C09B6-2A82-3047-98BD-A946A56F1978}" type="presOf" srcId="{42B07AF7-64D9-441F-8900-F75EC221CBF4}" destId="{086B36F9-F623-8B43-876A-626F8A090CD1}" srcOrd="0" destOrd="0" presId="urn:microsoft.com/office/officeart/2016/7/layout/LinearArrowProcessNumbered"/>
    <dgm:cxn modelId="{D7BBD6BF-49B4-A648-A39A-5F78354EE947}" type="presOf" srcId="{A290308F-C980-45EB-B829-6DDDDCFB743C}" destId="{7D0FF11C-6187-174D-BAA1-26990808836D}" srcOrd="0" destOrd="0" presId="urn:microsoft.com/office/officeart/2016/7/layout/LinearArrowProcessNumbered"/>
    <dgm:cxn modelId="{ED81C25A-B94C-3C47-BFEB-A811A9188069}" type="presParOf" srcId="{7D0FF11C-6187-174D-BAA1-26990808836D}" destId="{C282D2E3-E5D0-EB44-9576-B46FA180F6A0}" srcOrd="0" destOrd="0" presId="urn:microsoft.com/office/officeart/2016/7/layout/LinearArrowProcessNumbered"/>
    <dgm:cxn modelId="{EB556918-220D-284C-B9F2-8109E941F1B8}" type="presParOf" srcId="{C282D2E3-E5D0-EB44-9576-B46FA180F6A0}" destId="{B6C3E9C7-E042-FD46-9F20-F624E760A09E}" srcOrd="0" destOrd="0" presId="urn:microsoft.com/office/officeart/2016/7/layout/LinearArrowProcessNumbered"/>
    <dgm:cxn modelId="{E9E27C33-F7B5-F445-8DD8-0A7CA06AD559}" type="presParOf" srcId="{C282D2E3-E5D0-EB44-9576-B46FA180F6A0}" destId="{0BC6DFF6-C56D-1146-B7DC-19B7F7F9EE1D}" srcOrd="1" destOrd="0" presId="urn:microsoft.com/office/officeart/2016/7/layout/LinearArrowProcessNumbered"/>
    <dgm:cxn modelId="{4B8E3C2A-1543-814A-AC0B-A7927B76418F}" type="presParOf" srcId="{0BC6DFF6-C56D-1146-B7DC-19B7F7F9EE1D}" destId="{3E0277AD-C6CA-9941-A737-26F5DE3D4460}" srcOrd="0" destOrd="0" presId="urn:microsoft.com/office/officeart/2016/7/layout/LinearArrowProcessNumbered"/>
    <dgm:cxn modelId="{DE0221EC-3C37-3442-A152-2AFFC0BFC19B}" type="presParOf" srcId="{0BC6DFF6-C56D-1146-B7DC-19B7F7F9EE1D}" destId="{8F540979-4DD9-474B-810F-F44549982458}" srcOrd="1" destOrd="0" presId="urn:microsoft.com/office/officeart/2016/7/layout/LinearArrowProcessNumbered"/>
    <dgm:cxn modelId="{26D3EE6A-2CD9-014E-BD78-26A231B5AF4E}" type="presParOf" srcId="{0BC6DFF6-C56D-1146-B7DC-19B7F7F9EE1D}" destId="{F7CFBFA6-B731-7F44-B24E-BDC8D11D4424}" srcOrd="2" destOrd="0" presId="urn:microsoft.com/office/officeart/2016/7/layout/LinearArrowProcessNumbered"/>
    <dgm:cxn modelId="{2F60644A-87EF-D140-BD6F-AB3C016BD797}" type="presParOf" srcId="{0BC6DFF6-C56D-1146-B7DC-19B7F7F9EE1D}" destId="{8E353A14-F44F-824E-80F1-D6EB91AB72FF}" srcOrd="3" destOrd="0" presId="urn:microsoft.com/office/officeart/2016/7/layout/LinearArrowProcessNumbered"/>
    <dgm:cxn modelId="{8D9F67D8-4F3E-614A-8F66-B672C9275D26}" type="presParOf" srcId="{C282D2E3-E5D0-EB44-9576-B46FA180F6A0}" destId="{424E68AC-B3D8-E14C-9EB1-49F65669104F}" srcOrd="2" destOrd="0" presId="urn:microsoft.com/office/officeart/2016/7/layout/LinearArrowProcessNumbered"/>
    <dgm:cxn modelId="{D3AB9097-5CAF-1447-9E8F-B521601BC430}" type="presParOf" srcId="{7D0FF11C-6187-174D-BAA1-26990808836D}" destId="{1C66AD3B-4BEE-084E-B965-711EAC1778FD}" srcOrd="1" destOrd="0" presId="urn:microsoft.com/office/officeart/2016/7/layout/LinearArrowProcessNumbered"/>
    <dgm:cxn modelId="{60A207CF-92BC-7447-9F35-7635017C182D}" type="presParOf" srcId="{7D0FF11C-6187-174D-BAA1-26990808836D}" destId="{C944AFE2-A409-C041-9CF5-B0ABEAB5824B}" srcOrd="2" destOrd="0" presId="urn:microsoft.com/office/officeart/2016/7/layout/LinearArrowProcessNumbered"/>
    <dgm:cxn modelId="{4E6046E1-C777-454D-A064-A6D48CC84357}" type="presParOf" srcId="{C944AFE2-A409-C041-9CF5-B0ABEAB5824B}" destId="{D8A96056-C323-E242-A37E-AE91428FFB99}" srcOrd="0" destOrd="0" presId="urn:microsoft.com/office/officeart/2016/7/layout/LinearArrowProcessNumbered"/>
    <dgm:cxn modelId="{CDE1AD74-29F5-784E-8862-E3BB3E9B505C}" type="presParOf" srcId="{C944AFE2-A409-C041-9CF5-B0ABEAB5824B}" destId="{6664190C-85C4-E347-9E66-D0CD31218DB8}" srcOrd="1" destOrd="0" presId="urn:microsoft.com/office/officeart/2016/7/layout/LinearArrowProcessNumbered"/>
    <dgm:cxn modelId="{EC25E1D5-33C0-0949-A833-6F48F8EBDCC6}" type="presParOf" srcId="{6664190C-85C4-E347-9E66-D0CD31218DB8}" destId="{40B32547-7A48-A248-BFC6-C6DE5F614439}" srcOrd="0" destOrd="0" presId="urn:microsoft.com/office/officeart/2016/7/layout/LinearArrowProcessNumbered"/>
    <dgm:cxn modelId="{85540459-DAF6-6E43-8747-402198F6E9C4}" type="presParOf" srcId="{6664190C-85C4-E347-9E66-D0CD31218DB8}" destId="{5BC8975F-A231-2D47-9E13-9B723BA35950}" srcOrd="1" destOrd="0" presId="urn:microsoft.com/office/officeart/2016/7/layout/LinearArrowProcessNumbered"/>
    <dgm:cxn modelId="{DF35274D-AD54-474B-AAD0-B9B37182EE9A}" type="presParOf" srcId="{6664190C-85C4-E347-9E66-D0CD31218DB8}" destId="{DD8A270D-2C14-794E-901E-1B82BB19BB47}" srcOrd="2" destOrd="0" presId="urn:microsoft.com/office/officeart/2016/7/layout/LinearArrowProcessNumbered"/>
    <dgm:cxn modelId="{A8E7B9CA-CD1E-8846-9236-49F34E50E267}" type="presParOf" srcId="{6664190C-85C4-E347-9E66-D0CD31218DB8}" destId="{756118A9-20BF-FB41-91DC-AA045D4B9C4F}" srcOrd="3" destOrd="0" presId="urn:microsoft.com/office/officeart/2016/7/layout/LinearArrowProcessNumbered"/>
    <dgm:cxn modelId="{BE03F463-350B-A54A-A97B-A35DF4020321}" type="presParOf" srcId="{C944AFE2-A409-C041-9CF5-B0ABEAB5824B}" destId="{9A670A50-1FD4-4E45-9DE6-FA1C3AD6791D}" srcOrd="2" destOrd="0" presId="urn:microsoft.com/office/officeart/2016/7/layout/LinearArrowProcessNumbered"/>
    <dgm:cxn modelId="{4FDD2D01-B480-2940-AC28-D530547EF56B}" type="presParOf" srcId="{7D0FF11C-6187-174D-BAA1-26990808836D}" destId="{4F902BAC-3E76-2C42-BCA2-857A54FE43B6}" srcOrd="3" destOrd="0" presId="urn:microsoft.com/office/officeart/2016/7/layout/LinearArrowProcessNumbered"/>
    <dgm:cxn modelId="{81DC826C-9B0C-B244-AC7F-CD1D85DECFE9}" type="presParOf" srcId="{7D0FF11C-6187-174D-BAA1-26990808836D}" destId="{58FAB4C6-F620-B34A-84A9-B98461424DBA}" srcOrd="4" destOrd="0" presId="urn:microsoft.com/office/officeart/2016/7/layout/LinearArrowProcessNumbered"/>
    <dgm:cxn modelId="{2B8A74C8-C6FE-A04C-8A7E-3841C963B6A8}" type="presParOf" srcId="{58FAB4C6-F620-B34A-84A9-B98461424DBA}" destId="{1C8C88C3-EF3A-104A-A2A2-5275ABDC61B6}" srcOrd="0" destOrd="0" presId="urn:microsoft.com/office/officeart/2016/7/layout/LinearArrowProcessNumbered"/>
    <dgm:cxn modelId="{6684830C-ED5B-404F-BF0C-4E12310F9245}" type="presParOf" srcId="{58FAB4C6-F620-B34A-84A9-B98461424DBA}" destId="{19954E2F-F7F2-0740-8B5A-AC9D3FB57D6D}" srcOrd="1" destOrd="0" presId="urn:microsoft.com/office/officeart/2016/7/layout/LinearArrowProcessNumbered"/>
    <dgm:cxn modelId="{DCBD7241-F00C-FC45-A68F-B7534590A781}" type="presParOf" srcId="{19954E2F-F7F2-0740-8B5A-AC9D3FB57D6D}" destId="{CD7B0850-300F-4748-97CA-61807992B27E}" srcOrd="0" destOrd="0" presId="urn:microsoft.com/office/officeart/2016/7/layout/LinearArrowProcessNumbered"/>
    <dgm:cxn modelId="{74F3ACBD-3C53-FF44-A5C7-D05AE692E885}" type="presParOf" srcId="{19954E2F-F7F2-0740-8B5A-AC9D3FB57D6D}" destId="{7C5545DB-3A37-5343-97F6-56F9A3CBEC89}" srcOrd="1" destOrd="0" presId="urn:microsoft.com/office/officeart/2016/7/layout/LinearArrowProcessNumbered"/>
    <dgm:cxn modelId="{254276A2-203F-5749-893A-C3430242F129}" type="presParOf" srcId="{19954E2F-F7F2-0740-8B5A-AC9D3FB57D6D}" destId="{CA2B07FC-6B41-9740-B94E-9FB99E74D9B6}" srcOrd="2" destOrd="0" presId="urn:microsoft.com/office/officeart/2016/7/layout/LinearArrowProcessNumbered"/>
    <dgm:cxn modelId="{DD86E6F4-C30B-7C45-8A7C-F70437B3B2FF}" type="presParOf" srcId="{19954E2F-F7F2-0740-8B5A-AC9D3FB57D6D}" destId="{B8163261-AF8A-D740-A317-95E5852AFB44}" srcOrd="3" destOrd="0" presId="urn:microsoft.com/office/officeart/2016/7/layout/LinearArrowProcessNumbered"/>
    <dgm:cxn modelId="{8894B850-63FF-E047-BCEA-3DD5C79E9395}" type="presParOf" srcId="{58FAB4C6-F620-B34A-84A9-B98461424DBA}" destId="{B357E3CC-2689-CC4F-AD62-4223D2F2A839}" srcOrd="2" destOrd="0" presId="urn:microsoft.com/office/officeart/2016/7/layout/LinearArrowProcessNumbered"/>
    <dgm:cxn modelId="{5A935B87-1C49-9F41-96A5-A61570817A2D}" type="presParOf" srcId="{7D0FF11C-6187-174D-BAA1-26990808836D}" destId="{58E774B6-58D5-D24D-A9B0-5D9C7EF9D190}" srcOrd="5" destOrd="0" presId="urn:microsoft.com/office/officeart/2016/7/layout/LinearArrowProcessNumbered"/>
    <dgm:cxn modelId="{EC5B1893-E4B8-1249-B086-7454981F8432}" type="presParOf" srcId="{7D0FF11C-6187-174D-BAA1-26990808836D}" destId="{26CFC193-BB9E-5447-9B00-94C3C6E72686}" srcOrd="6" destOrd="0" presId="urn:microsoft.com/office/officeart/2016/7/layout/LinearArrowProcessNumbered"/>
    <dgm:cxn modelId="{5FF3AEA1-3A90-4C43-87E2-F2E6CCA35E24}" type="presParOf" srcId="{26CFC193-BB9E-5447-9B00-94C3C6E72686}" destId="{13DD81AB-2658-8742-A4A0-7D3B2C14392D}" srcOrd="0" destOrd="0" presId="urn:microsoft.com/office/officeart/2016/7/layout/LinearArrowProcessNumbered"/>
    <dgm:cxn modelId="{575AA4C6-BEED-6D45-9A31-5939D8FA9C63}" type="presParOf" srcId="{26CFC193-BB9E-5447-9B00-94C3C6E72686}" destId="{898BDE7C-B0A9-2541-81FB-8452C66E46AC}" srcOrd="1" destOrd="0" presId="urn:microsoft.com/office/officeart/2016/7/layout/LinearArrowProcessNumbered"/>
    <dgm:cxn modelId="{4242A867-ABC9-0743-B213-E0AC8F675F4A}" type="presParOf" srcId="{898BDE7C-B0A9-2541-81FB-8452C66E46AC}" destId="{585197AF-9DFD-2145-9495-E2F9CD64033F}" srcOrd="0" destOrd="0" presId="urn:microsoft.com/office/officeart/2016/7/layout/LinearArrowProcessNumbered"/>
    <dgm:cxn modelId="{D7EFF593-C95D-6C4A-AC0C-97D7B330F254}" type="presParOf" srcId="{898BDE7C-B0A9-2541-81FB-8452C66E46AC}" destId="{BB9561D6-5352-BF4F-9AD6-781207EC4CD0}" srcOrd="1" destOrd="0" presId="urn:microsoft.com/office/officeart/2016/7/layout/LinearArrowProcessNumbered"/>
    <dgm:cxn modelId="{D15BBCF2-6D00-4C49-A578-234B502C0FDF}" type="presParOf" srcId="{898BDE7C-B0A9-2541-81FB-8452C66E46AC}" destId="{086B36F9-F623-8B43-876A-626F8A090CD1}" srcOrd="2" destOrd="0" presId="urn:microsoft.com/office/officeart/2016/7/layout/LinearArrowProcessNumbered"/>
    <dgm:cxn modelId="{2F99ADC9-AA00-D144-A921-4E27A0B5BB37}" type="presParOf" srcId="{898BDE7C-B0A9-2541-81FB-8452C66E46AC}" destId="{30F4DFA2-B8C5-C54D-B37B-7933A5628BB5}" srcOrd="3" destOrd="0" presId="urn:microsoft.com/office/officeart/2016/7/layout/LinearArrowProcessNumbered"/>
    <dgm:cxn modelId="{3B8BB0A9-5BB6-634C-98F3-32701C730ECB}" type="presParOf" srcId="{26CFC193-BB9E-5447-9B00-94C3C6E72686}" destId="{E4BB6AB3-D00E-2548-8F86-1D72DB08417F}" srcOrd="2" destOrd="0" presId="urn:microsoft.com/office/officeart/2016/7/layout/LinearArrowProcessNumbered"/>
    <dgm:cxn modelId="{5C2FEF1A-9385-D84A-89B7-D4C747EC0C2A}" type="presParOf" srcId="{7D0FF11C-6187-174D-BAA1-26990808836D}" destId="{A5390FCB-48CD-A34A-BF57-9A9338191658}" srcOrd="7" destOrd="0" presId="urn:microsoft.com/office/officeart/2016/7/layout/LinearArrowProcessNumbered"/>
    <dgm:cxn modelId="{AEF59CBE-4077-CD4F-9A7C-9C091A91C053}" type="presParOf" srcId="{7D0FF11C-6187-174D-BAA1-26990808836D}" destId="{D67E09B5-88EB-0C4E-AC6B-16C2F5EDA43D}" srcOrd="8" destOrd="0" presId="urn:microsoft.com/office/officeart/2016/7/layout/LinearArrowProcessNumbered"/>
    <dgm:cxn modelId="{975D846E-D69D-834A-8AFE-449D70B98D83}" type="presParOf" srcId="{D67E09B5-88EB-0C4E-AC6B-16C2F5EDA43D}" destId="{09B818ED-3F4B-854B-A53F-3B8792A4A24F}" srcOrd="0" destOrd="0" presId="urn:microsoft.com/office/officeart/2016/7/layout/LinearArrowProcessNumbered"/>
    <dgm:cxn modelId="{104CCD8A-1659-B741-84B9-0188FC1C4854}" type="presParOf" srcId="{D67E09B5-88EB-0C4E-AC6B-16C2F5EDA43D}" destId="{ECFC850D-35FD-5B4B-B295-3E2581503DCE}" srcOrd="1" destOrd="0" presId="urn:microsoft.com/office/officeart/2016/7/layout/LinearArrowProcessNumbered"/>
    <dgm:cxn modelId="{ED0F9885-1F90-6F48-85DB-3F1B656F289A}" type="presParOf" srcId="{ECFC850D-35FD-5B4B-B295-3E2581503DCE}" destId="{F2C0BA35-8623-5B4B-A5E9-02BC689BD6B7}" srcOrd="0" destOrd="0" presId="urn:microsoft.com/office/officeart/2016/7/layout/LinearArrowProcessNumbered"/>
    <dgm:cxn modelId="{07A69567-7F42-CD4C-9670-2548629D44BE}" type="presParOf" srcId="{ECFC850D-35FD-5B4B-B295-3E2581503DCE}" destId="{96170FB6-95DB-A647-8481-C21A7C2EB36E}" srcOrd="1" destOrd="0" presId="urn:microsoft.com/office/officeart/2016/7/layout/LinearArrowProcessNumbered"/>
    <dgm:cxn modelId="{37F4A834-0692-1646-87A7-395FA1ECAB63}" type="presParOf" srcId="{ECFC850D-35FD-5B4B-B295-3E2581503DCE}" destId="{E2B68C82-BD52-D743-B504-80EEF52DB562}" srcOrd="2" destOrd="0" presId="urn:microsoft.com/office/officeart/2016/7/layout/LinearArrowProcessNumbered"/>
    <dgm:cxn modelId="{E598792D-131E-1343-B5C6-C473440FFB71}" type="presParOf" srcId="{ECFC850D-35FD-5B4B-B295-3E2581503DCE}" destId="{18BF314C-772B-1B4E-8310-A8AF58139901}" srcOrd="3" destOrd="0" presId="urn:microsoft.com/office/officeart/2016/7/layout/LinearArrowProcessNumbered"/>
    <dgm:cxn modelId="{C02C28DD-78E9-7145-B701-3CA3447C8074}" type="presParOf" srcId="{D67E09B5-88EB-0C4E-AC6B-16C2F5EDA43D}" destId="{B357B6F8-C7B6-F640-AA0A-4EA28B4A66DD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277AD-C6CA-9941-A737-26F5DE3D4460}">
      <dsp:nvSpPr>
        <dsp:cNvPr id="0" name=""/>
        <dsp:cNvSpPr/>
      </dsp:nvSpPr>
      <dsp:spPr>
        <a:xfrm>
          <a:off x="1052586" y="1110033"/>
          <a:ext cx="84104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40979-4DD9-474B-810F-F44549982458}">
      <dsp:nvSpPr>
        <dsp:cNvPr id="0" name=""/>
        <dsp:cNvSpPr/>
      </dsp:nvSpPr>
      <dsp:spPr>
        <a:xfrm>
          <a:off x="1944092" y="1039421"/>
          <a:ext cx="96719" cy="18166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FBFA6-B731-7F44-B24E-BDC8D11D4424}">
      <dsp:nvSpPr>
        <dsp:cNvPr id="0" name=""/>
        <dsp:cNvSpPr/>
      </dsp:nvSpPr>
      <dsp:spPr>
        <a:xfrm>
          <a:off x="525631" y="688243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9181" y="811793"/>
        <a:ext cx="596551" cy="596551"/>
      </dsp:txXfrm>
    </dsp:sp>
    <dsp:sp modelId="{424E68AC-B3D8-E14C-9EB1-49F65669104F}">
      <dsp:nvSpPr>
        <dsp:cNvPr id="0" name=""/>
        <dsp:cNvSpPr/>
      </dsp:nvSpPr>
      <dsp:spPr>
        <a:xfrm>
          <a:off x="1283" y="1697494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Step 1:</a:t>
          </a:r>
          <a:r>
            <a:rPr lang="en-US" sz="1100" b="0" i="0" kern="1200" baseline="0"/>
            <a:t> Preprocess spectra (ROI filtering, scaling, PCA on train only)</a:t>
          </a:r>
          <a:endParaRPr lang="en-US" sz="1100" kern="1200"/>
        </a:p>
      </dsp:txBody>
      <dsp:txXfrm>
        <a:off x="1283" y="2075963"/>
        <a:ext cx="1892345" cy="1587131"/>
      </dsp:txXfrm>
    </dsp:sp>
    <dsp:sp modelId="{40B32547-7A48-A248-BFC6-C6DE5F614439}">
      <dsp:nvSpPr>
        <dsp:cNvPr id="0" name=""/>
        <dsp:cNvSpPr/>
      </dsp:nvSpPr>
      <dsp:spPr>
        <a:xfrm>
          <a:off x="2103890" y="1110033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8975F-A231-2D47-9E13-9B723BA35950}">
      <dsp:nvSpPr>
        <dsp:cNvPr id="0" name=""/>
        <dsp:cNvSpPr/>
      </dsp:nvSpPr>
      <dsp:spPr>
        <a:xfrm>
          <a:off x="4046698" y="1039421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A270D-2C14-794E-901E-1B82BB19BB47}">
      <dsp:nvSpPr>
        <dsp:cNvPr id="0" name=""/>
        <dsp:cNvSpPr/>
      </dsp:nvSpPr>
      <dsp:spPr>
        <a:xfrm>
          <a:off x="2628237" y="688243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751787" y="811793"/>
        <a:ext cx="596551" cy="596551"/>
      </dsp:txXfrm>
    </dsp:sp>
    <dsp:sp modelId="{9A670A50-1FD4-4E45-9DE6-FA1C3AD6791D}">
      <dsp:nvSpPr>
        <dsp:cNvPr id="0" name=""/>
        <dsp:cNvSpPr/>
      </dsp:nvSpPr>
      <dsp:spPr>
        <a:xfrm>
          <a:off x="2103890" y="1697494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Step 2:</a:t>
          </a:r>
          <a:r>
            <a:rPr lang="en-US" sz="1100" b="0" i="0" kern="1200" baseline="0"/>
            <a:t> Split dataset → </a:t>
          </a:r>
          <a:r>
            <a:rPr lang="en-US" sz="1100" b="1" i="0" kern="1200" baseline="0"/>
            <a:t>Train</a:t>
          </a:r>
          <a:r>
            <a:rPr lang="en-US" sz="1100" b="0" i="0" kern="1200" baseline="0"/>
            <a:t> vs </a:t>
          </a:r>
          <a:r>
            <a:rPr lang="en-US" sz="1100" b="1" i="0" kern="1200" baseline="0"/>
            <a:t>Test</a:t>
          </a:r>
          <a:r>
            <a:rPr lang="en-US" sz="1100" b="0" i="0" kern="1200" baseline="0"/>
            <a:t> (no peeking!)</a:t>
          </a:r>
          <a:endParaRPr lang="en-US" sz="1100" kern="1200"/>
        </a:p>
      </dsp:txBody>
      <dsp:txXfrm>
        <a:off x="2103890" y="2075963"/>
        <a:ext cx="1892345" cy="1587131"/>
      </dsp:txXfrm>
    </dsp:sp>
    <dsp:sp modelId="{CD7B0850-300F-4748-97CA-61807992B27E}">
      <dsp:nvSpPr>
        <dsp:cNvPr id="0" name=""/>
        <dsp:cNvSpPr/>
      </dsp:nvSpPr>
      <dsp:spPr>
        <a:xfrm>
          <a:off x="4206496" y="1110033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545DB-3A37-5343-97F6-56F9A3CBEC89}">
      <dsp:nvSpPr>
        <dsp:cNvPr id="0" name=""/>
        <dsp:cNvSpPr/>
      </dsp:nvSpPr>
      <dsp:spPr>
        <a:xfrm>
          <a:off x="6149305" y="1039421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B07FC-6B41-9740-B94E-9FB99E74D9B6}">
      <dsp:nvSpPr>
        <dsp:cNvPr id="0" name=""/>
        <dsp:cNvSpPr/>
      </dsp:nvSpPr>
      <dsp:spPr>
        <a:xfrm>
          <a:off x="4730844" y="688243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854394" y="811793"/>
        <a:ext cx="596551" cy="596551"/>
      </dsp:txXfrm>
    </dsp:sp>
    <dsp:sp modelId="{B357E3CC-2689-CC4F-AD62-4223D2F2A839}">
      <dsp:nvSpPr>
        <dsp:cNvPr id="0" name=""/>
        <dsp:cNvSpPr/>
      </dsp:nvSpPr>
      <dsp:spPr>
        <a:xfrm>
          <a:off x="4206496" y="1697494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Step 3:</a:t>
          </a:r>
          <a:r>
            <a:rPr lang="en-US" sz="1100" b="0" i="0" kern="1200" baseline="0" dirty="0"/>
            <a:t> Build models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Regression: predict </a:t>
          </a:r>
          <a:r>
            <a:rPr lang="en-US" sz="1100" b="1" i="0" kern="1200" baseline="0" dirty="0"/>
            <a:t>BMI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i="0" kern="1200" baseline="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Classification: predict </a:t>
          </a:r>
          <a:r>
            <a:rPr lang="en-US" sz="1100" b="1" i="0" kern="1200" baseline="0" dirty="0"/>
            <a:t>COVID vs No COVID</a:t>
          </a:r>
        </a:p>
      </dsp:txBody>
      <dsp:txXfrm>
        <a:off x="4206496" y="2075963"/>
        <a:ext cx="1892345" cy="1587131"/>
      </dsp:txXfrm>
    </dsp:sp>
    <dsp:sp modelId="{585197AF-9DFD-2145-9495-E2F9CD64033F}">
      <dsp:nvSpPr>
        <dsp:cNvPr id="0" name=""/>
        <dsp:cNvSpPr/>
      </dsp:nvSpPr>
      <dsp:spPr>
        <a:xfrm>
          <a:off x="6309103" y="1110033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561D6-5352-BF4F-9AD6-781207EC4CD0}">
      <dsp:nvSpPr>
        <dsp:cNvPr id="0" name=""/>
        <dsp:cNvSpPr/>
      </dsp:nvSpPr>
      <dsp:spPr>
        <a:xfrm>
          <a:off x="8251911" y="1039421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B36F9-F623-8B43-876A-626F8A090CD1}">
      <dsp:nvSpPr>
        <dsp:cNvPr id="0" name=""/>
        <dsp:cNvSpPr/>
      </dsp:nvSpPr>
      <dsp:spPr>
        <a:xfrm>
          <a:off x="6833450" y="688243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957000" y="811793"/>
        <a:ext cx="596551" cy="596551"/>
      </dsp:txXfrm>
    </dsp:sp>
    <dsp:sp modelId="{E4BB6AB3-D00E-2548-8F86-1D72DB08417F}">
      <dsp:nvSpPr>
        <dsp:cNvPr id="0" name=""/>
        <dsp:cNvSpPr/>
      </dsp:nvSpPr>
      <dsp:spPr>
        <a:xfrm>
          <a:off x="6309103" y="1697494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Step 4:</a:t>
          </a:r>
          <a:r>
            <a:rPr lang="en-US" sz="1100" b="0" i="0" kern="1200" baseline="0"/>
            <a:t> Evaluate performance (R², RMSE; Confusion Matrix, F1)</a:t>
          </a:r>
          <a:endParaRPr lang="en-US" sz="1100" kern="1200"/>
        </a:p>
      </dsp:txBody>
      <dsp:txXfrm>
        <a:off x="6309103" y="2075963"/>
        <a:ext cx="1892345" cy="1587131"/>
      </dsp:txXfrm>
    </dsp:sp>
    <dsp:sp modelId="{F2C0BA35-8623-5B4B-A5E9-02BC689BD6B7}">
      <dsp:nvSpPr>
        <dsp:cNvPr id="0" name=""/>
        <dsp:cNvSpPr/>
      </dsp:nvSpPr>
      <dsp:spPr>
        <a:xfrm>
          <a:off x="8411709" y="1110032"/>
          <a:ext cx="94617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68C82-BD52-D743-B504-80EEF52DB562}">
      <dsp:nvSpPr>
        <dsp:cNvPr id="0" name=""/>
        <dsp:cNvSpPr/>
      </dsp:nvSpPr>
      <dsp:spPr>
        <a:xfrm>
          <a:off x="8936057" y="688243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5</a:t>
          </a:r>
        </a:p>
      </dsp:txBody>
      <dsp:txXfrm>
        <a:off x="9059607" y="811793"/>
        <a:ext cx="596551" cy="596551"/>
      </dsp:txXfrm>
    </dsp:sp>
    <dsp:sp modelId="{B357B6F8-C7B6-F640-AA0A-4EA28B4A66DD}">
      <dsp:nvSpPr>
        <dsp:cNvPr id="0" name=""/>
        <dsp:cNvSpPr/>
      </dsp:nvSpPr>
      <dsp:spPr>
        <a:xfrm>
          <a:off x="8411709" y="1697494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Step 5:</a:t>
          </a:r>
          <a:r>
            <a:rPr lang="en-US" sz="1100" b="0" i="0" kern="1200" baseline="0"/>
            <a:t> Interpret results in </a:t>
          </a:r>
          <a:r>
            <a:rPr lang="en-US" sz="1100" b="1" i="0" kern="1200" baseline="0"/>
            <a:t>ppm space</a:t>
          </a:r>
          <a:endParaRPr lang="en-US" sz="1100" kern="1200"/>
        </a:p>
      </dsp:txBody>
      <dsp:txXfrm>
        <a:off x="8411709" y="2075963"/>
        <a:ext cx="1892345" cy="1587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A4D9A-970E-0944-A3BE-032DB7D51C33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670DA-D77F-1249-B207-3EF3B8E0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“This session is about learning regression and classification in a way that sticks. For clarity, we’ll lean on a dataset you’ve seen: COVID-19 plasma 1H NMR.”</a:t>
            </a:r>
          </a:p>
          <a:p>
            <a:r>
              <a:rPr lang="en-AU" dirty="0"/>
              <a:t>“Quick reminder: it includes 1D and CPMG spectra, plus infection status, age, and sex, spanning non-hospitalized post-COVID participants, hospitalized acute cases, and healthy controls.”</a:t>
            </a:r>
          </a:p>
          <a:p>
            <a:r>
              <a:rPr lang="en-AU" dirty="0"/>
              <a:t>“We’ll use a simple BMI regression as a teaching example, not because this dataset was built for BMI, but because it perfectly shows why </a:t>
            </a:r>
            <a:r>
              <a:rPr lang="en-AU" b="1" dirty="0"/>
              <a:t>validation</a:t>
            </a:r>
            <a:r>
              <a:rPr lang="en-AU" dirty="0"/>
              <a:t> matters: a model can look amazing on the training set and still fail on new data.”</a:t>
            </a:r>
          </a:p>
          <a:p>
            <a:r>
              <a:rPr lang="en-AU" dirty="0"/>
              <a:t>“By the end, you should feel confident slotting supervised ML into your pipelines, while staying </a:t>
            </a:r>
            <a:r>
              <a:rPr lang="en-AU" dirty="0" err="1"/>
              <a:t>skeptical</a:t>
            </a:r>
            <a:r>
              <a:rPr lang="en-AU" dirty="0"/>
              <a:t>. Most results are average; when they look </a:t>
            </a:r>
            <a:r>
              <a:rPr lang="en-AU" b="1" dirty="0"/>
              <a:t>too</a:t>
            </a:r>
            <a:r>
              <a:rPr lang="en-AU" dirty="0"/>
              <a:t> good, that’s usually a sign to double-check your analysis.”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86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“This dataset gives us two spectral </a:t>
            </a:r>
            <a:r>
              <a:rPr lang="en-AU" dirty="0" err="1"/>
              <a:t>flavors</a:t>
            </a:r>
            <a:r>
              <a:rPr lang="en-AU" dirty="0"/>
              <a:t>: </a:t>
            </a:r>
            <a:r>
              <a:rPr lang="en-AU" b="1" dirty="0"/>
              <a:t>1D</a:t>
            </a:r>
            <a:r>
              <a:rPr lang="en-AU" dirty="0"/>
              <a:t> (macromolecules + small molecules) and </a:t>
            </a:r>
            <a:r>
              <a:rPr lang="en-AU" b="1" dirty="0"/>
              <a:t>CPMG</a:t>
            </a:r>
            <a:r>
              <a:rPr lang="en-AU" dirty="0"/>
              <a:t>, which suppresses macromolecules to highlight small molecules.”</a:t>
            </a:r>
          </a:p>
          <a:p>
            <a:r>
              <a:rPr lang="en-AU" dirty="0"/>
              <a:t>“Participants include </a:t>
            </a:r>
            <a:r>
              <a:rPr lang="en-AU" b="1" dirty="0"/>
              <a:t>acute</a:t>
            </a:r>
            <a:r>
              <a:rPr lang="en-AU" dirty="0"/>
              <a:t> COVID cases, </a:t>
            </a:r>
            <a:r>
              <a:rPr lang="en-AU" b="1" dirty="0"/>
              <a:t>recovery</a:t>
            </a:r>
            <a:r>
              <a:rPr lang="en-AU" dirty="0"/>
              <a:t> (post-COVID), and </a:t>
            </a:r>
            <a:r>
              <a:rPr lang="en-AU" b="1" dirty="0"/>
              <a:t>healthy</a:t>
            </a:r>
            <a:r>
              <a:rPr lang="en-AU" dirty="0"/>
              <a:t> controls. We’ll collapse labels to a simple </a:t>
            </a:r>
            <a:r>
              <a:rPr lang="en-AU" b="1" dirty="0"/>
              <a:t>COVID vs No COVID</a:t>
            </a:r>
            <a:r>
              <a:rPr lang="en-AU" dirty="0"/>
              <a:t> for classification.”</a:t>
            </a:r>
          </a:p>
          <a:p>
            <a:r>
              <a:rPr lang="en-AU" dirty="0"/>
              <a:t>“Although the dataset wasn’t designed for BMI prediction, we’ll use BMI as a </a:t>
            </a:r>
            <a:r>
              <a:rPr lang="en-AU" b="1" dirty="0"/>
              <a:t>didactic regression target</a:t>
            </a:r>
            <a:r>
              <a:rPr lang="en-AU" dirty="0"/>
              <a:t> to illustrate why validation matters, because it produces a great-looking </a:t>
            </a:r>
            <a:r>
              <a:rPr lang="en-AU" b="1" dirty="0"/>
              <a:t>overfit mirage</a:t>
            </a:r>
            <a:r>
              <a:rPr lang="en-AU" dirty="0"/>
              <a:t> on train.”</a:t>
            </a:r>
          </a:p>
          <a:p>
            <a:r>
              <a:rPr lang="en-AU" dirty="0"/>
              <a:t>“Preprocessing choices matter: we’ll </a:t>
            </a:r>
            <a:r>
              <a:rPr lang="en-AU" b="1" dirty="0"/>
              <a:t>exclude water</a:t>
            </a:r>
            <a:r>
              <a:rPr lang="en-AU" dirty="0"/>
              <a:t> and any obvious artifact regions (ROI), </a:t>
            </a:r>
            <a:r>
              <a:rPr lang="en-AU" b="1" dirty="0"/>
              <a:t>scale/</a:t>
            </a:r>
            <a:r>
              <a:rPr lang="en-AU" b="1" dirty="0" err="1"/>
              <a:t>center</a:t>
            </a:r>
            <a:r>
              <a:rPr lang="en-AU" dirty="0"/>
              <a:t>, and perform </a:t>
            </a:r>
            <a:r>
              <a:rPr lang="en-AU" b="1" dirty="0"/>
              <a:t>PCA on the training set only</a:t>
            </a:r>
            <a:r>
              <a:rPr lang="en-AU" dirty="0"/>
              <a:t>; the test set is projected with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predict()</a:t>
            </a:r>
            <a:r>
              <a:rPr lang="en-AU" dirty="0"/>
              <a:t> to avoid leakage.”</a:t>
            </a:r>
          </a:p>
          <a:p>
            <a:r>
              <a:rPr lang="en-AU" dirty="0"/>
              <a:t>“Keep the bigger lesson in mind: today’s goal is to practice a </a:t>
            </a:r>
            <a:r>
              <a:rPr lang="en-AU" b="1" dirty="0"/>
              <a:t>clean pipeline</a:t>
            </a:r>
            <a:r>
              <a:rPr lang="en-AU" dirty="0"/>
              <a:t> that you can reuse, regardless of endpoint.”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80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Here’s the workflow we’ll follow together.”</a:t>
            </a:r>
          </a:p>
          <a:p>
            <a:r>
              <a:rPr lang="en-AU" dirty="0"/>
              <a:t>“We start with preprocessing: filter out water, scale and </a:t>
            </a:r>
            <a:r>
              <a:rPr lang="en-AU" dirty="0" err="1"/>
              <a:t>center</a:t>
            </a:r>
            <a:r>
              <a:rPr lang="en-AU" dirty="0"/>
              <a:t>, and reduce dimensions with PCA, but only on the </a:t>
            </a:r>
            <a:r>
              <a:rPr lang="en-AU" b="1" dirty="0"/>
              <a:t>training set</a:t>
            </a:r>
            <a:r>
              <a:rPr lang="en-AU" dirty="0"/>
              <a:t>.”</a:t>
            </a:r>
          </a:p>
          <a:p>
            <a:r>
              <a:rPr lang="en-AU" dirty="0"/>
              <a:t>“We then split the dataset into train and test. This is crucial, without a test set, we can’t know if the model generalizes.”</a:t>
            </a:r>
          </a:p>
          <a:p>
            <a:r>
              <a:rPr lang="en-AU" dirty="0"/>
              <a:t>“On the </a:t>
            </a:r>
            <a:r>
              <a:rPr lang="en-AU" dirty="0" err="1"/>
              <a:t>modeling</a:t>
            </a:r>
            <a:r>
              <a:rPr lang="en-AU" dirty="0"/>
              <a:t> side, we’ll do </a:t>
            </a:r>
            <a:r>
              <a:rPr lang="en-AU" b="1" dirty="0"/>
              <a:t>regression</a:t>
            </a:r>
            <a:r>
              <a:rPr lang="en-AU" dirty="0"/>
              <a:t> for BMI and </a:t>
            </a:r>
            <a:r>
              <a:rPr lang="en-AU" b="1" dirty="0"/>
              <a:t>classification</a:t>
            </a:r>
            <a:r>
              <a:rPr lang="en-AU" dirty="0"/>
              <a:t> for COVID status.”</a:t>
            </a:r>
          </a:p>
          <a:p>
            <a:r>
              <a:rPr lang="en-AU" dirty="0"/>
              <a:t>“We’ll evaluate using metrics appropriate for each task(R² and RMSE for regression; confusion matrix, accuracy, and F1 for classification.)”</a:t>
            </a:r>
          </a:p>
          <a:p>
            <a:r>
              <a:rPr lang="en-AU" dirty="0"/>
              <a:t>“Finally, we’ll interpret the models, projecting results back into </a:t>
            </a:r>
            <a:r>
              <a:rPr lang="en-AU" b="1" dirty="0"/>
              <a:t>ppm space</a:t>
            </a:r>
            <a:r>
              <a:rPr lang="en-AU" dirty="0"/>
              <a:t> to see which regions of the spectrum carry signal.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46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“Each NMR spectrum has thousands of points. Feeding them all into regression would be impossible and unstable.”</a:t>
            </a:r>
          </a:p>
          <a:p>
            <a:r>
              <a:rPr lang="en-AU" dirty="0"/>
              <a:t>“Principal Component Analysis, or PCA, compresses those points into a smaller set of orthogonal variables, principal components.”</a:t>
            </a:r>
          </a:p>
          <a:p>
            <a:r>
              <a:rPr lang="en-AU" dirty="0"/>
              <a:t>“PC1 captures the direction of maximum variance, PC2 the next, and so on. This is great for data reduction.”</a:t>
            </a:r>
          </a:p>
          <a:p>
            <a:r>
              <a:rPr lang="en-AU" dirty="0"/>
              <a:t>“But variance ≠ relevance. The first PCs might describe the largest trends, but they don’t necessarily predict BMI or COVID.”</a:t>
            </a:r>
          </a:p>
          <a:p>
            <a:r>
              <a:rPr lang="en-AU" dirty="0"/>
              <a:t>“That’s why we’ll decide the number of PCs to keep based on </a:t>
            </a:r>
            <a:r>
              <a:rPr lang="en-AU" b="1" dirty="0"/>
              <a:t>how the model performs</a:t>
            </a:r>
            <a:r>
              <a:rPr lang="en-AU" dirty="0"/>
              <a:t>, not just on how much variance is explained.”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34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“Regression is our tool for predicting a numeric outcome. In this dataset, we’ll use BMI, not because it’s biologically central here, but because it makes a clear teaching case.”</a:t>
            </a:r>
          </a:p>
          <a:p>
            <a:r>
              <a:rPr lang="en-AU" dirty="0"/>
              <a:t>“We’ll start with the simplest idea: fit a straight line between one predictor and BMI. Then we extend to multiple predictors, like PC1 + PC2 + … </a:t>
            </a:r>
            <a:r>
              <a:rPr lang="en-AU" dirty="0" err="1"/>
              <a:t>PCk</a:t>
            </a:r>
            <a:r>
              <a:rPr lang="en-AU" dirty="0"/>
              <a:t>.”</a:t>
            </a:r>
          </a:p>
          <a:p>
            <a:r>
              <a:rPr lang="en-AU" dirty="0"/>
              <a:t>“Polynomial regression adds curvature when relationships aren’t strictly linear.”</a:t>
            </a:r>
          </a:p>
          <a:p>
            <a:r>
              <a:rPr lang="en-AU" dirty="0"/>
              <a:t>“To evaluate fit, we’ll use </a:t>
            </a:r>
            <a:r>
              <a:rPr lang="en-AU" b="1" dirty="0"/>
              <a:t>R²</a:t>
            </a:r>
            <a:r>
              <a:rPr lang="en-AU" dirty="0"/>
              <a:t>, which tells us how much variance we explain, and </a:t>
            </a:r>
            <a:r>
              <a:rPr lang="en-AU" b="1" dirty="0"/>
              <a:t>RMSE</a:t>
            </a:r>
            <a:r>
              <a:rPr lang="en-AU" dirty="0"/>
              <a:t>, which tells us the average error size.”</a:t>
            </a:r>
          </a:p>
          <a:p>
            <a:r>
              <a:rPr lang="en-AU" dirty="0"/>
              <a:t>“But here’s the catch: just because the regression line looks good on the training data doesn’t mean it will generalize. That’s the trap we’re about to explore.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3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“Once we fit a regression, how do we know if it’s any good?”</a:t>
            </a:r>
          </a:p>
          <a:p>
            <a:r>
              <a:rPr lang="en-AU" dirty="0"/>
              <a:t>“</a:t>
            </a:r>
            <a:r>
              <a:rPr lang="en-AU" b="1" dirty="0"/>
              <a:t>R²</a:t>
            </a:r>
            <a:r>
              <a:rPr lang="en-AU" dirty="0"/>
              <a:t> tells us what fraction of the variance in BMI is explained by our predictors. An R² of 1 means perfect predictions; an R² of 0 means we did no better than guessing the average.”</a:t>
            </a:r>
          </a:p>
          <a:p>
            <a:r>
              <a:rPr lang="en-AU" dirty="0"/>
              <a:t>“</a:t>
            </a:r>
            <a:r>
              <a:rPr lang="en-AU" b="1" dirty="0"/>
              <a:t>RMSE</a:t>
            </a:r>
            <a:r>
              <a:rPr lang="en-AU" dirty="0"/>
              <a:t> tells us, in the units of BMI, how far off our predictions are on average. A smaller RMSE means more accurate predictions.”</a:t>
            </a:r>
          </a:p>
          <a:p>
            <a:r>
              <a:rPr lang="en-AU" dirty="0"/>
              <a:t>“But the key message: these numbers are only meaningful if we compute them on a </a:t>
            </a:r>
            <a:r>
              <a:rPr lang="en-AU" b="1" dirty="0"/>
              <a:t>test set</a:t>
            </a:r>
            <a:r>
              <a:rPr lang="en-AU" dirty="0"/>
              <a:t>. On training data, they can look fantastic even when the model won’t generalize.”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04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96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“Here’s the trap: with 39 PCs we can fit BMI almost perfectly on the training set. R² is essentially 1, RMSE is tiny, it looks fantastic.”</a:t>
            </a:r>
          </a:p>
          <a:p>
            <a:r>
              <a:rPr lang="en-AU" dirty="0"/>
              <a:t>“But on the test set, the illusion breaks. Predictions scatter, performance drops. This is a textbook case of </a:t>
            </a:r>
            <a:r>
              <a:rPr lang="en-AU" b="1" dirty="0"/>
              <a:t>overfitting, </a:t>
            </a:r>
            <a:r>
              <a:rPr lang="en-AU" dirty="0"/>
              <a:t>the model is capturing noise, not meaningful signal.”</a:t>
            </a:r>
          </a:p>
          <a:p>
            <a:r>
              <a:rPr lang="en-AU" dirty="0"/>
              <a:t>“Notice that we used almost as many predictors as samples. With so few degrees of freedom left, the coefficients can ‘explain’ the training data but have no stability.”</a:t>
            </a:r>
          </a:p>
          <a:p>
            <a:r>
              <a:rPr lang="en-AU" dirty="0"/>
              <a:t>“The big message: don’t be seduced by a beautiful train fit. Always check the test set. If the test plot looks this bad, it means the model hasn’t learned anything generalizable.”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3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“Why does the mirage happen? With so many PCs, the regression can fit almost every wiggle in the training data, including random noise.”</a:t>
            </a:r>
          </a:p>
          <a:p>
            <a:r>
              <a:rPr lang="en-AU" dirty="0"/>
              <a:t>“That gives us very low training error, but the cost is high variance: the model becomes unstable, and predictions on new data jump around.”</a:t>
            </a:r>
          </a:p>
          <a:p>
            <a:r>
              <a:rPr lang="en-AU" dirty="0"/>
              <a:t>“This is the bias–variance trade-off: too simple and you underfit, too complex and you overfit. Somewhere in the middle lies the sweet spot.”</a:t>
            </a:r>
          </a:p>
          <a:p>
            <a:r>
              <a:rPr lang="en-AU" dirty="0"/>
              <a:t>“Our job is to </a:t>
            </a:r>
            <a:r>
              <a:rPr lang="en-AU" b="1" dirty="0"/>
              <a:t>find that sweet spot</a:t>
            </a:r>
            <a:r>
              <a:rPr lang="en-AU" dirty="0"/>
              <a:t>, and the only way is by evaluating on data the model hasn’t seen.”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36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“So how do we fix the overfitting problem? The key is not to keep every PC, but to pick the number that balances bias and variance.”</a:t>
            </a:r>
          </a:p>
          <a:p>
            <a:r>
              <a:rPr lang="en-AU" dirty="0"/>
              <a:t>“We can try a range of PC counts, say 3 to 15, and evaluate on the test set or using cross-validation.”</a:t>
            </a:r>
          </a:p>
          <a:p>
            <a:r>
              <a:rPr lang="en-AU" dirty="0"/>
              <a:t>“This gives us a curve of Test RMSE versus number of PCs. Somewhere in the middle, the RMSE is lowest, that’s our sweet spot.”</a:t>
            </a:r>
          </a:p>
          <a:p>
            <a:r>
              <a:rPr lang="en-AU" dirty="0"/>
              <a:t>“Notice that while training error always goes down as we add more PCs, test error tells the truth. That’s why evaluation is essential.”</a:t>
            </a:r>
          </a:p>
          <a:p>
            <a:r>
              <a:rPr lang="en-AU" dirty="0"/>
              <a:t>“The rule of thumb: keep models as simple as you can, as long as they still generalize.”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4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“So far, we’ve focused on regression, predicting BMI as a number. But what if our outcome is categorical, like COVID vs No COVID?”</a:t>
            </a:r>
          </a:p>
          <a:p>
            <a:r>
              <a:rPr lang="en-AU" dirty="0"/>
              <a:t>“We can take the same linear model and add a </a:t>
            </a:r>
            <a:r>
              <a:rPr lang="en-AU" b="1" dirty="0"/>
              <a:t>sigmoid function</a:t>
            </a:r>
            <a:r>
              <a:rPr lang="en-AU" dirty="0"/>
              <a:t>. This turns any number into a probability between 0 and 1.”</a:t>
            </a:r>
          </a:p>
          <a:p>
            <a:r>
              <a:rPr lang="en-AU" dirty="0"/>
              <a:t>“If the probability is above a threshold, say 0.5, we call it COVID; otherwise, No COVID.”</a:t>
            </a:r>
          </a:p>
          <a:p>
            <a:r>
              <a:rPr lang="en-AU" dirty="0"/>
              <a:t>“This is the idea behind </a:t>
            </a:r>
            <a:r>
              <a:rPr lang="en-AU" b="1" dirty="0"/>
              <a:t>logistic regression, </a:t>
            </a:r>
            <a:r>
              <a:rPr lang="en-AU" dirty="0"/>
              <a:t>arguably the simplest and most interpretable classifier.”</a:t>
            </a:r>
          </a:p>
          <a:p>
            <a:r>
              <a:rPr lang="en-AU" dirty="0"/>
              <a:t>“From here, we’ll also introduce two other families of classifiers, decision trees and k-nearest </a:t>
            </a:r>
            <a:r>
              <a:rPr lang="en-AU" dirty="0" err="1"/>
              <a:t>neighbors</a:t>
            </a:r>
            <a:r>
              <a:rPr lang="en-AU" dirty="0"/>
              <a:t>, so you can compare how different approaches behave.”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20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E881-AF49-B696-09FB-A8C6862E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42636-56F7-DD54-BA1E-F1A3654FF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081D4-C16A-C9E8-2B5B-5360BBD7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“So far, we’ve focused on regression, predicting BMI as a number. But what if our outcome is categorical, like COVID vs No COVID?”</a:t>
            </a:r>
          </a:p>
          <a:p>
            <a:r>
              <a:rPr lang="en-AU" dirty="0"/>
              <a:t>“We can take the same linear model and add a </a:t>
            </a:r>
            <a:r>
              <a:rPr lang="en-AU" b="1" dirty="0"/>
              <a:t>sigmoid function</a:t>
            </a:r>
            <a:r>
              <a:rPr lang="en-AU" dirty="0"/>
              <a:t>. This turns any number into a probability between 0 and 1.”</a:t>
            </a:r>
          </a:p>
          <a:p>
            <a:r>
              <a:rPr lang="en-AU" dirty="0"/>
              <a:t>“If the probability is above a threshold, say 0.5, we call it COVID; otherwise, No COVID.”</a:t>
            </a:r>
          </a:p>
          <a:p>
            <a:r>
              <a:rPr lang="en-AU" dirty="0"/>
              <a:t>“This is the idea behind </a:t>
            </a:r>
            <a:r>
              <a:rPr lang="en-AU" b="1" dirty="0"/>
              <a:t>logistic regression, </a:t>
            </a:r>
            <a:r>
              <a:rPr lang="en-AU" dirty="0"/>
              <a:t>arguably the simplest and most interpretable classifier.”</a:t>
            </a:r>
          </a:p>
          <a:p>
            <a:r>
              <a:rPr lang="en-AU" dirty="0"/>
              <a:t>“From here, we’ll also introduce two other families of classifiers, decision trees and k-nearest </a:t>
            </a:r>
            <a:r>
              <a:rPr lang="en-AU" dirty="0" err="1"/>
              <a:t>neighbors</a:t>
            </a:r>
            <a:r>
              <a:rPr lang="en-AU" dirty="0"/>
              <a:t>, so you can compare how different approaches behave.”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0FAB4-BDD4-6FB5-85CC-66856DA7D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24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06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CB3B-1FDA-ACE9-7FB2-A1AA01BD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DB8C8-5F28-4760-718F-7A187C9D7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B07C9-34F2-31C7-64D5-67107C67D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82D6D-978C-B089-75C5-1FE6C6F29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83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9990-6A9E-71B7-AEE6-7D29E8A0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7EDDE-74FB-D3E9-C880-636D55CB8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6BB28-9ECD-899C-CED1-A1276F59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340CD-AC31-5F4C-253F-5B01E62EF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26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60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8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58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DC92-9BD0-24A1-73CD-9260F6B9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C12F5-E841-E688-20E5-9C3032FFB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01F8A-A310-6B15-AF3D-D1D07DD04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F3EEB-BC6F-B656-058D-79CD9B76B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3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“Logistic regression takes the idea of a straight line and then squashes it into probabilities between 0 and 1.”</a:t>
            </a:r>
          </a:p>
          <a:p>
            <a:r>
              <a:rPr lang="en-AU" dirty="0"/>
              <a:t>“It’s popular in biology because coefficients are interpretable — they tell us which PCs or features increase or decrease the odds of COVID.”</a:t>
            </a:r>
          </a:p>
          <a:p>
            <a:r>
              <a:rPr lang="en-AU" dirty="0"/>
              <a:t>“But it can only learn </a:t>
            </a:r>
            <a:r>
              <a:rPr lang="en-AU" b="1" dirty="0"/>
              <a:t>linear boundaries</a:t>
            </a:r>
            <a:r>
              <a:rPr lang="en-AU" dirty="0"/>
              <a:t> unless we engineer features.”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30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</a:t>
            </a:r>
            <a:r>
              <a:rPr lang="en-AU" dirty="0" err="1"/>
              <a:t>kNN</a:t>
            </a:r>
            <a:r>
              <a:rPr lang="en-AU" dirty="0"/>
              <a:t> doesn’t fit a line or a tree, it just looks around the </a:t>
            </a:r>
            <a:r>
              <a:rPr lang="en-AU" dirty="0" err="1"/>
              <a:t>neighborhood</a:t>
            </a:r>
            <a:r>
              <a:rPr lang="en-AU" dirty="0"/>
              <a:t>.”</a:t>
            </a:r>
          </a:p>
          <a:p>
            <a:r>
              <a:rPr lang="en-AU" dirty="0"/>
              <a:t>“If most of your nearest </a:t>
            </a:r>
            <a:r>
              <a:rPr lang="en-AU" dirty="0" err="1"/>
              <a:t>neighbors</a:t>
            </a:r>
            <a:r>
              <a:rPr lang="en-AU" dirty="0"/>
              <a:t> are COVID, you’re predicted as COVID.”</a:t>
            </a:r>
          </a:p>
          <a:p>
            <a:r>
              <a:rPr lang="en-AU" dirty="0"/>
              <a:t>“It’s very intuitive, but sensitive to noisy data and class imbalance.”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78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“Each method has its niche: Logistic regression is interpretable and a strong baseline, trees are intuitive and capture nonlinearities, while </a:t>
            </a:r>
            <a:r>
              <a:rPr lang="en-AU" dirty="0" err="1"/>
              <a:t>kNN</a:t>
            </a:r>
            <a:r>
              <a:rPr lang="en-AU" dirty="0"/>
              <a:t> is flexible but needs careful scaling and balance.”</a:t>
            </a:r>
          </a:p>
          <a:p>
            <a:r>
              <a:rPr lang="en-AU" dirty="0"/>
              <a:t>“There’s no single ‘best’ method. The right choice depends on your data, the question, and whether interpretability or raw predictive power is more important.”</a:t>
            </a:r>
          </a:p>
          <a:p>
            <a:r>
              <a:rPr lang="en-AU" dirty="0"/>
              <a:t>“In practice, it’s common to try several models and compare them side by side, just as we’ll do in the workshop.”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670DA-D77F-1249-B207-3EF3B8E0C85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155A-2DA1-55D9-100D-CC73B6127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F32EF-E4D2-9520-C40D-C2E480C76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A5CF-CD1C-615F-E349-BE6C9A6C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89D58-D2BD-E992-94D0-4F487CCB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F4979-BAB3-05FB-F2E3-F5A7A8B1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8A43-62CA-0572-A90F-8D7AAA58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22B7-1D45-4A86-31B8-6FEADC3EA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6F8C-7393-51A3-F554-CC0140EA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EA5BE-E1A2-18F8-F5FD-B24E6025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AC9B4-EC8A-2351-9057-AA10EBD6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5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0FF5-E4A9-2137-8A8C-5B15C447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22A6B-905C-18B7-1FD0-EAF5BFB67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01F7B-A08B-FA85-CA49-C4BCDC9E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263F-A615-08AE-51DF-A1F1E05F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292D4-45C7-F978-D9F8-3FC7A113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4CA5-DDCB-C7D0-8758-CD2C1A50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01EB-C4B9-C970-EAB5-FA12C83C8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0533E-32AD-28D7-0650-954E135C8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B0D10-DB54-4A08-44BB-09580CBB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D4F4E-9F6C-BF03-BE1C-ABD4BDF3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B5BE7-BC00-7182-144D-E0AE08DC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5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C995-F55B-8C74-CB95-E4B6AA49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055D7-B100-10F4-CA65-018533697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44DD5-3C5B-C131-B150-4750F5580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441B0-AE46-84CF-3C85-BC64DB5E5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E769A-3C73-7FBB-30A4-026F89DCC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AB4CD-C595-EAAB-E976-CE32650C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0FFF3-0A5D-4F57-14C0-9D258BDA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E24E5-7E20-6017-7015-F417C745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F93D-95B0-98F0-689C-87A69446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BCD31-4B31-50E8-3D29-13B2FA69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64DE9-61AC-7C64-A600-3DC95B34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621DA-0F72-C0C0-636F-0709D106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C3FC6-A246-8E17-913F-F707D64C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28C82-5E80-B13E-244C-A3DAE895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EF94-B1BB-484A-BFDB-A138DD91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4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FBFF-DA82-6D96-1D08-B60242B4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7AD5-D3AD-E6B3-6FFC-A0073E5AF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EB6AD-53B0-AEB6-7338-FF07A1B0D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9EA23-EADC-A8A9-AF68-1B61493A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23254-9264-FC14-295A-78D051CD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77616-A393-9C2A-7BBC-206AED9D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4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52FB-1AB8-AAE8-9C9A-29060FDE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EEC25-5476-6FD9-1334-CE1C5B737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CB20B-1976-9249-EA61-7EDD134FE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52356-3936-E59A-F518-A6B6339D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233F5-B702-041E-74C0-70DBEBD8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97A36-34C6-869C-20E1-AB965556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5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2B1A-25F3-D66B-44E8-4D5A62E2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A8830-9653-867D-14FF-D0B41D7BB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74CB5-D4A9-62EF-0B4F-B13041B4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622B-A38B-3582-09C8-997267E6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663DF-B8E4-B9CA-F2C6-EC88360F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1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DE64E-CA62-4196-D0ED-99D922A73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A8195-5507-7414-4916-A8AFCBA4A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2EA3-2EE8-7EDC-0F5C-D900A166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6A6E5-33D0-07D5-014F-ACD7D0C0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9274-E5DA-7CCC-9B60-45E40456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9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B0B2F-362F-8028-5FE5-3F0599A0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7FE33-45D8-6B2C-F649-64E1DCB3E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849F4-0541-8BF7-9FD0-8B982EB62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3F01D-2D89-C44C-A6A3-8D882F85AC6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204D8-0CAD-F060-24A7-D11009132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E1B08-BCD8-B1F6-AD96-F296ACF6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21285-6DBF-4A48-9FD7-DA4253D3B4C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9EFE1-DFD7-2CC7-18FE-E146459DCF0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26860"/>
            <a:ext cx="681038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[OFFICIAL]</a:t>
            </a:r>
          </a:p>
        </p:txBody>
      </p:sp>
    </p:spTree>
    <p:extLst>
      <p:ext uri="{BB962C8B-B14F-4D97-AF65-F5344CB8AC3E}">
        <p14:creationId xmlns:p14="http://schemas.microsoft.com/office/powerpoint/2010/main" val="87451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e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7AD1-9D91-5FC4-AEDC-3A2C50BDA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Regression and Classification in Metabolomics</a:t>
            </a:r>
          </a:p>
        </p:txBody>
      </p:sp>
      <p:pic>
        <p:nvPicPr>
          <p:cNvPr id="1026" name="Picture 2" descr="File:Murdoch University extended logo ...">
            <a:extLst>
              <a:ext uri="{FF2B5EF4-FFF2-40B4-BE49-F238E27FC236}">
                <a16:creationId xmlns:a16="http://schemas.microsoft.com/office/drawing/2014/main" id="{A9C26394-C002-8377-4B2D-6C0F982E2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514" y="337833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3;p15">
            <a:extLst>
              <a:ext uri="{FF2B5EF4-FFF2-40B4-BE49-F238E27FC236}">
                <a16:creationId xmlns:a16="http://schemas.microsoft.com/office/drawing/2014/main" id="{2D8D1990-CC9E-F5D9-0556-3F5D1D383757}"/>
              </a:ext>
            </a:extLst>
          </p:cNvPr>
          <p:cNvSpPr/>
          <p:nvPr/>
        </p:nvSpPr>
        <p:spPr>
          <a:xfrm>
            <a:off x="500443" y="5462200"/>
            <a:ext cx="11011833" cy="1057967"/>
          </a:xfrm>
          <a:prstGeom prst="rect">
            <a:avLst/>
          </a:prstGeom>
          <a:solidFill>
            <a:srgbClr val="CF10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Andrés Castillo, Andrés Bernal</a:t>
            </a:r>
          </a:p>
          <a:p>
            <a:r>
              <a:rPr lang="en-US" dirty="0">
                <a:solidFill>
                  <a:schemeClr val="bg1"/>
                </a:solidFill>
              </a:rPr>
              <a:t>September 2025</a:t>
            </a:r>
          </a:p>
        </p:txBody>
      </p:sp>
      <p:pic>
        <p:nvPicPr>
          <p:cNvPr id="6" name="Google Shape;105;p15" descr="Diagram, schematic&#10;&#10;Description automatically generated">
            <a:extLst>
              <a:ext uri="{FF2B5EF4-FFF2-40B4-BE49-F238E27FC236}">
                <a16:creationId xmlns:a16="http://schemas.microsoft.com/office/drawing/2014/main" id="{CD7F439A-A0BC-346B-52EA-B646F1C4AE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0488" y="5578280"/>
            <a:ext cx="1336005" cy="85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6;p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8EE819C1-B178-BD99-A3A1-2EDFFB54A7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626" t="7758"/>
          <a:stretch/>
        </p:blipFill>
        <p:spPr>
          <a:xfrm>
            <a:off x="9863137" y="5578280"/>
            <a:ext cx="1609725" cy="843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069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7952-FA8F-D198-A0AF-7F8A555F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pic>
        <p:nvPicPr>
          <p:cNvPr id="4" name="Picture 2" descr="File:Murdoch University extended logo ...">
            <a:extLst>
              <a:ext uri="{FF2B5EF4-FFF2-40B4-BE49-F238E27FC236}">
                <a16:creationId xmlns:a16="http://schemas.microsoft.com/office/drawing/2014/main" id="{3BB3CCEB-B0AA-F61D-DA56-C8073EBA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F0EF85C-922E-D5A2-D15D-D093272884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2832"/>
            <a:ext cx="103829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“too-good-to-be-true” BMI model (39 PCs) — train vs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&amp; Tasks: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plasma 1H NMR (ROI filtered),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(BMI) &amp;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(COVID vs No COVID)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ROI (exclude water), scale/center,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train only,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(BMI):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→ multiple → polynomial; metrics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R², MSE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 mirage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Fixing Regression: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choose #PCs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CV/test RMSE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(3–10 PCs); brief note on ridge/lasso/PLS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back-project PC coefficients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weights over ppm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(biochemical regions)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(COVID):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logistic, decision tree,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evaluation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matrix, F1, ROC/PR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&amp; Lessons: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generalized, what didn’t; pitfalls &amp;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76030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C5C1-FF25-C760-225F-06B11C8E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We’ll Do</a:t>
            </a:r>
            <a:endParaRPr 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EEBD7412-06BB-49ED-90BC-39244B0B83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graph showing a number of different sizes&#10;&#10;AI-generated content may be incorrect.">
            <a:extLst>
              <a:ext uri="{FF2B5EF4-FFF2-40B4-BE49-F238E27FC236}">
                <a16:creationId xmlns:a16="http://schemas.microsoft.com/office/drawing/2014/main" id="{689B7550-526D-5374-F8B7-A8F428464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81" y="726823"/>
            <a:ext cx="5410200" cy="322441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CF51AD-560F-C7A6-E26A-C9DF96F10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0" y="1366044"/>
            <a:ext cx="5219700" cy="2235200"/>
          </a:xfrm>
          <a:prstGeom prst="rect">
            <a:avLst/>
          </a:prstGeom>
        </p:spPr>
      </p:pic>
      <p:pic>
        <p:nvPicPr>
          <p:cNvPr id="9" name="Picture 8" descr="A graph of a number of bmi&#10;&#10;AI-generated content may be incorrect.">
            <a:extLst>
              <a:ext uri="{FF2B5EF4-FFF2-40B4-BE49-F238E27FC236}">
                <a16:creationId xmlns:a16="http://schemas.microsoft.com/office/drawing/2014/main" id="{2C968EBE-BDFD-8E81-2221-852093976B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42"/>
          <a:stretch>
            <a:fillRect/>
          </a:stretch>
        </p:blipFill>
        <p:spPr>
          <a:xfrm>
            <a:off x="1121112" y="4029826"/>
            <a:ext cx="4401518" cy="2611319"/>
          </a:xfrm>
          <a:prstGeom prst="rect">
            <a:avLst/>
          </a:prstGeom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A3D69925-CDA5-D13A-92A5-5E53FAAD2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931" y="3581400"/>
            <a:ext cx="3189249" cy="318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File:Murdoch University extended logo ...">
            <a:extLst>
              <a:ext uri="{FF2B5EF4-FFF2-40B4-BE49-F238E27FC236}">
                <a16:creationId xmlns:a16="http://schemas.microsoft.com/office/drawing/2014/main" id="{CE346027-AD37-1D88-2446-CA90CB7BF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349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501D-C500-1108-5FC5-67AF11011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5C085F-802D-9CD5-4CBD-2F92B104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07" y="1603093"/>
            <a:ext cx="102204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span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post-COVID (recovery)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controls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infection 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(BMI used here only as a teaching proxy)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today: map labels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COVID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(recovery + healthy)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 recovery cohort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(Holmes et al., 2021): plasma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CPMG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¹H NMR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notes: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 filtering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remove water 4.5–5.1 ppm),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scale/center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PCA on train only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69C91ED8-1417-76AF-4BDF-E585261B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0782"/>
            <a:ext cx="4381500" cy="2667000"/>
          </a:xfrm>
          <a:prstGeom prst="rect">
            <a:avLst/>
          </a:prstGeom>
        </p:spPr>
      </p:pic>
      <p:pic>
        <p:nvPicPr>
          <p:cNvPr id="13" name="Picture 12" descr="A diagram of a bar graph&#10;&#10;AI-generated content may be incorrect.">
            <a:extLst>
              <a:ext uri="{FF2B5EF4-FFF2-40B4-BE49-F238E27FC236}">
                <a16:creationId xmlns:a16="http://schemas.microsoft.com/office/drawing/2014/main" id="{3B03D79F-27AC-A677-C588-F8D0068A8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922" y="3080421"/>
            <a:ext cx="4267200" cy="2628900"/>
          </a:xfrm>
          <a:prstGeom prst="rect">
            <a:avLst/>
          </a:prstGeom>
        </p:spPr>
      </p:pic>
      <p:pic>
        <p:nvPicPr>
          <p:cNvPr id="14" name="Picture 2" descr="File:Murdoch University extended logo ...">
            <a:extLst>
              <a:ext uri="{FF2B5EF4-FFF2-40B4-BE49-F238E27FC236}">
                <a16:creationId xmlns:a16="http://schemas.microsoft.com/office/drawing/2014/main" id="{9539CD18-873F-7736-9030-9AF9617CA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69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137E-5D7E-AFB3-7093-7B9300BD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plan(Workflow)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ED02B00-0F22-7021-5D40-696F5FAFD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5993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 descr="File:Murdoch University extended logo ...">
            <a:extLst>
              <a:ext uri="{FF2B5EF4-FFF2-40B4-BE49-F238E27FC236}">
                <a16:creationId xmlns:a16="http://schemas.microsoft.com/office/drawing/2014/main" id="{9343A0C6-1E82-131B-B929-05777BC88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62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EEEB-873C-8ABE-DCB2-3C8A35E50B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28613"/>
            <a:ext cx="6894513" cy="1042987"/>
          </a:xfrm>
        </p:spPr>
        <p:txBody>
          <a:bodyPr anchor="b">
            <a:normAutofit/>
          </a:bodyPr>
          <a:lstStyle/>
          <a:p>
            <a:r>
              <a:rPr lang="en-AU" sz="5400" dirty="0"/>
              <a:t>PCA Refresher</a:t>
            </a:r>
            <a:endParaRPr lang="en-US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D67696-CB70-9812-A708-EDD5AB76FAD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98905" y="1543050"/>
            <a:ext cx="6894513" cy="2038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Too many variables: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8,000+ points per spectrum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PCA = compression: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projects spectra into fewer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orthogonal components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PCs capture variance: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PC1 = largest, PC2 = second-largest, etc.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Not guaranteed to capture relevance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BMI or COVID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We’ll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choose the number of PCs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based on model performance, not only the variance explained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B22E1F71-34A0-FF8B-2E58-418BE84FF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2322" y="329183"/>
            <a:ext cx="3437251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078320-9BC8-0A11-BA14-0C1F19A42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641" y="4079193"/>
            <a:ext cx="3524326" cy="2176272"/>
          </a:xfrm>
          <a:prstGeom prst="rect">
            <a:avLst/>
          </a:prstGeom>
        </p:spPr>
      </p:pic>
      <p:sp>
        <p:nvSpPr>
          <p:cNvPr id="5" name="AutoShape 3">
            <a:extLst>
              <a:ext uri="{FF2B5EF4-FFF2-40B4-BE49-F238E27FC236}">
                <a16:creationId xmlns:a16="http://schemas.microsoft.com/office/drawing/2014/main" id="{34073938-0990-8975-BCAC-A087698BFE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2" descr="File:Murdoch University extended logo ...">
            <a:extLst>
              <a:ext uri="{FF2B5EF4-FFF2-40B4-BE49-F238E27FC236}">
                <a16:creationId xmlns:a16="http://schemas.microsoft.com/office/drawing/2014/main" id="{9CED4C9D-624E-E6E1-4802-8C1175B8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95A3B9-131E-180C-7619-B01EFD384A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51" t="20667" r="6264"/>
          <a:stretch>
            <a:fillRect/>
          </a:stretch>
        </p:blipFill>
        <p:spPr>
          <a:xfrm>
            <a:off x="323385" y="3948797"/>
            <a:ext cx="3635298" cy="217627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FCE11E-B7B2-B626-D44B-8F1336F54EC3}"/>
              </a:ext>
            </a:extLst>
          </p:cNvPr>
          <p:cNvSpPr/>
          <p:nvPr/>
        </p:nvSpPr>
        <p:spPr>
          <a:xfrm>
            <a:off x="4895385" y="4713968"/>
            <a:ext cx="2921619" cy="557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[PC1, PC2, PC3, PC4, … PC10]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483FA5B9-2E54-48E6-7713-5AB130563FA6}"/>
              </a:ext>
            </a:extLst>
          </p:cNvPr>
          <p:cNvSpPr/>
          <p:nvPr/>
        </p:nvSpPr>
        <p:spPr>
          <a:xfrm>
            <a:off x="3958683" y="4906537"/>
            <a:ext cx="903249" cy="260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1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FF5DED-599D-E2D6-4886-872F2281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031"/>
          </a:xfrm>
        </p:spPr>
        <p:txBody>
          <a:bodyPr>
            <a:noAutofit/>
          </a:bodyPr>
          <a:lstStyle/>
          <a:p>
            <a:r>
              <a:rPr lang="en-AU" dirty="0"/>
              <a:t>Regression Basics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C30685-5F4A-DB55-EB88-03BAD7E62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17" y="1130947"/>
            <a:ext cx="622153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= predict a 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(here, BMI)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 simple: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 predictor, straight line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regression: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several predictors (PCs)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Polynomial regression: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curvature if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Evaluate 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(variance explained), RMSE (error size)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good line on training is not good pattern</a:t>
            </a:r>
          </a:p>
        </p:txBody>
      </p:sp>
      <p:pic>
        <p:nvPicPr>
          <p:cNvPr id="7173" name="Picture 5">
            <a:extLst>
              <a:ext uri="{FF2B5EF4-FFF2-40B4-BE49-F238E27FC236}">
                <a16:creationId xmlns:a16="http://schemas.microsoft.com/office/drawing/2014/main" id="{0A6659C3-DB7F-FC12-C02F-7BE9571E7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17" y="3323063"/>
            <a:ext cx="5584785" cy="287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228B97-0B4B-BF7D-3C9D-828102D4B0C1}"/>
              </a:ext>
            </a:extLst>
          </p:cNvPr>
          <p:cNvCxnSpPr/>
          <p:nvPr/>
        </p:nvCxnSpPr>
        <p:spPr>
          <a:xfrm flipV="1">
            <a:off x="660580" y="3323063"/>
            <a:ext cx="4838218" cy="2254170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EB9406-B625-FE4A-A8A5-038401A1542F}"/>
              </a:ext>
            </a:extLst>
          </p:cNvPr>
          <p:cNvSpPr txBox="1"/>
          <p:nvPr/>
        </p:nvSpPr>
        <p:spPr>
          <a:xfrm>
            <a:off x="3926226" y="594759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40FF"/>
                </a:solidFill>
              </a:rPr>
              <a:t>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808060-3371-016F-A1C8-D42EBF44FB0A}"/>
              </a:ext>
            </a:extLst>
          </p:cNvPr>
          <p:cNvCxnSpPr/>
          <p:nvPr/>
        </p:nvCxnSpPr>
        <p:spPr>
          <a:xfrm>
            <a:off x="4086687" y="5688267"/>
            <a:ext cx="0" cy="173621"/>
          </a:xfrm>
          <a:prstGeom prst="line">
            <a:avLst/>
          </a:prstGeom>
          <a:ln w="31750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2C7D2F-8DEA-5C2B-9B52-413C0F83AA1B}"/>
              </a:ext>
            </a:extLst>
          </p:cNvPr>
          <p:cNvCxnSpPr/>
          <p:nvPr/>
        </p:nvCxnSpPr>
        <p:spPr>
          <a:xfrm flipV="1">
            <a:off x="4086687" y="3985803"/>
            <a:ext cx="0" cy="179398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15373D-937A-4B9F-6B2D-CF4DC1A51449}"/>
              </a:ext>
            </a:extLst>
          </p:cNvPr>
          <p:cNvCxnSpPr/>
          <p:nvPr/>
        </p:nvCxnSpPr>
        <p:spPr>
          <a:xfrm flipH="1">
            <a:off x="764753" y="3913170"/>
            <a:ext cx="34655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149F11-252E-E3AE-42AE-934E17FAFD6D}"/>
              </a:ext>
            </a:extLst>
          </p:cNvPr>
          <p:cNvGrpSpPr/>
          <p:nvPr/>
        </p:nvGrpSpPr>
        <p:grpSpPr>
          <a:xfrm>
            <a:off x="268393" y="3913170"/>
            <a:ext cx="3818294" cy="369332"/>
            <a:chOff x="5881291" y="4019107"/>
            <a:chExt cx="3818294" cy="36933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12A17C-7410-DFFF-A397-7FF64B166CA2}"/>
                </a:ext>
              </a:extLst>
            </p:cNvPr>
            <p:cNvCxnSpPr/>
            <p:nvPr/>
          </p:nvCxnSpPr>
          <p:spPr>
            <a:xfrm flipH="1">
              <a:off x="6273478" y="4091740"/>
              <a:ext cx="342610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DC680FD-7CFF-88AF-A210-B2090949CF85}"/>
                    </a:ext>
                  </a:extLst>
                </p:cNvPr>
                <p:cNvSpPr txBox="1"/>
                <p:nvPr/>
              </p:nvSpPr>
              <p:spPr>
                <a:xfrm>
                  <a:off x="5881291" y="4019107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AU" b="0" i="1" dirty="0" smtClean="0">
                                <a:solidFill>
                                  <a:srgbClr val="FF4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dirty="0" smtClean="0">
                                <a:solidFill>
                                  <a:srgbClr val="FF4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DC680FD-7CFF-88AF-A210-B2090949C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1291" y="4019107"/>
                  <a:ext cx="36497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33EABF-8527-1F0D-7249-D184971EC8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4106" y="4013694"/>
              <a:ext cx="0" cy="173621"/>
            </a:xfrm>
            <a:prstGeom prst="line">
              <a:avLst/>
            </a:prstGeom>
            <a:ln w="31750">
              <a:solidFill>
                <a:srgbClr val="FF4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175" name="Picture 7">
            <a:extLst>
              <a:ext uri="{FF2B5EF4-FFF2-40B4-BE49-F238E27FC236}">
                <a16:creationId xmlns:a16="http://schemas.microsoft.com/office/drawing/2014/main" id="{394C9D39-3334-4CA8-A6CC-C6A98B3C9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13" y="3603140"/>
            <a:ext cx="4008392" cy="257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>
            <a:extLst>
              <a:ext uri="{FF2B5EF4-FFF2-40B4-BE49-F238E27FC236}">
                <a16:creationId xmlns:a16="http://schemas.microsoft.com/office/drawing/2014/main" id="{67E609B8-2229-6F81-38E8-B3C89AAF5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760" y="233680"/>
            <a:ext cx="3465563" cy="333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ile:Murdoch University extended logo ...">
            <a:extLst>
              <a:ext uri="{FF2B5EF4-FFF2-40B4-BE49-F238E27FC236}">
                <a16:creationId xmlns:a16="http://schemas.microsoft.com/office/drawing/2014/main" id="{9CC67384-C0C4-F033-947A-39989C13C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0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2B2D-F2AC-628F-85C1-944E617F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21285"/>
            <a:ext cx="10515600" cy="793115"/>
          </a:xfrm>
        </p:spPr>
        <p:txBody>
          <a:bodyPr/>
          <a:lstStyle/>
          <a:p>
            <a:r>
              <a:rPr lang="en-AU" dirty="0"/>
              <a:t>Evaluating Regression Performance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96D1CA-244C-B389-AC54-2507CEF0E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58" y="1301396"/>
            <a:ext cx="42722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is better; same units 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outcome (BMI here)</a:t>
            </a:r>
          </a:p>
        </p:txBody>
      </p:sp>
      <p:pic>
        <p:nvPicPr>
          <p:cNvPr id="5" name="Picture 4" descr="A graph with red dots&#10;&#10;AI-generated content may be incorrect.">
            <a:extLst>
              <a:ext uri="{FF2B5EF4-FFF2-40B4-BE49-F238E27FC236}">
                <a16:creationId xmlns:a16="http://schemas.microsoft.com/office/drawing/2014/main" id="{C3E63EEE-76BA-2D4F-1593-56FAD59E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160" y="1174115"/>
            <a:ext cx="7416800" cy="55626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4100CD-1344-2818-4845-82769F66BA90}"/>
              </a:ext>
            </a:extLst>
          </p:cNvPr>
          <p:cNvCxnSpPr/>
          <p:nvPr/>
        </p:nvCxnSpPr>
        <p:spPr>
          <a:xfrm flipV="1">
            <a:off x="5029200" y="3429000"/>
            <a:ext cx="6569242" cy="1239253"/>
          </a:xfrm>
          <a:prstGeom prst="line">
            <a:avLst/>
          </a:prstGeom>
          <a:ln w="254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249AC6-D68B-1B3A-17D2-0E9A68DA6976}"/>
              </a:ext>
            </a:extLst>
          </p:cNvPr>
          <p:cNvCxnSpPr>
            <a:cxnSpLocks/>
          </p:cNvCxnSpPr>
          <p:nvPr/>
        </p:nvCxnSpPr>
        <p:spPr>
          <a:xfrm flipV="1">
            <a:off x="5245768" y="4439653"/>
            <a:ext cx="0" cy="1904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56B245-8DA2-2349-05D5-FFAA163CF54E}"/>
              </a:ext>
            </a:extLst>
          </p:cNvPr>
          <p:cNvCxnSpPr>
            <a:cxnSpLocks/>
          </p:cNvCxnSpPr>
          <p:nvPr/>
        </p:nvCxnSpPr>
        <p:spPr>
          <a:xfrm flipV="1">
            <a:off x="5372768" y="4592053"/>
            <a:ext cx="0" cy="380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5622B-B490-9924-B232-E9F2AB9692E8}"/>
              </a:ext>
            </a:extLst>
          </p:cNvPr>
          <p:cNvCxnSpPr>
            <a:cxnSpLocks/>
          </p:cNvCxnSpPr>
          <p:nvPr/>
        </p:nvCxnSpPr>
        <p:spPr>
          <a:xfrm flipV="1">
            <a:off x="5620418" y="3517900"/>
            <a:ext cx="0" cy="10464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E6542B-3E56-B563-55E3-447AAA671B53}"/>
              </a:ext>
            </a:extLst>
          </p:cNvPr>
          <p:cNvCxnSpPr>
            <a:cxnSpLocks/>
          </p:cNvCxnSpPr>
          <p:nvPr/>
        </p:nvCxnSpPr>
        <p:spPr>
          <a:xfrm flipV="1">
            <a:off x="5747418" y="4534855"/>
            <a:ext cx="0" cy="1673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D6C2C7-A8AF-3B9D-A90F-2539BD481A08}"/>
              </a:ext>
            </a:extLst>
          </p:cNvPr>
          <p:cNvCxnSpPr>
            <a:cxnSpLocks/>
          </p:cNvCxnSpPr>
          <p:nvPr/>
        </p:nvCxnSpPr>
        <p:spPr>
          <a:xfrm flipV="1">
            <a:off x="5871243" y="3350580"/>
            <a:ext cx="0" cy="1147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5723C3-8752-D2BE-819F-8A5345A47CF1}"/>
              </a:ext>
            </a:extLst>
          </p:cNvPr>
          <p:cNvCxnSpPr>
            <a:cxnSpLocks/>
          </p:cNvCxnSpPr>
          <p:nvPr/>
        </p:nvCxnSpPr>
        <p:spPr>
          <a:xfrm flipV="1">
            <a:off x="6118893" y="4018515"/>
            <a:ext cx="0" cy="445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12B32B-F641-B559-87BC-E6CF5881F7AA}"/>
              </a:ext>
            </a:extLst>
          </p:cNvPr>
          <p:cNvCxnSpPr>
            <a:cxnSpLocks/>
          </p:cNvCxnSpPr>
          <p:nvPr/>
        </p:nvCxnSpPr>
        <p:spPr>
          <a:xfrm flipV="1">
            <a:off x="6239543" y="4349750"/>
            <a:ext cx="0" cy="899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C1D799-D3D2-A88C-71BA-39C7E46B3A4B}"/>
              </a:ext>
            </a:extLst>
          </p:cNvPr>
          <p:cNvCxnSpPr>
            <a:cxnSpLocks/>
          </p:cNvCxnSpPr>
          <p:nvPr/>
        </p:nvCxnSpPr>
        <p:spPr>
          <a:xfrm flipV="1">
            <a:off x="6372893" y="4248150"/>
            <a:ext cx="0" cy="158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7F81F8-7C8C-4742-D650-F11211EC7649}"/>
              </a:ext>
            </a:extLst>
          </p:cNvPr>
          <p:cNvCxnSpPr>
            <a:cxnSpLocks/>
          </p:cNvCxnSpPr>
          <p:nvPr/>
        </p:nvCxnSpPr>
        <p:spPr>
          <a:xfrm flipV="1">
            <a:off x="6501604" y="4125756"/>
            <a:ext cx="0" cy="281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65B759-8C6A-5F03-1CA0-7FC5B47AAFB1}"/>
              </a:ext>
            </a:extLst>
          </p:cNvPr>
          <p:cNvCxnSpPr>
            <a:cxnSpLocks/>
          </p:cNvCxnSpPr>
          <p:nvPr/>
        </p:nvCxnSpPr>
        <p:spPr>
          <a:xfrm flipV="1">
            <a:off x="6616101" y="4349750"/>
            <a:ext cx="0" cy="3954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F66B7D9-3B1E-5CCD-B395-7614EA8020CC}"/>
              </a:ext>
            </a:extLst>
          </p:cNvPr>
          <p:cNvSpPr txBox="1"/>
          <p:nvPr/>
        </p:nvSpPr>
        <p:spPr>
          <a:xfrm>
            <a:off x="213912" y="3429000"/>
            <a:ext cx="42699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(coefficient of determination):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Fraction of variance in the outcome explained by the model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= 1 → perfect fit;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= 0 → no better than mean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0D0AC1-6DD0-34A6-FF29-F9B7D37BBCDD}"/>
              </a:ext>
            </a:extLst>
          </p:cNvPr>
          <p:cNvCxnSpPr>
            <a:cxnSpLocks/>
          </p:cNvCxnSpPr>
          <p:nvPr/>
        </p:nvCxnSpPr>
        <p:spPr>
          <a:xfrm flipV="1">
            <a:off x="5989267" y="4497655"/>
            <a:ext cx="0" cy="1147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D904C4FE-63E8-0731-5BDB-B8329842F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53" y="2269110"/>
            <a:ext cx="3355090" cy="977804"/>
          </a:xfrm>
          <a:prstGeom prst="rect">
            <a:avLst/>
          </a:prstGeom>
        </p:spPr>
      </p:pic>
      <p:pic>
        <p:nvPicPr>
          <p:cNvPr id="38" name="Picture 37" descr="A number of mathematical equations&#10;&#10;AI-generated content may be incorrect.">
            <a:extLst>
              <a:ext uri="{FF2B5EF4-FFF2-40B4-BE49-F238E27FC236}">
                <a16:creationId xmlns:a16="http://schemas.microsoft.com/office/drawing/2014/main" id="{D097D13F-0FBA-88F6-C470-37D3C2803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74" y="5219301"/>
            <a:ext cx="3293853" cy="850858"/>
          </a:xfrm>
          <a:prstGeom prst="rect">
            <a:avLst/>
          </a:prstGeom>
        </p:spPr>
      </p:pic>
      <p:pic>
        <p:nvPicPr>
          <p:cNvPr id="39" name="Picture 2" descr="File:Murdoch University extended logo ...">
            <a:extLst>
              <a:ext uri="{FF2B5EF4-FFF2-40B4-BE49-F238E27FC236}">
                <a16:creationId xmlns:a16="http://schemas.microsoft.com/office/drawing/2014/main" id="{F975BB7E-AEFD-B255-A461-8F5735715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9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75ED-A076-28BF-4725-57E9F7BB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920A-5B0D-8909-EA9D-27E10C0B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21285"/>
            <a:ext cx="10515600" cy="793115"/>
          </a:xfrm>
        </p:spPr>
        <p:txBody>
          <a:bodyPr/>
          <a:lstStyle/>
          <a:p>
            <a:r>
              <a:rPr lang="en-AU" dirty="0"/>
              <a:t>Evaluating Regression Performance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5EECE-04A0-E5BF-83EA-BAE16BAF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914400"/>
            <a:ext cx="8610157" cy="5313697"/>
          </a:xfrm>
          <a:prstGeom prst="rect">
            <a:avLst/>
          </a:prstGeom>
        </p:spPr>
      </p:pic>
      <p:pic>
        <p:nvPicPr>
          <p:cNvPr id="8" name="Picture 2" descr="File:Murdoch University extended logo ...">
            <a:extLst>
              <a:ext uri="{FF2B5EF4-FFF2-40B4-BE49-F238E27FC236}">
                <a16:creationId xmlns:a16="http://schemas.microsoft.com/office/drawing/2014/main" id="{3899198C-320B-3D1B-0A4C-E3F5EC7BA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80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A695-8F14-F236-D7C8-905C4207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28059"/>
            <a:ext cx="10515600" cy="729897"/>
          </a:xfrm>
        </p:spPr>
        <p:txBody>
          <a:bodyPr/>
          <a:lstStyle/>
          <a:p>
            <a:r>
              <a:rPr lang="en-AU" dirty="0"/>
              <a:t>The Overfitting Mirage (38 PCs)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DB1DF0-CC17-2A73-A0C3-AAAC65FA9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33" y="959921"/>
            <a:ext cx="974231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38 PCs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(almost as many predictors as samples)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 set: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≈ 1.0, RMSE ≈ 0 → looks perfect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set: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predictions collapse → poor generalization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Overfitting: model memorizes noise instead of learning signal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Lesson: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trust training performance alone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37AD143-8E65-E6D0-770A-79D588DA8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21728-5ADD-6F1B-8D28-EDE83F97E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89" y="2610625"/>
            <a:ext cx="5587083" cy="3448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D10D2-F9EB-F49C-1FC8-5BC04F352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172" y="2610625"/>
            <a:ext cx="5587084" cy="3448029"/>
          </a:xfrm>
          <a:prstGeom prst="rect">
            <a:avLst/>
          </a:prstGeom>
        </p:spPr>
      </p:pic>
      <p:pic>
        <p:nvPicPr>
          <p:cNvPr id="8" name="Picture 2" descr="File:Murdoch University extended logo ...">
            <a:extLst>
              <a:ext uri="{FF2B5EF4-FFF2-40B4-BE49-F238E27FC236}">
                <a16:creationId xmlns:a16="http://schemas.microsoft.com/office/drawing/2014/main" id="{3EFD648B-FE89-DB86-C0B9-9EBCD3B67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84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696F-2DB4-E9A9-8A4E-ADC97004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56" y="184503"/>
            <a:ext cx="10515600" cy="707319"/>
          </a:xfrm>
        </p:spPr>
        <p:txBody>
          <a:bodyPr/>
          <a:lstStyle/>
          <a:p>
            <a:r>
              <a:rPr lang="en-AU" dirty="0"/>
              <a:t>Why the Mirage Happens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F980A9-D330-D490-3BEC-5016CFBE5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55" y="896413"/>
            <a:ext cx="71091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many predictors (PCs) → model can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memorize noise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error goes down, but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 of predictions explodes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bias–variance trade-off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400" dirty="0"/>
              <a:t>Few PCs → high bias, underfit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400" dirty="0"/>
              <a:t>Too many PCs → high variance, overfit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A93BC47B-65FA-D6D4-8B02-7EAD7A37F4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115E-85FF-AF15-C754-FB8A9DC96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7" t="5419" r="2206" b="4197"/>
          <a:stretch>
            <a:fillRect/>
          </a:stretch>
        </p:blipFill>
        <p:spPr>
          <a:xfrm>
            <a:off x="824089" y="2133598"/>
            <a:ext cx="10515600" cy="4131735"/>
          </a:xfrm>
          <a:prstGeom prst="rect">
            <a:avLst/>
          </a:prstGeom>
        </p:spPr>
      </p:pic>
      <p:pic>
        <p:nvPicPr>
          <p:cNvPr id="7" name="Picture 2" descr="File:Murdoch University extended logo ...">
            <a:extLst>
              <a:ext uri="{FF2B5EF4-FFF2-40B4-BE49-F238E27FC236}">
                <a16:creationId xmlns:a16="http://schemas.microsoft.com/office/drawing/2014/main" id="{51933527-5ED5-C27C-8AE1-639A49909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826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E0E1-31D4-A24A-0AE8-979A6113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14558"/>
            <a:ext cx="11633200" cy="904875"/>
          </a:xfrm>
        </p:spPr>
        <p:txBody>
          <a:bodyPr>
            <a:normAutofit/>
          </a:bodyPr>
          <a:lstStyle/>
          <a:p>
            <a:r>
              <a:rPr lang="en-AU" sz="3600" dirty="0"/>
              <a:t>Fixing Regression (Choosing the Right Complexity)</a:t>
            </a:r>
            <a:endParaRPr lang="en-US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A7223E-5C33-6CCA-4219-5E7449891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19433"/>
            <a:ext cx="77343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use “as many PCs as possible” → overfitting trap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sweet spot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enough PCs to capture signal, not noise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metrics (RMSE, R²) across PC counts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models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simple as possible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still generalize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24FA30-92DF-FBD6-9BFA-05447B9F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14" r="4902" b="4424"/>
          <a:stretch>
            <a:fillRect/>
          </a:stretch>
        </p:blipFill>
        <p:spPr>
          <a:xfrm>
            <a:off x="2832100" y="2590800"/>
            <a:ext cx="7391400" cy="4267200"/>
          </a:xfrm>
          <a:prstGeom prst="rect">
            <a:avLst/>
          </a:prstGeom>
        </p:spPr>
      </p:pic>
      <p:pic>
        <p:nvPicPr>
          <p:cNvPr id="6" name="Picture 2" descr="File:Murdoch University extended logo ...">
            <a:extLst>
              <a:ext uri="{FF2B5EF4-FFF2-40B4-BE49-F238E27FC236}">
                <a16:creationId xmlns:a16="http://schemas.microsoft.com/office/drawing/2014/main" id="{5D6099E2-E235-8024-ED22-D41160CCB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289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8BB0-607B-96F8-1D3F-F8C4D8E6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8925"/>
            <a:ext cx="10515600" cy="841375"/>
          </a:xfrm>
        </p:spPr>
        <p:txBody>
          <a:bodyPr/>
          <a:lstStyle/>
          <a:p>
            <a:r>
              <a:rPr lang="en-AU" dirty="0"/>
              <a:t>From Regression to Classification</a:t>
            </a:r>
            <a:endParaRPr lang="en-US" dirty="0"/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8E96BF73-537B-6BC3-9A30-20F85B55D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444" y="1267189"/>
            <a:ext cx="3997325" cy="381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00A89B4-5217-1EBE-4DCA-F4255ED0A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15" y="1990918"/>
            <a:ext cx="5584785" cy="287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0D02CF-F3A7-C975-15B5-4F69CB7BD481}"/>
              </a:ext>
            </a:extLst>
          </p:cNvPr>
          <p:cNvCxnSpPr/>
          <p:nvPr/>
        </p:nvCxnSpPr>
        <p:spPr>
          <a:xfrm flipV="1">
            <a:off x="1015678" y="1990918"/>
            <a:ext cx="4838218" cy="2254170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9BE074-516F-32C5-D32D-CBF26ACEAEFC}"/>
              </a:ext>
            </a:extLst>
          </p:cNvPr>
          <p:cNvCxnSpPr/>
          <p:nvPr/>
        </p:nvCxnSpPr>
        <p:spPr>
          <a:xfrm>
            <a:off x="4441785" y="4356122"/>
            <a:ext cx="0" cy="173621"/>
          </a:xfrm>
          <a:prstGeom prst="line">
            <a:avLst/>
          </a:prstGeom>
          <a:ln w="31750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D2175C-4248-1F83-4CD7-4D71397604D1}"/>
              </a:ext>
            </a:extLst>
          </p:cNvPr>
          <p:cNvCxnSpPr/>
          <p:nvPr/>
        </p:nvCxnSpPr>
        <p:spPr>
          <a:xfrm flipV="1">
            <a:off x="4441785" y="2653658"/>
            <a:ext cx="0" cy="179398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4CA193-F060-06B9-1828-37811B1A03DF}"/>
              </a:ext>
            </a:extLst>
          </p:cNvPr>
          <p:cNvCxnSpPr/>
          <p:nvPr/>
        </p:nvCxnSpPr>
        <p:spPr>
          <a:xfrm flipH="1">
            <a:off x="1119851" y="2581025"/>
            <a:ext cx="34655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1463CB3-E42E-3F47-D964-80E4CF47FC1C}"/>
              </a:ext>
            </a:extLst>
          </p:cNvPr>
          <p:cNvGrpSpPr/>
          <p:nvPr/>
        </p:nvGrpSpPr>
        <p:grpSpPr>
          <a:xfrm>
            <a:off x="623491" y="2581025"/>
            <a:ext cx="3818294" cy="369332"/>
            <a:chOff x="5881291" y="4019107"/>
            <a:chExt cx="3818294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5DD68E6-1B07-0584-014C-98D273ADC9D4}"/>
                </a:ext>
              </a:extLst>
            </p:cNvPr>
            <p:cNvCxnSpPr/>
            <p:nvPr/>
          </p:nvCxnSpPr>
          <p:spPr>
            <a:xfrm flipH="1">
              <a:off x="6273478" y="4091740"/>
              <a:ext cx="342610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795B931-B5A5-5925-F002-9D51204CB9FF}"/>
                    </a:ext>
                  </a:extLst>
                </p:cNvPr>
                <p:cNvSpPr txBox="1"/>
                <p:nvPr/>
              </p:nvSpPr>
              <p:spPr>
                <a:xfrm>
                  <a:off x="5881291" y="4019107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AU" b="0" i="1" dirty="0" smtClean="0">
                                <a:solidFill>
                                  <a:srgbClr val="FF4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dirty="0" smtClean="0">
                                <a:solidFill>
                                  <a:srgbClr val="FF4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795B931-B5A5-5925-F002-9D51204CB9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1291" y="4019107"/>
                  <a:ext cx="36497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C04C8A-1FD9-A9BA-02CF-B455CFD19F0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4106" y="4013694"/>
              <a:ext cx="0" cy="173621"/>
            </a:xfrm>
            <a:prstGeom prst="line">
              <a:avLst/>
            </a:prstGeom>
            <a:ln w="31750">
              <a:solidFill>
                <a:srgbClr val="FF4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CD4FC6-60EE-4CB0-4D54-0351AFCD5A0C}"/>
                  </a:ext>
                </a:extLst>
              </p:cNvPr>
              <p:cNvSpPr txBox="1"/>
              <p:nvPr/>
            </p:nvSpPr>
            <p:spPr>
              <a:xfrm>
                <a:off x="1778150" y="5084263"/>
                <a:ext cx="2731966" cy="662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 smtClean="0"/>
                        <m:t>w</m:t>
                      </m:r>
                      <m:r>
                        <m:rPr>
                          <m:nor/>
                        </m:rPr>
                        <a:rPr lang="en-US" sz="2400" dirty="0" smtClean="0"/>
                        <m:t>,</m:t>
                      </m:r>
                      <m:r>
                        <m:rPr>
                          <m:nor/>
                        </m:rPr>
                        <a:rPr lang="en-US" sz="2400" dirty="0" smtClean="0"/>
                        <m:t>b</m:t>
                      </m:r>
                      <m:r>
                        <m:rPr>
                          <m:nor/>
                        </m:rPr>
                        <a:rPr lang="en-US" sz="2400" dirty="0" smtClean="0"/>
                        <m:t>(</m:t>
                      </m:r>
                      <m:r>
                        <m:rPr>
                          <m:nor/>
                        </m:rPr>
                        <a:rPr lang="en-US" sz="2400" dirty="0" smtClean="0"/>
                        <m:t>x</m:t>
                      </m:r>
                      <m:r>
                        <m:rPr>
                          <m:nor/>
                        </m:rPr>
                        <a:rPr lang="en-US" sz="2400" dirty="0" smtClean="0"/>
                        <m:t>) = </m:t>
                      </m:r>
                      <m:r>
                        <m:rPr>
                          <m:nor/>
                        </m:rPr>
                        <a:rPr lang="en-US" sz="2400" dirty="0" smtClean="0"/>
                        <m:t>w</m:t>
                      </m:r>
                      <m:r>
                        <m:rPr>
                          <m:nor/>
                        </m:rPr>
                        <a:rPr lang="en-US" sz="2400" dirty="0" smtClean="0"/>
                        <m:t> ∗ </m:t>
                      </m:r>
                      <m:r>
                        <m:rPr>
                          <m:nor/>
                        </m:rPr>
                        <a:rPr lang="en-US" sz="2400" dirty="0" smtClean="0"/>
                        <m:t>x</m:t>
                      </m:r>
                      <m:r>
                        <m:rPr>
                          <m:nor/>
                        </m:rPr>
                        <a:rPr lang="en-US" sz="2400" dirty="0" smtClean="0"/>
                        <m:t> + </m:t>
                      </m:r>
                      <m:r>
                        <m:rPr>
                          <m:nor/>
                        </m:rPr>
                        <a:rPr lang="en-US" sz="2400" dirty="0" smtClean="0"/>
                        <m:t>b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CD4FC6-60EE-4CB0-4D54-0351AFCD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150" y="5084263"/>
                <a:ext cx="2731966" cy="662554"/>
              </a:xfrm>
              <a:prstGeom prst="rect">
                <a:avLst/>
              </a:prstGeom>
              <a:blipFill>
                <a:blip r:embed="rId6"/>
                <a:stretch>
                  <a:fillRect l="-3704" t="-11321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9E15AE5-79EF-3894-D4E9-BA7416106328}"/>
              </a:ext>
            </a:extLst>
          </p:cNvPr>
          <p:cNvSpPr txBox="1"/>
          <p:nvPr/>
        </p:nvSpPr>
        <p:spPr>
          <a:xfrm>
            <a:off x="1881575" y="5963998"/>
            <a:ext cx="259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is a </a:t>
            </a:r>
            <a:r>
              <a:rPr lang="en-US" b="1" dirty="0"/>
              <a:t>real number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8A013-6129-F12C-5FB9-2BB48F2C82F0}"/>
              </a:ext>
            </a:extLst>
          </p:cNvPr>
          <p:cNvCxnSpPr/>
          <p:nvPr/>
        </p:nvCxnSpPr>
        <p:spPr>
          <a:xfrm>
            <a:off x="7924800" y="1562100"/>
            <a:ext cx="2870200" cy="3304982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ACF9F7-E98D-56F3-36B1-6DBBAC2EDC42}"/>
              </a:ext>
            </a:extLst>
          </p:cNvPr>
          <p:cNvCxnSpPr/>
          <p:nvPr/>
        </p:nvCxnSpPr>
        <p:spPr>
          <a:xfrm flipV="1">
            <a:off x="9522106" y="2581025"/>
            <a:ext cx="612494" cy="594701"/>
          </a:xfrm>
          <a:prstGeom prst="straightConnector1">
            <a:avLst/>
          </a:prstGeom>
          <a:ln w="476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D03717-D650-9115-D2D8-33DCE6F8640C}"/>
              </a:ext>
            </a:extLst>
          </p:cNvPr>
          <p:cNvCxnSpPr>
            <a:cxnSpLocks/>
          </p:cNvCxnSpPr>
          <p:nvPr/>
        </p:nvCxnSpPr>
        <p:spPr>
          <a:xfrm flipH="1">
            <a:off x="8661400" y="3385551"/>
            <a:ext cx="631303" cy="576849"/>
          </a:xfrm>
          <a:prstGeom prst="straightConnector1">
            <a:avLst/>
          </a:prstGeom>
          <a:ln w="476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13B37C7-1C0C-9D7C-64E1-3F8A7F70F9D1}"/>
              </a:ext>
            </a:extLst>
          </p:cNvPr>
          <p:cNvSpPr txBox="1"/>
          <p:nvPr/>
        </p:nvSpPr>
        <p:spPr>
          <a:xfrm>
            <a:off x="8565607" y="5963998"/>
            <a:ext cx="222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is a </a:t>
            </a:r>
            <a:r>
              <a:rPr lang="en-US" b="1" dirty="0"/>
              <a:t>category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DB5A59-AF82-2D37-9934-ED0E7D3F303E}"/>
                  </a:ext>
                </a:extLst>
              </p:cNvPr>
              <p:cNvSpPr txBox="1"/>
              <p:nvPr/>
            </p:nvSpPr>
            <p:spPr>
              <a:xfrm>
                <a:off x="8314320" y="5276751"/>
                <a:ext cx="1094787" cy="4024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419" sz="2400" b="0" i="1" dirty="0" smtClean="0">
                              <a:latin typeface="Cambria Math" panose="02040503050406030204" pitchFamily="18" charset="0"/>
                            </a:rPr>
                            <m:t>ɸ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 smtClean="0"/>
                        <m:t>(</m:t>
                      </m:r>
                      <m:r>
                        <m:rPr>
                          <m:nor/>
                        </m:rPr>
                        <a:rPr lang="en-US" sz="2400" dirty="0" smtClean="0"/>
                        <m:t>x</m:t>
                      </m:r>
                      <m:r>
                        <m:rPr>
                          <m:nor/>
                        </m:rPr>
                        <a:rPr lang="en-US" sz="2400" dirty="0" smtClean="0"/>
                        <m:t>) = </m:t>
                      </m:r>
                      <m:r>
                        <a:rPr lang="es-419" sz="2400" b="0" i="0" dirty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DB5A59-AF82-2D37-9934-ED0E7D3F3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320" y="5276751"/>
                <a:ext cx="1094787" cy="402482"/>
              </a:xfrm>
              <a:prstGeom prst="rect">
                <a:avLst/>
              </a:prstGeom>
              <a:blipFill>
                <a:blip r:embed="rId7"/>
                <a:stretch>
                  <a:fillRect l="-9195" t="-18182" r="-6897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" descr="File:Murdoch University extended logo ...">
            <a:extLst>
              <a:ext uri="{FF2B5EF4-FFF2-40B4-BE49-F238E27FC236}">
                <a16:creationId xmlns:a16="http://schemas.microsoft.com/office/drawing/2014/main" id="{6C5C014F-B29A-C6EC-01C6-379129E97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10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2C5CC-D118-6164-7BD6-2468DA3F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86;p127">
            <a:extLst>
              <a:ext uri="{FF2B5EF4-FFF2-40B4-BE49-F238E27FC236}">
                <a16:creationId xmlns:a16="http://schemas.microsoft.com/office/drawing/2014/main" id="{1D76BE1A-BD58-3CD1-65F9-9819E9D35D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900" y="1113294"/>
            <a:ext cx="8839202" cy="37297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786B84-641A-6905-6AA8-2F4C184D29E9}"/>
              </a:ext>
            </a:extLst>
          </p:cNvPr>
          <p:cNvSpPr/>
          <p:nvPr/>
        </p:nvSpPr>
        <p:spPr>
          <a:xfrm>
            <a:off x="977900" y="1879600"/>
            <a:ext cx="7366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" descr="File:Murdoch University extended logo ...">
            <a:extLst>
              <a:ext uri="{FF2B5EF4-FFF2-40B4-BE49-F238E27FC236}">
                <a16:creationId xmlns:a16="http://schemas.microsoft.com/office/drawing/2014/main" id="{E1AD8026-0901-DE3A-CDC5-5330D27A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54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96;p128">
            <a:extLst>
              <a:ext uri="{FF2B5EF4-FFF2-40B4-BE49-F238E27FC236}">
                <a16:creationId xmlns:a16="http://schemas.microsoft.com/office/drawing/2014/main" id="{B29603B2-3465-1277-B34B-1901C993E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es" dirty="0"/>
              <a:t>Binary Classification</a:t>
            </a:r>
            <a:endParaRPr dirty="0"/>
          </a:p>
        </p:txBody>
      </p:sp>
      <p:pic>
        <p:nvPicPr>
          <p:cNvPr id="5" name="Google Shape;898;p128">
            <a:extLst>
              <a:ext uri="{FF2B5EF4-FFF2-40B4-BE49-F238E27FC236}">
                <a16:creationId xmlns:a16="http://schemas.microsoft.com/office/drawing/2014/main" id="{8A208B37-102F-541E-5B3B-67701D4745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6775"/>
            <a:ext cx="6012900" cy="53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99;p128">
            <a:extLst>
              <a:ext uri="{FF2B5EF4-FFF2-40B4-BE49-F238E27FC236}">
                <a16:creationId xmlns:a16="http://schemas.microsoft.com/office/drawing/2014/main" id="{9DAFC8F0-02AA-D612-A221-269035A525B7}"/>
              </a:ext>
            </a:extLst>
          </p:cNvPr>
          <p:cNvSpPr/>
          <p:nvPr/>
        </p:nvSpPr>
        <p:spPr>
          <a:xfrm>
            <a:off x="2676800" y="5052500"/>
            <a:ext cx="237850" cy="262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00;p128">
            <a:extLst>
              <a:ext uri="{FF2B5EF4-FFF2-40B4-BE49-F238E27FC236}">
                <a16:creationId xmlns:a16="http://schemas.microsoft.com/office/drawing/2014/main" id="{0B853174-6779-4B4B-3372-05F5572AA45F}"/>
              </a:ext>
            </a:extLst>
          </p:cNvPr>
          <p:cNvSpPr txBox="1"/>
          <p:nvPr/>
        </p:nvSpPr>
        <p:spPr>
          <a:xfrm>
            <a:off x="4299000" y="5397145"/>
            <a:ext cx="3594000" cy="923299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/>
              <a:t>A new sample: Should be purple or yellow?</a:t>
            </a:r>
            <a:endParaRPr sz="2400" dirty="0"/>
          </a:p>
        </p:txBody>
      </p:sp>
      <p:sp>
        <p:nvSpPr>
          <p:cNvPr id="8" name="Google Shape;901;p128">
            <a:extLst>
              <a:ext uri="{FF2B5EF4-FFF2-40B4-BE49-F238E27FC236}">
                <a16:creationId xmlns:a16="http://schemas.microsoft.com/office/drawing/2014/main" id="{CB7D9FEA-11C8-E1D6-2EB5-291DF5B0127B}"/>
              </a:ext>
            </a:extLst>
          </p:cNvPr>
          <p:cNvSpPr/>
          <p:nvPr/>
        </p:nvSpPr>
        <p:spPr>
          <a:xfrm>
            <a:off x="1768525" y="2600350"/>
            <a:ext cx="203700" cy="21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02;p128">
            <a:extLst>
              <a:ext uri="{FF2B5EF4-FFF2-40B4-BE49-F238E27FC236}">
                <a16:creationId xmlns:a16="http://schemas.microsoft.com/office/drawing/2014/main" id="{A2C73AAD-6737-7D0B-934D-A27C9042B833}"/>
              </a:ext>
            </a:extLst>
          </p:cNvPr>
          <p:cNvSpPr/>
          <p:nvPr/>
        </p:nvSpPr>
        <p:spPr>
          <a:xfrm>
            <a:off x="4296050" y="2480750"/>
            <a:ext cx="146700" cy="130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03;p128">
            <a:extLst>
              <a:ext uri="{FF2B5EF4-FFF2-40B4-BE49-F238E27FC236}">
                <a16:creationId xmlns:a16="http://schemas.microsoft.com/office/drawing/2014/main" id="{8A9BC41C-4020-DAE9-66AC-01D15E38B75B}"/>
              </a:ext>
            </a:extLst>
          </p:cNvPr>
          <p:cNvSpPr/>
          <p:nvPr/>
        </p:nvSpPr>
        <p:spPr>
          <a:xfrm>
            <a:off x="1514750" y="4919150"/>
            <a:ext cx="146700" cy="130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" name="Google Shape;904;p128">
            <a:extLst>
              <a:ext uri="{FF2B5EF4-FFF2-40B4-BE49-F238E27FC236}">
                <a16:creationId xmlns:a16="http://schemas.microsoft.com/office/drawing/2014/main" id="{8BC6BD02-E6E4-CC12-03C7-DD4DAD1E2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99532"/>
              </p:ext>
            </p:extLst>
          </p:nvPr>
        </p:nvGraphicFramePr>
        <p:xfrm>
          <a:off x="7848775" y="1460855"/>
          <a:ext cx="3813999" cy="320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x0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y(label)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2.2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Google Shape;905;p128">
            <a:extLst>
              <a:ext uri="{FF2B5EF4-FFF2-40B4-BE49-F238E27FC236}">
                <a16:creationId xmlns:a16="http://schemas.microsoft.com/office/drawing/2014/main" id="{D244CB85-85A7-3EB0-8D94-3E97683108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375567"/>
              </p:ext>
            </p:extLst>
          </p:nvPr>
        </p:nvGraphicFramePr>
        <p:xfrm>
          <a:off x="7848775" y="4842405"/>
          <a:ext cx="3813999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-0.3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-2.5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?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Google Shape;906;p128">
            <a:extLst>
              <a:ext uri="{FF2B5EF4-FFF2-40B4-BE49-F238E27FC236}">
                <a16:creationId xmlns:a16="http://schemas.microsoft.com/office/drawing/2014/main" id="{8352BE3C-D3ED-FEAA-101F-F3B890980415}"/>
              </a:ext>
            </a:extLst>
          </p:cNvPr>
          <p:cNvSpPr txBox="1"/>
          <p:nvPr/>
        </p:nvSpPr>
        <p:spPr>
          <a:xfrm>
            <a:off x="1841875" y="2567750"/>
            <a:ext cx="469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907;p128">
            <a:extLst>
              <a:ext uri="{FF2B5EF4-FFF2-40B4-BE49-F238E27FC236}">
                <a16:creationId xmlns:a16="http://schemas.microsoft.com/office/drawing/2014/main" id="{90596B0F-9655-2F36-31C1-718D70983ECB}"/>
              </a:ext>
            </a:extLst>
          </p:cNvPr>
          <p:cNvSpPr txBox="1"/>
          <p:nvPr/>
        </p:nvSpPr>
        <p:spPr>
          <a:xfrm>
            <a:off x="659425" y="1715750"/>
            <a:ext cx="1312800" cy="400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Centroides</a:t>
            </a:r>
            <a:endParaRPr b="1"/>
          </a:p>
        </p:txBody>
      </p:sp>
      <p:cxnSp>
        <p:nvCxnSpPr>
          <p:cNvPr id="15" name="Google Shape;908;p128">
            <a:extLst>
              <a:ext uri="{FF2B5EF4-FFF2-40B4-BE49-F238E27FC236}">
                <a16:creationId xmlns:a16="http://schemas.microsoft.com/office/drawing/2014/main" id="{B14B5207-3543-54A1-5411-2F5738C28A1F}"/>
              </a:ext>
            </a:extLst>
          </p:cNvPr>
          <p:cNvCxnSpPr>
            <a:stCxn id="14" idx="3"/>
            <a:endCxn id="9" idx="1"/>
          </p:cNvCxnSpPr>
          <p:nvPr/>
        </p:nvCxnSpPr>
        <p:spPr>
          <a:xfrm>
            <a:off x="1972225" y="1915850"/>
            <a:ext cx="2323825" cy="6147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909;p128">
            <a:extLst>
              <a:ext uri="{FF2B5EF4-FFF2-40B4-BE49-F238E27FC236}">
                <a16:creationId xmlns:a16="http://schemas.microsoft.com/office/drawing/2014/main" id="{52E39EEC-60D8-37D5-3372-372192EA2D7C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>
            <a:off x="1315825" y="2115950"/>
            <a:ext cx="272275" cy="280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486959-6514-9707-80DE-0CAF1FBE09C2}"/>
              </a:ext>
            </a:extLst>
          </p:cNvPr>
          <p:cNvSpPr txBox="1"/>
          <p:nvPr/>
        </p:nvSpPr>
        <p:spPr>
          <a:xfrm>
            <a:off x="1841875" y="4196074"/>
            <a:ext cx="4315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b="1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52545-A7FE-9132-C062-75C9EECF759E}"/>
              </a:ext>
            </a:extLst>
          </p:cNvPr>
          <p:cNvSpPr txBox="1"/>
          <p:nvPr/>
        </p:nvSpPr>
        <p:spPr>
          <a:xfrm>
            <a:off x="4356236" y="2706250"/>
            <a:ext cx="43152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pic>
        <p:nvPicPr>
          <p:cNvPr id="20" name="Picture 2" descr="File:Murdoch University extended logo ...">
            <a:extLst>
              <a:ext uri="{FF2B5EF4-FFF2-40B4-BE49-F238E27FC236}">
                <a16:creationId xmlns:a16="http://schemas.microsoft.com/office/drawing/2014/main" id="{4C3BEFF5-393F-AA68-EFC7-1F0386240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81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852C-CFCE-EE1E-4DD3-BE011CC3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96;p128">
            <a:extLst>
              <a:ext uri="{FF2B5EF4-FFF2-40B4-BE49-F238E27FC236}">
                <a16:creationId xmlns:a16="http://schemas.microsoft.com/office/drawing/2014/main" id="{13030623-55F2-662A-2ADC-FE16AA189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es" dirty="0"/>
              <a:t>Binary Classification</a:t>
            </a:r>
            <a:endParaRPr dirty="0"/>
          </a:p>
        </p:txBody>
      </p:sp>
      <p:pic>
        <p:nvPicPr>
          <p:cNvPr id="5" name="Google Shape;898;p128">
            <a:extLst>
              <a:ext uri="{FF2B5EF4-FFF2-40B4-BE49-F238E27FC236}">
                <a16:creationId xmlns:a16="http://schemas.microsoft.com/office/drawing/2014/main" id="{B6A96AC6-47A0-CB89-B258-0D6FFDFC7F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6775"/>
            <a:ext cx="6012900" cy="53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99;p128">
            <a:extLst>
              <a:ext uri="{FF2B5EF4-FFF2-40B4-BE49-F238E27FC236}">
                <a16:creationId xmlns:a16="http://schemas.microsoft.com/office/drawing/2014/main" id="{7CF55A09-F2AC-D7F7-09B5-3C8B11954BBB}"/>
              </a:ext>
            </a:extLst>
          </p:cNvPr>
          <p:cNvSpPr/>
          <p:nvPr/>
        </p:nvSpPr>
        <p:spPr>
          <a:xfrm>
            <a:off x="2676800" y="5052500"/>
            <a:ext cx="237850" cy="262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" name="Google Shape;904;p128">
            <a:extLst>
              <a:ext uri="{FF2B5EF4-FFF2-40B4-BE49-F238E27FC236}">
                <a16:creationId xmlns:a16="http://schemas.microsoft.com/office/drawing/2014/main" id="{49F7C7A4-01D9-5B0F-31D6-BF2D29B6D188}"/>
              </a:ext>
            </a:extLst>
          </p:cNvPr>
          <p:cNvGraphicFramePr/>
          <p:nvPr/>
        </p:nvGraphicFramePr>
        <p:xfrm>
          <a:off x="7848775" y="1460855"/>
          <a:ext cx="3813999" cy="320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x0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y(label)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2.2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Google Shape;905;p128">
            <a:extLst>
              <a:ext uri="{FF2B5EF4-FFF2-40B4-BE49-F238E27FC236}">
                <a16:creationId xmlns:a16="http://schemas.microsoft.com/office/drawing/2014/main" id="{4DE3D951-231A-0C06-23D1-CD2B3083E0DF}"/>
              </a:ext>
            </a:extLst>
          </p:cNvPr>
          <p:cNvGraphicFramePr/>
          <p:nvPr/>
        </p:nvGraphicFramePr>
        <p:xfrm>
          <a:off x="7848775" y="4842405"/>
          <a:ext cx="3813999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-0.3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-2.5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?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7" name="Group 76">
            <a:extLst>
              <a:ext uri="{FF2B5EF4-FFF2-40B4-BE49-F238E27FC236}">
                <a16:creationId xmlns:a16="http://schemas.microsoft.com/office/drawing/2014/main" id="{AC32AB4B-0388-9ED7-C6F5-EEF1DB25544B}"/>
              </a:ext>
            </a:extLst>
          </p:cNvPr>
          <p:cNvGrpSpPr/>
          <p:nvPr/>
        </p:nvGrpSpPr>
        <p:grpSpPr>
          <a:xfrm>
            <a:off x="114550" y="1855175"/>
            <a:ext cx="6407200" cy="2987230"/>
            <a:chOff x="128775" y="1855175"/>
            <a:chExt cx="6407200" cy="2987230"/>
          </a:xfrm>
        </p:grpSpPr>
        <p:sp>
          <p:nvSpPr>
            <p:cNvPr id="8" name="Google Shape;901;p128">
              <a:extLst>
                <a:ext uri="{FF2B5EF4-FFF2-40B4-BE49-F238E27FC236}">
                  <a16:creationId xmlns:a16="http://schemas.microsoft.com/office/drawing/2014/main" id="{E3B97376-8AD0-1279-4648-106DAE6AA0D2}"/>
                </a:ext>
              </a:extLst>
            </p:cNvPr>
            <p:cNvSpPr/>
            <p:nvPr/>
          </p:nvSpPr>
          <p:spPr>
            <a:xfrm>
              <a:off x="1768525" y="2600350"/>
              <a:ext cx="203700" cy="211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06;p128">
              <a:extLst>
                <a:ext uri="{FF2B5EF4-FFF2-40B4-BE49-F238E27FC236}">
                  <a16:creationId xmlns:a16="http://schemas.microsoft.com/office/drawing/2014/main" id="{62771A06-F2E3-7C6F-5906-0C0FB5201B0D}"/>
                </a:ext>
              </a:extLst>
            </p:cNvPr>
            <p:cNvSpPr txBox="1"/>
            <p:nvPr/>
          </p:nvSpPr>
          <p:spPr>
            <a:xfrm>
              <a:off x="1841875" y="2567750"/>
              <a:ext cx="469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" name="Google Shape;958;p131">
              <a:extLst>
                <a:ext uri="{FF2B5EF4-FFF2-40B4-BE49-F238E27FC236}">
                  <a16:creationId xmlns:a16="http://schemas.microsoft.com/office/drawing/2014/main" id="{A24F550E-433D-1930-B586-475697E15D5C}"/>
                </a:ext>
              </a:extLst>
            </p:cNvPr>
            <p:cNvSpPr txBox="1"/>
            <p:nvPr/>
          </p:nvSpPr>
          <p:spPr>
            <a:xfrm>
              <a:off x="128775" y="2311950"/>
              <a:ext cx="602492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x1</a:t>
              </a:r>
              <a:endParaRPr/>
            </a:p>
          </p:txBody>
        </p:sp>
        <p:sp>
          <p:nvSpPr>
            <p:cNvPr id="4" name="Google Shape;962;p131">
              <a:extLst>
                <a:ext uri="{FF2B5EF4-FFF2-40B4-BE49-F238E27FC236}">
                  <a16:creationId xmlns:a16="http://schemas.microsoft.com/office/drawing/2014/main" id="{D9C79075-8183-27F0-8E5C-318D4AD01D46}"/>
                </a:ext>
              </a:extLst>
            </p:cNvPr>
            <p:cNvSpPr/>
            <p:nvPr/>
          </p:nvSpPr>
          <p:spPr>
            <a:xfrm>
              <a:off x="1768524" y="2600349"/>
              <a:ext cx="276975" cy="30955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1;p131">
              <a:extLst>
                <a:ext uri="{FF2B5EF4-FFF2-40B4-BE49-F238E27FC236}">
                  <a16:creationId xmlns:a16="http://schemas.microsoft.com/office/drawing/2014/main" id="{90669E58-C220-CD1D-7B87-16DCEFC4BA51}"/>
                </a:ext>
              </a:extLst>
            </p:cNvPr>
            <p:cNvSpPr/>
            <p:nvPr/>
          </p:nvSpPr>
          <p:spPr>
            <a:xfrm>
              <a:off x="206749" y="1855175"/>
              <a:ext cx="6329225" cy="298723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972;p131">
              <a:extLst>
                <a:ext uri="{FF2B5EF4-FFF2-40B4-BE49-F238E27FC236}">
                  <a16:creationId xmlns:a16="http://schemas.microsoft.com/office/drawing/2014/main" id="{9A1EC130-4020-83AC-46ED-D7D0C49FA628}"/>
                </a:ext>
              </a:extLst>
            </p:cNvPr>
            <p:cNvCxnSpPr>
              <a:cxnSpLocks/>
            </p:cNvCxnSpPr>
            <p:nvPr/>
          </p:nvCxnSpPr>
          <p:spPr>
            <a:xfrm>
              <a:off x="597124" y="2025084"/>
              <a:ext cx="24067" cy="233085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973;p131">
              <a:extLst>
                <a:ext uri="{FF2B5EF4-FFF2-40B4-BE49-F238E27FC236}">
                  <a16:creationId xmlns:a16="http://schemas.microsoft.com/office/drawing/2014/main" id="{91717701-0778-E3A9-9960-BB36E20B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91" y="4344014"/>
              <a:ext cx="5585391" cy="754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974;p131">
              <a:extLst>
                <a:ext uri="{FF2B5EF4-FFF2-40B4-BE49-F238E27FC236}">
                  <a16:creationId xmlns:a16="http://schemas.microsoft.com/office/drawing/2014/main" id="{18A208EE-EC7B-A8F3-7E07-8EAB36A54E53}"/>
                </a:ext>
              </a:extLst>
            </p:cNvPr>
            <p:cNvCxnSpPr>
              <a:cxnSpLocks/>
            </p:cNvCxnSpPr>
            <p:nvPr/>
          </p:nvCxnSpPr>
          <p:spPr>
            <a:xfrm>
              <a:off x="431225" y="4012278"/>
              <a:ext cx="24882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975;p131">
              <a:extLst>
                <a:ext uri="{FF2B5EF4-FFF2-40B4-BE49-F238E27FC236}">
                  <a16:creationId xmlns:a16="http://schemas.microsoft.com/office/drawing/2014/main" id="{65BC2DCD-A844-869F-0808-C0D8BE4FB446}"/>
                </a:ext>
              </a:extLst>
            </p:cNvPr>
            <p:cNvCxnSpPr>
              <a:cxnSpLocks/>
            </p:cNvCxnSpPr>
            <p:nvPr/>
          </p:nvCxnSpPr>
          <p:spPr>
            <a:xfrm>
              <a:off x="448950" y="2386825"/>
              <a:ext cx="16071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976;p131">
              <a:extLst>
                <a:ext uri="{FF2B5EF4-FFF2-40B4-BE49-F238E27FC236}">
                  <a16:creationId xmlns:a16="http://schemas.microsoft.com/office/drawing/2014/main" id="{A364EE61-8FE1-342C-E5BE-3EB69E4C00E2}"/>
                </a:ext>
              </a:extLst>
            </p:cNvPr>
            <p:cNvSpPr txBox="1"/>
            <p:nvPr/>
          </p:nvSpPr>
          <p:spPr>
            <a:xfrm>
              <a:off x="186006" y="3778253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0</a:t>
              </a:r>
              <a:endParaRPr dirty="0"/>
            </a:p>
          </p:txBody>
        </p:sp>
        <p:sp>
          <p:nvSpPr>
            <p:cNvPr id="25" name="Google Shape;977;p131">
              <a:extLst>
                <a:ext uri="{FF2B5EF4-FFF2-40B4-BE49-F238E27FC236}">
                  <a16:creationId xmlns:a16="http://schemas.microsoft.com/office/drawing/2014/main" id="{1BCE5BCD-07D4-1EF7-B5AA-4BE69A3C8CBD}"/>
                </a:ext>
              </a:extLst>
            </p:cNvPr>
            <p:cNvSpPr txBox="1"/>
            <p:nvPr/>
          </p:nvSpPr>
          <p:spPr>
            <a:xfrm>
              <a:off x="206749" y="2186725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1</a:t>
              </a:r>
              <a:endParaRPr/>
            </a:p>
          </p:txBody>
        </p:sp>
        <p:sp>
          <p:nvSpPr>
            <p:cNvPr id="26" name="Google Shape;978;p131">
              <a:extLst>
                <a:ext uri="{FF2B5EF4-FFF2-40B4-BE49-F238E27FC236}">
                  <a16:creationId xmlns:a16="http://schemas.microsoft.com/office/drawing/2014/main" id="{6213242A-A5B3-5547-6252-25337EC7536C}"/>
                </a:ext>
              </a:extLst>
            </p:cNvPr>
            <p:cNvSpPr/>
            <p:nvPr/>
          </p:nvSpPr>
          <p:spPr>
            <a:xfrm>
              <a:off x="697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79;p131">
              <a:extLst>
                <a:ext uri="{FF2B5EF4-FFF2-40B4-BE49-F238E27FC236}">
                  <a16:creationId xmlns:a16="http://schemas.microsoft.com/office/drawing/2014/main" id="{3BC2A6B8-5DAF-DF7B-9E17-0E003DFE9F51}"/>
                </a:ext>
              </a:extLst>
            </p:cNvPr>
            <p:cNvSpPr/>
            <p:nvPr/>
          </p:nvSpPr>
          <p:spPr>
            <a:xfrm>
              <a:off x="2898588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0;p131">
              <a:extLst>
                <a:ext uri="{FF2B5EF4-FFF2-40B4-BE49-F238E27FC236}">
                  <a16:creationId xmlns:a16="http://schemas.microsoft.com/office/drawing/2014/main" id="{7E08A19C-C914-7BDE-C2EE-07E38A2183A8}"/>
                </a:ext>
              </a:extLst>
            </p:cNvPr>
            <p:cNvSpPr/>
            <p:nvPr/>
          </p:nvSpPr>
          <p:spPr>
            <a:xfrm>
              <a:off x="2632346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1;p131">
              <a:extLst>
                <a:ext uri="{FF2B5EF4-FFF2-40B4-BE49-F238E27FC236}">
                  <a16:creationId xmlns:a16="http://schemas.microsoft.com/office/drawing/2014/main" id="{DE347990-0F63-13B4-0BB2-E812DC3B643D}"/>
                </a:ext>
              </a:extLst>
            </p:cNvPr>
            <p:cNvSpPr/>
            <p:nvPr/>
          </p:nvSpPr>
          <p:spPr>
            <a:xfrm>
              <a:off x="11542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2;p131">
              <a:extLst>
                <a:ext uri="{FF2B5EF4-FFF2-40B4-BE49-F238E27FC236}">
                  <a16:creationId xmlns:a16="http://schemas.microsoft.com/office/drawing/2014/main" id="{C43C1126-FC32-549D-E993-B55BE6CC94FE}"/>
                </a:ext>
              </a:extLst>
            </p:cNvPr>
            <p:cNvSpPr/>
            <p:nvPr/>
          </p:nvSpPr>
          <p:spPr>
            <a:xfrm>
              <a:off x="1306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3;p131">
              <a:extLst>
                <a:ext uri="{FF2B5EF4-FFF2-40B4-BE49-F238E27FC236}">
                  <a16:creationId xmlns:a16="http://schemas.microsoft.com/office/drawing/2014/main" id="{A92118ED-7991-A31F-9F26-77BD6085570F}"/>
                </a:ext>
              </a:extLst>
            </p:cNvPr>
            <p:cNvSpPr/>
            <p:nvPr/>
          </p:nvSpPr>
          <p:spPr>
            <a:xfrm>
              <a:off x="1459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4;p131">
              <a:extLst>
                <a:ext uri="{FF2B5EF4-FFF2-40B4-BE49-F238E27FC236}">
                  <a16:creationId xmlns:a16="http://schemas.microsoft.com/office/drawing/2014/main" id="{1C3E1171-D1B3-1994-B4C4-50CC2410484C}"/>
                </a:ext>
              </a:extLst>
            </p:cNvPr>
            <p:cNvSpPr/>
            <p:nvPr/>
          </p:nvSpPr>
          <p:spPr>
            <a:xfrm>
              <a:off x="16114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5;p131">
              <a:extLst>
                <a:ext uri="{FF2B5EF4-FFF2-40B4-BE49-F238E27FC236}">
                  <a16:creationId xmlns:a16="http://schemas.microsoft.com/office/drawing/2014/main" id="{388C7D34-02E0-0285-4A6F-E535B27D5EC7}"/>
                </a:ext>
              </a:extLst>
            </p:cNvPr>
            <p:cNvSpPr/>
            <p:nvPr/>
          </p:nvSpPr>
          <p:spPr>
            <a:xfrm>
              <a:off x="17638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6;p131">
              <a:extLst>
                <a:ext uri="{FF2B5EF4-FFF2-40B4-BE49-F238E27FC236}">
                  <a16:creationId xmlns:a16="http://schemas.microsoft.com/office/drawing/2014/main" id="{AB3AC934-11DD-3785-98BB-3DBD68A2ADC0}"/>
                </a:ext>
              </a:extLst>
            </p:cNvPr>
            <p:cNvSpPr/>
            <p:nvPr/>
          </p:nvSpPr>
          <p:spPr>
            <a:xfrm>
              <a:off x="19162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;p131">
              <a:extLst>
                <a:ext uri="{FF2B5EF4-FFF2-40B4-BE49-F238E27FC236}">
                  <a16:creationId xmlns:a16="http://schemas.microsoft.com/office/drawing/2014/main" id="{9C7B0336-5FDD-F911-7D82-FC4A54D47FC8}"/>
                </a:ext>
              </a:extLst>
            </p:cNvPr>
            <p:cNvSpPr/>
            <p:nvPr/>
          </p:nvSpPr>
          <p:spPr>
            <a:xfrm>
              <a:off x="925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;p131">
              <a:extLst>
                <a:ext uri="{FF2B5EF4-FFF2-40B4-BE49-F238E27FC236}">
                  <a16:creationId xmlns:a16="http://schemas.microsoft.com/office/drawing/2014/main" id="{636D98F2-E315-27D5-5EC4-F7213A3C7CE2}"/>
                </a:ext>
              </a:extLst>
            </p:cNvPr>
            <p:cNvSpPr/>
            <p:nvPr/>
          </p:nvSpPr>
          <p:spPr>
            <a:xfrm>
              <a:off x="1078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9;p131">
              <a:extLst>
                <a:ext uri="{FF2B5EF4-FFF2-40B4-BE49-F238E27FC236}">
                  <a16:creationId xmlns:a16="http://schemas.microsoft.com/office/drawing/2014/main" id="{24E1FA13-9AAF-3288-D6D9-621E915FD3F4}"/>
                </a:ext>
              </a:extLst>
            </p:cNvPr>
            <p:cNvSpPr/>
            <p:nvPr/>
          </p:nvSpPr>
          <p:spPr>
            <a:xfrm>
              <a:off x="2398237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0;p131">
              <a:extLst>
                <a:ext uri="{FF2B5EF4-FFF2-40B4-BE49-F238E27FC236}">
                  <a16:creationId xmlns:a16="http://schemas.microsoft.com/office/drawing/2014/main" id="{F928726F-9907-9F12-34C6-8AC18BD84CF2}"/>
                </a:ext>
              </a:extLst>
            </p:cNvPr>
            <p:cNvSpPr/>
            <p:nvPr/>
          </p:nvSpPr>
          <p:spPr>
            <a:xfrm>
              <a:off x="13828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91;p131">
              <a:extLst>
                <a:ext uri="{FF2B5EF4-FFF2-40B4-BE49-F238E27FC236}">
                  <a16:creationId xmlns:a16="http://schemas.microsoft.com/office/drawing/2014/main" id="{C7022691-34C7-D6F2-B57D-DCBF4EF4C354}"/>
                </a:ext>
              </a:extLst>
            </p:cNvPr>
            <p:cNvSpPr/>
            <p:nvPr/>
          </p:nvSpPr>
          <p:spPr>
            <a:xfrm>
              <a:off x="2482701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92;p131">
              <a:extLst>
                <a:ext uri="{FF2B5EF4-FFF2-40B4-BE49-F238E27FC236}">
                  <a16:creationId xmlns:a16="http://schemas.microsoft.com/office/drawing/2014/main" id="{2EC066C7-FE67-A972-5351-270286D44010}"/>
                </a:ext>
              </a:extLst>
            </p:cNvPr>
            <p:cNvSpPr/>
            <p:nvPr/>
          </p:nvSpPr>
          <p:spPr>
            <a:xfrm>
              <a:off x="1687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93;p131">
              <a:extLst>
                <a:ext uri="{FF2B5EF4-FFF2-40B4-BE49-F238E27FC236}">
                  <a16:creationId xmlns:a16="http://schemas.microsoft.com/office/drawing/2014/main" id="{4429A086-3C3D-9B5B-3381-AD634553BACD}"/>
                </a:ext>
              </a:extLst>
            </p:cNvPr>
            <p:cNvSpPr/>
            <p:nvPr/>
          </p:nvSpPr>
          <p:spPr>
            <a:xfrm>
              <a:off x="500923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94;p131">
              <a:extLst>
                <a:ext uri="{FF2B5EF4-FFF2-40B4-BE49-F238E27FC236}">
                  <a16:creationId xmlns:a16="http://schemas.microsoft.com/office/drawing/2014/main" id="{AC79426D-C311-5D5C-49FB-0216BC70F86D}"/>
                </a:ext>
              </a:extLst>
            </p:cNvPr>
            <p:cNvSpPr/>
            <p:nvPr/>
          </p:nvSpPr>
          <p:spPr>
            <a:xfrm>
              <a:off x="2892160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95;p131">
              <a:extLst>
                <a:ext uri="{FF2B5EF4-FFF2-40B4-BE49-F238E27FC236}">
                  <a16:creationId xmlns:a16="http://schemas.microsoft.com/office/drawing/2014/main" id="{3F666FF1-04B1-3BEA-03E1-B6679D50B69A}"/>
                </a:ext>
              </a:extLst>
            </p:cNvPr>
            <p:cNvSpPr/>
            <p:nvPr/>
          </p:nvSpPr>
          <p:spPr>
            <a:xfrm>
              <a:off x="4774210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96;p131">
              <a:extLst>
                <a:ext uri="{FF2B5EF4-FFF2-40B4-BE49-F238E27FC236}">
                  <a16:creationId xmlns:a16="http://schemas.microsoft.com/office/drawing/2014/main" id="{09E07D90-C41F-0F44-06A9-5230174E87C9}"/>
                </a:ext>
              </a:extLst>
            </p:cNvPr>
            <p:cNvSpPr/>
            <p:nvPr/>
          </p:nvSpPr>
          <p:spPr>
            <a:xfrm>
              <a:off x="2602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97;p131">
              <a:extLst>
                <a:ext uri="{FF2B5EF4-FFF2-40B4-BE49-F238E27FC236}">
                  <a16:creationId xmlns:a16="http://schemas.microsoft.com/office/drawing/2014/main" id="{83BE6FF5-B5EA-B247-723A-4CD54E2F8158}"/>
                </a:ext>
              </a:extLst>
            </p:cNvPr>
            <p:cNvSpPr/>
            <p:nvPr/>
          </p:nvSpPr>
          <p:spPr>
            <a:xfrm>
              <a:off x="2754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98;p131">
              <a:extLst>
                <a:ext uri="{FF2B5EF4-FFF2-40B4-BE49-F238E27FC236}">
                  <a16:creationId xmlns:a16="http://schemas.microsoft.com/office/drawing/2014/main" id="{0B3DCD23-0E14-9119-A67E-25C92E6252FC}"/>
                </a:ext>
              </a:extLst>
            </p:cNvPr>
            <p:cNvSpPr/>
            <p:nvPr/>
          </p:nvSpPr>
          <p:spPr>
            <a:xfrm>
              <a:off x="435005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99;p131">
              <a:extLst>
                <a:ext uri="{FF2B5EF4-FFF2-40B4-BE49-F238E27FC236}">
                  <a16:creationId xmlns:a16="http://schemas.microsoft.com/office/drawing/2014/main" id="{250AD1C5-B1BE-C43A-2120-A38E6AB97D11}"/>
                </a:ext>
              </a:extLst>
            </p:cNvPr>
            <p:cNvSpPr/>
            <p:nvPr/>
          </p:nvSpPr>
          <p:spPr>
            <a:xfrm>
              <a:off x="30592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0;p131">
              <a:extLst>
                <a:ext uri="{FF2B5EF4-FFF2-40B4-BE49-F238E27FC236}">
                  <a16:creationId xmlns:a16="http://schemas.microsoft.com/office/drawing/2014/main" id="{DAA1DA73-4EAB-765A-70DE-3E6A548E42C8}"/>
                </a:ext>
              </a:extLst>
            </p:cNvPr>
            <p:cNvSpPr/>
            <p:nvPr/>
          </p:nvSpPr>
          <p:spPr>
            <a:xfrm>
              <a:off x="3211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01;p131">
              <a:extLst>
                <a:ext uri="{FF2B5EF4-FFF2-40B4-BE49-F238E27FC236}">
                  <a16:creationId xmlns:a16="http://schemas.microsoft.com/office/drawing/2014/main" id="{92AF62B3-A976-CE8F-45F3-8A47AC97AC30}"/>
                </a:ext>
              </a:extLst>
            </p:cNvPr>
            <p:cNvSpPr/>
            <p:nvPr/>
          </p:nvSpPr>
          <p:spPr>
            <a:xfrm>
              <a:off x="3364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02;p131">
              <a:extLst>
                <a:ext uri="{FF2B5EF4-FFF2-40B4-BE49-F238E27FC236}">
                  <a16:creationId xmlns:a16="http://schemas.microsoft.com/office/drawing/2014/main" id="{233FBDB2-E057-9162-0EF7-26FAAF71BA17}"/>
                </a:ext>
              </a:extLst>
            </p:cNvPr>
            <p:cNvSpPr/>
            <p:nvPr/>
          </p:nvSpPr>
          <p:spPr>
            <a:xfrm>
              <a:off x="4189398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03;p131">
              <a:extLst>
                <a:ext uri="{FF2B5EF4-FFF2-40B4-BE49-F238E27FC236}">
                  <a16:creationId xmlns:a16="http://schemas.microsoft.com/office/drawing/2014/main" id="{EE407C47-609F-7E27-958D-FCFA14CC4BA6}"/>
                </a:ext>
              </a:extLst>
            </p:cNvPr>
            <p:cNvSpPr/>
            <p:nvPr/>
          </p:nvSpPr>
          <p:spPr>
            <a:xfrm>
              <a:off x="4518068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04;p131">
              <a:extLst>
                <a:ext uri="{FF2B5EF4-FFF2-40B4-BE49-F238E27FC236}">
                  <a16:creationId xmlns:a16="http://schemas.microsoft.com/office/drawing/2014/main" id="{E9934B63-4FFC-7B35-5539-1D4C5B26A4EF}"/>
                </a:ext>
              </a:extLst>
            </p:cNvPr>
            <p:cNvSpPr/>
            <p:nvPr/>
          </p:nvSpPr>
          <p:spPr>
            <a:xfrm>
              <a:off x="2830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05;p131">
              <a:extLst>
                <a:ext uri="{FF2B5EF4-FFF2-40B4-BE49-F238E27FC236}">
                  <a16:creationId xmlns:a16="http://schemas.microsoft.com/office/drawing/2014/main" id="{15581050-8A15-23DE-4A3B-2C400CCBB07D}"/>
                </a:ext>
              </a:extLst>
            </p:cNvPr>
            <p:cNvSpPr/>
            <p:nvPr/>
          </p:nvSpPr>
          <p:spPr>
            <a:xfrm>
              <a:off x="2983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06;p131">
              <a:extLst>
                <a:ext uri="{FF2B5EF4-FFF2-40B4-BE49-F238E27FC236}">
                  <a16:creationId xmlns:a16="http://schemas.microsoft.com/office/drawing/2014/main" id="{7D762F4C-A7F2-E0C1-8A71-1E62FBC139D5}"/>
                </a:ext>
              </a:extLst>
            </p:cNvPr>
            <p:cNvSpPr/>
            <p:nvPr/>
          </p:nvSpPr>
          <p:spPr>
            <a:xfrm>
              <a:off x="3135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07;p131">
              <a:extLst>
                <a:ext uri="{FF2B5EF4-FFF2-40B4-BE49-F238E27FC236}">
                  <a16:creationId xmlns:a16="http://schemas.microsoft.com/office/drawing/2014/main" id="{9A2FF36C-F36D-72FD-4FCA-C4B0C0E7A044}"/>
                </a:ext>
              </a:extLst>
            </p:cNvPr>
            <p:cNvSpPr/>
            <p:nvPr/>
          </p:nvSpPr>
          <p:spPr>
            <a:xfrm>
              <a:off x="32878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08;p131">
              <a:extLst>
                <a:ext uri="{FF2B5EF4-FFF2-40B4-BE49-F238E27FC236}">
                  <a16:creationId xmlns:a16="http://schemas.microsoft.com/office/drawing/2014/main" id="{D9BAB274-673F-6BC3-1855-FCD83BE9713B}"/>
                </a:ext>
              </a:extLst>
            </p:cNvPr>
            <p:cNvSpPr/>
            <p:nvPr/>
          </p:nvSpPr>
          <p:spPr>
            <a:xfrm>
              <a:off x="34402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09;p131">
              <a:extLst>
                <a:ext uri="{FF2B5EF4-FFF2-40B4-BE49-F238E27FC236}">
                  <a16:creationId xmlns:a16="http://schemas.microsoft.com/office/drawing/2014/main" id="{DA374D68-53AF-5C00-6893-FB2372E1BD25}"/>
                </a:ext>
              </a:extLst>
            </p:cNvPr>
            <p:cNvSpPr/>
            <p:nvPr/>
          </p:nvSpPr>
          <p:spPr>
            <a:xfrm>
              <a:off x="3592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0;p131">
              <a:extLst>
                <a:ext uri="{FF2B5EF4-FFF2-40B4-BE49-F238E27FC236}">
                  <a16:creationId xmlns:a16="http://schemas.microsoft.com/office/drawing/2014/main" id="{E33CD040-B940-8EB2-349E-A315A54454ED}"/>
                </a:ext>
              </a:extLst>
            </p:cNvPr>
            <p:cNvSpPr/>
            <p:nvPr/>
          </p:nvSpPr>
          <p:spPr>
            <a:xfrm>
              <a:off x="3745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1;p131">
              <a:extLst>
                <a:ext uri="{FF2B5EF4-FFF2-40B4-BE49-F238E27FC236}">
                  <a16:creationId xmlns:a16="http://schemas.microsoft.com/office/drawing/2014/main" id="{AA0D898C-03C1-B44A-D03F-A62AFFFA4296}"/>
                </a:ext>
              </a:extLst>
            </p:cNvPr>
            <p:cNvSpPr/>
            <p:nvPr/>
          </p:nvSpPr>
          <p:spPr>
            <a:xfrm>
              <a:off x="3897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12;p131">
              <a:extLst>
                <a:ext uri="{FF2B5EF4-FFF2-40B4-BE49-F238E27FC236}">
                  <a16:creationId xmlns:a16="http://schemas.microsoft.com/office/drawing/2014/main" id="{AD8E9623-7B19-1ACE-20AA-C88BACCB23D0}"/>
                </a:ext>
              </a:extLst>
            </p:cNvPr>
            <p:cNvSpPr/>
            <p:nvPr/>
          </p:nvSpPr>
          <p:spPr>
            <a:xfrm>
              <a:off x="40498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16;p131">
              <a:extLst>
                <a:ext uri="{FF2B5EF4-FFF2-40B4-BE49-F238E27FC236}">
                  <a16:creationId xmlns:a16="http://schemas.microsoft.com/office/drawing/2014/main" id="{F2F8A073-9C3E-E51E-44CF-87E208DF9F3A}"/>
                </a:ext>
              </a:extLst>
            </p:cNvPr>
            <p:cNvSpPr txBox="1"/>
            <p:nvPr/>
          </p:nvSpPr>
          <p:spPr>
            <a:xfrm>
              <a:off x="2853170" y="4344015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x0</a:t>
              </a:r>
              <a:endParaRPr dirty="0"/>
            </a:p>
          </p:txBody>
        </p:sp>
        <p:sp>
          <p:nvSpPr>
            <p:cNvPr id="65" name="Google Shape;1017;p131">
              <a:extLst>
                <a:ext uri="{FF2B5EF4-FFF2-40B4-BE49-F238E27FC236}">
                  <a16:creationId xmlns:a16="http://schemas.microsoft.com/office/drawing/2014/main" id="{DF951B0A-F7B8-868B-9E8E-BBDDB4B31A77}"/>
                </a:ext>
              </a:extLst>
            </p:cNvPr>
            <p:cNvSpPr txBox="1"/>
            <p:nvPr/>
          </p:nvSpPr>
          <p:spPr>
            <a:xfrm>
              <a:off x="185567" y="3061770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y</a:t>
              </a:r>
              <a:endParaRPr dirty="0"/>
            </a:p>
          </p:txBody>
        </p:sp>
        <p:sp>
          <p:nvSpPr>
            <p:cNvPr id="72" name="Google Shape;990;p131">
              <a:extLst>
                <a:ext uri="{FF2B5EF4-FFF2-40B4-BE49-F238E27FC236}">
                  <a16:creationId xmlns:a16="http://schemas.microsoft.com/office/drawing/2014/main" id="{A20CA291-74B0-7DDD-C2B1-9682E240F899}"/>
                </a:ext>
              </a:extLst>
            </p:cNvPr>
            <p:cNvSpPr/>
            <p:nvPr/>
          </p:nvSpPr>
          <p:spPr>
            <a:xfrm>
              <a:off x="2240328" y="3980915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82;p131">
              <a:extLst>
                <a:ext uri="{FF2B5EF4-FFF2-40B4-BE49-F238E27FC236}">
                  <a16:creationId xmlns:a16="http://schemas.microsoft.com/office/drawing/2014/main" id="{92670F08-3FC9-7541-3693-2B7726DCFEE4}"/>
                </a:ext>
              </a:extLst>
            </p:cNvPr>
            <p:cNvSpPr/>
            <p:nvPr/>
          </p:nvSpPr>
          <p:spPr>
            <a:xfrm>
              <a:off x="2064974" y="3991933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495B026-6403-3FE6-40AC-3FF53C62B65D}"/>
              </a:ext>
            </a:extLst>
          </p:cNvPr>
          <p:cNvCxnSpPr/>
          <p:nvPr/>
        </p:nvCxnSpPr>
        <p:spPr>
          <a:xfrm flipV="1">
            <a:off x="817304" y="1942320"/>
            <a:ext cx="3943728" cy="249638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2" descr="File:Murdoch University extended logo ...">
            <a:extLst>
              <a:ext uri="{FF2B5EF4-FFF2-40B4-BE49-F238E27FC236}">
                <a16:creationId xmlns:a16="http://schemas.microsoft.com/office/drawing/2014/main" id="{14871EB9-A105-EF0C-C181-171A91AB7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04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0B17-2013-7A00-2125-1CD20268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96;p128">
            <a:extLst>
              <a:ext uri="{FF2B5EF4-FFF2-40B4-BE49-F238E27FC236}">
                <a16:creationId xmlns:a16="http://schemas.microsoft.com/office/drawing/2014/main" id="{36D455E2-D2B3-8EBC-5302-65B550697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es" dirty="0"/>
              <a:t>Binary Classification</a:t>
            </a:r>
            <a:endParaRPr dirty="0"/>
          </a:p>
        </p:txBody>
      </p:sp>
      <p:pic>
        <p:nvPicPr>
          <p:cNvPr id="5" name="Google Shape;898;p128">
            <a:extLst>
              <a:ext uri="{FF2B5EF4-FFF2-40B4-BE49-F238E27FC236}">
                <a16:creationId xmlns:a16="http://schemas.microsoft.com/office/drawing/2014/main" id="{6A49FA6E-AB37-9D45-2013-C1176AEF2D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6775"/>
            <a:ext cx="6012900" cy="5316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Google Shape;904;p128">
            <a:extLst>
              <a:ext uri="{FF2B5EF4-FFF2-40B4-BE49-F238E27FC236}">
                <a16:creationId xmlns:a16="http://schemas.microsoft.com/office/drawing/2014/main" id="{0AF772C6-F5C7-353B-BC6D-F479A96B158B}"/>
              </a:ext>
            </a:extLst>
          </p:cNvPr>
          <p:cNvGraphicFramePr/>
          <p:nvPr/>
        </p:nvGraphicFramePr>
        <p:xfrm>
          <a:off x="7848775" y="1460855"/>
          <a:ext cx="3813999" cy="320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x0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y(label)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2.2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Google Shape;905;p128">
            <a:extLst>
              <a:ext uri="{FF2B5EF4-FFF2-40B4-BE49-F238E27FC236}">
                <a16:creationId xmlns:a16="http://schemas.microsoft.com/office/drawing/2014/main" id="{B5DD3CE4-05A3-75FF-7EE3-C22440A4BD0E}"/>
              </a:ext>
            </a:extLst>
          </p:cNvPr>
          <p:cNvGraphicFramePr/>
          <p:nvPr/>
        </p:nvGraphicFramePr>
        <p:xfrm>
          <a:off x="7848775" y="4842405"/>
          <a:ext cx="3813999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-0.3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-2.5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?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Google Shape;901;p128">
            <a:extLst>
              <a:ext uri="{FF2B5EF4-FFF2-40B4-BE49-F238E27FC236}">
                <a16:creationId xmlns:a16="http://schemas.microsoft.com/office/drawing/2014/main" id="{FD12B6AD-E7BB-1DF1-6717-1D1FB62B7D15}"/>
              </a:ext>
            </a:extLst>
          </p:cNvPr>
          <p:cNvSpPr/>
          <p:nvPr/>
        </p:nvSpPr>
        <p:spPr>
          <a:xfrm>
            <a:off x="1754300" y="2600350"/>
            <a:ext cx="203700" cy="21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906;p128">
            <a:extLst>
              <a:ext uri="{FF2B5EF4-FFF2-40B4-BE49-F238E27FC236}">
                <a16:creationId xmlns:a16="http://schemas.microsoft.com/office/drawing/2014/main" id="{CBA4E6A5-9B3C-ED4A-1A02-7618416BB1FA}"/>
              </a:ext>
            </a:extLst>
          </p:cNvPr>
          <p:cNvSpPr txBox="1"/>
          <p:nvPr/>
        </p:nvSpPr>
        <p:spPr>
          <a:xfrm>
            <a:off x="1827650" y="2567750"/>
            <a:ext cx="469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58;p131">
            <a:extLst>
              <a:ext uri="{FF2B5EF4-FFF2-40B4-BE49-F238E27FC236}">
                <a16:creationId xmlns:a16="http://schemas.microsoft.com/office/drawing/2014/main" id="{23E0398A-6623-3857-2B75-00E976985F63}"/>
              </a:ext>
            </a:extLst>
          </p:cNvPr>
          <p:cNvSpPr txBox="1"/>
          <p:nvPr/>
        </p:nvSpPr>
        <p:spPr>
          <a:xfrm>
            <a:off x="114550" y="2311950"/>
            <a:ext cx="60249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x1</a:t>
            </a:r>
            <a:endParaRPr/>
          </a:p>
        </p:txBody>
      </p:sp>
      <p:sp>
        <p:nvSpPr>
          <p:cNvPr id="4" name="Google Shape;962;p131">
            <a:extLst>
              <a:ext uri="{FF2B5EF4-FFF2-40B4-BE49-F238E27FC236}">
                <a16:creationId xmlns:a16="http://schemas.microsoft.com/office/drawing/2014/main" id="{A57C8439-3E90-5442-8D0E-12BEAD8EABFB}"/>
              </a:ext>
            </a:extLst>
          </p:cNvPr>
          <p:cNvSpPr/>
          <p:nvPr/>
        </p:nvSpPr>
        <p:spPr>
          <a:xfrm>
            <a:off x="1754299" y="2600349"/>
            <a:ext cx="276975" cy="3095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" name="Google Shape;975;p131">
            <a:extLst>
              <a:ext uri="{FF2B5EF4-FFF2-40B4-BE49-F238E27FC236}">
                <a16:creationId xmlns:a16="http://schemas.microsoft.com/office/drawing/2014/main" id="{0AF01CA5-21D0-8C7A-4AFC-FA921620738A}"/>
              </a:ext>
            </a:extLst>
          </p:cNvPr>
          <p:cNvCxnSpPr>
            <a:cxnSpLocks/>
          </p:cNvCxnSpPr>
          <p:nvPr/>
        </p:nvCxnSpPr>
        <p:spPr>
          <a:xfrm>
            <a:off x="434725" y="2386825"/>
            <a:ext cx="16071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2EB3939-8232-1A7A-9AE6-258F78952D61}"/>
              </a:ext>
            </a:extLst>
          </p:cNvPr>
          <p:cNvGrpSpPr/>
          <p:nvPr/>
        </p:nvGrpSpPr>
        <p:grpSpPr>
          <a:xfrm>
            <a:off x="2150810" y="1021094"/>
            <a:ext cx="3253214" cy="5391881"/>
            <a:chOff x="2150810" y="1021094"/>
            <a:chExt cx="3253214" cy="5391881"/>
          </a:xfrm>
        </p:grpSpPr>
        <p:sp>
          <p:nvSpPr>
            <p:cNvPr id="6" name="Google Shape;899;p128">
              <a:extLst>
                <a:ext uri="{FF2B5EF4-FFF2-40B4-BE49-F238E27FC236}">
                  <a16:creationId xmlns:a16="http://schemas.microsoft.com/office/drawing/2014/main" id="{081AE717-5A30-FB97-85FE-615F4A986808}"/>
                </a:ext>
              </a:extLst>
            </p:cNvPr>
            <p:cNvSpPr/>
            <p:nvPr/>
          </p:nvSpPr>
          <p:spPr>
            <a:xfrm>
              <a:off x="2676800" y="5052500"/>
              <a:ext cx="237850" cy="26245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1;p131">
              <a:extLst>
                <a:ext uri="{FF2B5EF4-FFF2-40B4-BE49-F238E27FC236}">
                  <a16:creationId xmlns:a16="http://schemas.microsoft.com/office/drawing/2014/main" id="{6527CB7C-F580-E461-6783-1666E2F38142}"/>
                </a:ext>
              </a:extLst>
            </p:cNvPr>
            <p:cNvSpPr/>
            <p:nvPr/>
          </p:nvSpPr>
          <p:spPr>
            <a:xfrm>
              <a:off x="2223450" y="1021094"/>
              <a:ext cx="3180574" cy="5391881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972;p131">
              <a:extLst>
                <a:ext uri="{FF2B5EF4-FFF2-40B4-BE49-F238E27FC236}">
                  <a16:creationId xmlns:a16="http://schemas.microsoft.com/office/drawing/2014/main" id="{214CD798-7A9B-9893-E683-82BF9367D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253" y="1445269"/>
              <a:ext cx="4530" cy="476824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973;p131">
              <a:extLst>
                <a:ext uri="{FF2B5EF4-FFF2-40B4-BE49-F238E27FC236}">
                  <a16:creationId xmlns:a16="http://schemas.microsoft.com/office/drawing/2014/main" id="{CB919D38-F7DA-BD73-15D9-43A77C4F59B6}"/>
                </a:ext>
              </a:extLst>
            </p:cNvPr>
            <p:cNvCxnSpPr>
              <a:cxnSpLocks/>
            </p:cNvCxnSpPr>
            <p:nvPr/>
          </p:nvCxnSpPr>
          <p:spPr>
            <a:xfrm>
              <a:off x="2498823" y="1460855"/>
              <a:ext cx="273692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976;p131">
              <a:extLst>
                <a:ext uri="{FF2B5EF4-FFF2-40B4-BE49-F238E27FC236}">
                  <a16:creationId xmlns:a16="http://schemas.microsoft.com/office/drawing/2014/main" id="{AF865509-F99C-421B-9059-949AF6AF6370}"/>
                </a:ext>
              </a:extLst>
            </p:cNvPr>
            <p:cNvSpPr txBox="1"/>
            <p:nvPr/>
          </p:nvSpPr>
          <p:spPr>
            <a:xfrm>
              <a:off x="2333779" y="1078401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0</a:t>
              </a:r>
              <a:endParaRPr dirty="0"/>
            </a:p>
          </p:txBody>
        </p:sp>
        <p:sp>
          <p:nvSpPr>
            <p:cNvPr id="25" name="Google Shape;977;p131">
              <a:extLst>
                <a:ext uri="{FF2B5EF4-FFF2-40B4-BE49-F238E27FC236}">
                  <a16:creationId xmlns:a16="http://schemas.microsoft.com/office/drawing/2014/main" id="{3A98C26E-8C78-6589-F85A-662C4F09CED2}"/>
                </a:ext>
              </a:extLst>
            </p:cNvPr>
            <p:cNvSpPr txBox="1"/>
            <p:nvPr/>
          </p:nvSpPr>
          <p:spPr>
            <a:xfrm>
              <a:off x="4731751" y="1052119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1</a:t>
              </a:r>
              <a:endParaRPr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C75A91-AAF4-BC53-D4E3-8F7918179C5C}"/>
                </a:ext>
              </a:extLst>
            </p:cNvPr>
            <p:cNvGrpSpPr/>
            <p:nvPr/>
          </p:nvGrpSpPr>
          <p:grpSpPr>
            <a:xfrm rot="5400000">
              <a:off x="3612392" y="2823701"/>
              <a:ext cx="2487549" cy="103477"/>
              <a:chOff x="2587824" y="2276974"/>
              <a:chExt cx="2487549" cy="103477"/>
            </a:xfrm>
          </p:grpSpPr>
          <p:sp>
            <p:nvSpPr>
              <p:cNvPr id="41" name="Google Shape;993;p131">
                <a:extLst>
                  <a:ext uri="{FF2B5EF4-FFF2-40B4-BE49-F238E27FC236}">
                    <a16:creationId xmlns:a16="http://schemas.microsoft.com/office/drawing/2014/main" id="{6D3436B4-3993-22E3-755E-4B9F99F08395}"/>
                  </a:ext>
                </a:extLst>
              </p:cNvPr>
              <p:cNvSpPr/>
              <p:nvPr/>
            </p:nvSpPr>
            <p:spPr>
              <a:xfrm>
                <a:off x="499501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94;p131">
                <a:extLst>
                  <a:ext uri="{FF2B5EF4-FFF2-40B4-BE49-F238E27FC236}">
                    <a16:creationId xmlns:a16="http://schemas.microsoft.com/office/drawing/2014/main" id="{DF474764-CCFA-C2AE-B253-79DE1809358A}"/>
                  </a:ext>
                </a:extLst>
              </p:cNvPr>
              <p:cNvSpPr/>
              <p:nvPr/>
            </p:nvSpPr>
            <p:spPr>
              <a:xfrm>
                <a:off x="2877935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95;p131">
                <a:extLst>
                  <a:ext uri="{FF2B5EF4-FFF2-40B4-BE49-F238E27FC236}">
                    <a16:creationId xmlns:a16="http://schemas.microsoft.com/office/drawing/2014/main" id="{8E71302A-6555-01FB-3F35-3F52D71544BE}"/>
                  </a:ext>
                </a:extLst>
              </p:cNvPr>
              <p:cNvSpPr/>
              <p:nvPr/>
            </p:nvSpPr>
            <p:spPr>
              <a:xfrm>
                <a:off x="4759985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96;p131">
                <a:extLst>
                  <a:ext uri="{FF2B5EF4-FFF2-40B4-BE49-F238E27FC236}">
                    <a16:creationId xmlns:a16="http://schemas.microsoft.com/office/drawing/2014/main" id="{81CFB0AA-9B26-D079-4DBF-68274ADF3128}"/>
                  </a:ext>
                </a:extLst>
              </p:cNvPr>
              <p:cNvSpPr/>
              <p:nvPr/>
            </p:nvSpPr>
            <p:spPr>
              <a:xfrm>
                <a:off x="25878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97;p131">
                <a:extLst>
                  <a:ext uri="{FF2B5EF4-FFF2-40B4-BE49-F238E27FC236}">
                    <a16:creationId xmlns:a16="http://schemas.microsoft.com/office/drawing/2014/main" id="{00398B3C-57AD-DB9C-6D17-8EF4190E7787}"/>
                  </a:ext>
                </a:extLst>
              </p:cNvPr>
              <p:cNvSpPr/>
              <p:nvPr/>
            </p:nvSpPr>
            <p:spPr>
              <a:xfrm>
                <a:off x="27402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98;p131">
                <a:extLst>
                  <a:ext uri="{FF2B5EF4-FFF2-40B4-BE49-F238E27FC236}">
                    <a16:creationId xmlns:a16="http://schemas.microsoft.com/office/drawing/2014/main" id="{7E4987AE-F92D-67FA-2A24-77C849BE458A}"/>
                  </a:ext>
                </a:extLst>
              </p:cNvPr>
              <p:cNvSpPr/>
              <p:nvPr/>
            </p:nvSpPr>
            <p:spPr>
              <a:xfrm>
                <a:off x="433583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99;p131">
                <a:extLst>
                  <a:ext uri="{FF2B5EF4-FFF2-40B4-BE49-F238E27FC236}">
                    <a16:creationId xmlns:a16="http://schemas.microsoft.com/office/drawing/2014/main" id="{23F6E218-E2AD-FCD2-B375-356AC26648B2}"/>
                  </a:ext>
                </a:extLst>
              </p:cNvPr>
              <p:cNvSpPr/>
              <p:nvPr/>
            </p:nvSpPr>
            <p:spPr>
              <a:xfrm>
                <a:off x="30450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000;p131">
                <a:extLst>
                  <a:ext uri="{FF2B5EF4-FFF2-40B4-BE49-F238E27FC236}">
                    <a16:creationId xmlns:a16="http://schemas.microsoft.com/office/drawing/2014/main" id="{AE4712C1-25ED-AECA-E67C-191D58575B99}"/>
                  </a:ext>
                </a:extLst>
              </p:cNvPr>
              <p:cNvSpPr/>
              <p:nvPr/>
            </p:nvSpPr>
            <p:spPr>
              <a:xfrm>
                <a:off x="31974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001;p131">
                <a:extLst>
                  <a:ext uri="{FF2B5EF4-FFF2-40B4-BE49-F238E27FC236}">
                    <a16:creationId xmlns:a16="http://schemas.microsoft.com/office/drawing/2014/main" id="{CC633C40-A6BD-3B08-A0BF-B86EB9D7FDDF}"/>
                  </a:ext>
                </a:extLst>
              </p:cNvPr>
              <p:cNvSpPr/>
              <p:nvPr/>
            </p:nvSpPr>
            <p:spPr>
              <a:xfrm>
                <a:off x="33498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02;p131">
                <a:extLst>
                  <a:ext uri="{FF2B5EF4-FFF2-40B4-BE49-F238E27FC236}">
                    <a16:creationId xmlns:a16="http://schemas.microsoft.com/office/drawing/2014/main" id="{0FE21692-082B-2B0E-732F-42F5C38137AD}"/>
                  </a:ext>
                </a:extLst>
              </p:cNvPr>
              <p:cNvSpPr/>
              <p:nvPr/>
            </p:nvSpPr>
            <p:spPr>
              <a:xfrm>
                <a:off x="4175173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003;p131">
                <a:extLst>
                  <a:ext uri="{FF2B5EF4-FFF2-40B4-BE49-F238E27FC236}">
                    <a16:creationId xmlns:a16="http://schemas.microsoft.com/office/drawing/2014/main" id="{D4439EB5-9BE5-4B27-20B9-9D89EE7D83C9}"/>
                  </a:ext>
                </a:extLst>
              </p:cNvPr>
              <p:cNvSpPr/>
              <p:nvPr/>
            </p:nvSpPr>
            <p:spPr>
              <a:xfrm>
                <a:off x="4503843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04;p131">
                <a:extLst>
                  <a:ext uri="{FF2B5EF4-FFF2-40B4-BE49-F238E27FC236}">
                    <a16:creationId xmlns:a16="http://schemas.microsoft.com/office/drawing/2014/main" id="{48903E55-57C3-3F78-AEF0-B6D409F40CA3}"/>
                  </a:ext>
                </a:extLst>
              </p:cNvPr>
              <p:cNvSpPr/>
              <p:nvPr/>
            </p:nvSpPr>
            <p:spPr>
              <a:xfrm>
                <a:off x="28164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05;p131">
                <a:extLst>
                  <a:ext uri="{FF2B5EF4-FFF2-40B4-BE49-F238E27FC236}">
                    <a16:creationId xmlns:a16="http://schemas.microsoft.com/office/drawing/2014/main" id="{C52DBE16-723D-2910-1EDF-193DECCDA0B2}"/>
                  </a:ext>
                </a:extLst>
              </p:cNvPr>
              <p:cNvSpPr/>
              <p:nvPr/>
            </p:nvSpPr>
            <p:spPr>
              <a:xfrm>
                <a:off x="29688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06;p131">
                <a:extLst>
                  <a:ext uri="{FF2B5EF4-FFF2-40B4-BE49-F238E27FC236}">
                    <a16:creationId xmlns:a16="http://schemas.microsoft.com/office/drawing/2014/main" id="{13E2CCC1-9C6C-12EC-3ADA-969A461895EA}"/>
                  </a:ext>
                </a:extLst>
              </p:cNvPr>
              <p:cNvSpPr/>
              <p:nvPr/>
            </p:nvSpPr>
            <p:spPr>
              <a:xfrm>
                <a:off x="31212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07;p131">
                <a:extLst>
                  <a:ext uri="{FF2B5EF4-FFF2-40B4-BE49-F238E27FC236}">
                    <a16:creationId xmlns:a16="http://schemas.microsoft.com/office/drawing/2014/main" id="{E1F67E3A-33D6-967D-7F7F-806011C52D51}"/>
                  </a:ext>
                </a:extLst>
              </p:cNvPr>
              <p:cNvSpPr/>
              <p:nvPr/>
            </p:nvSpPr>
            <p:spPr>
              <a:xfrm>
                <a:off x="32736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08;p131">
                <a:extLst>
                  <a:ext uri="{FF2B5EF4-FFF2-40B4-BE49-F238E27FC236}">
                    <a16:creationId xmlns:a16="http://schemas.microsoft.com/office/drawing/2014/main" id="{F713BCA9-14FC-0D17-D345-F0DF4987C735}"/>
                  </a:ext>
                </a:extLst>
              </p:cNvPr>
              <p:cNvSpPr/>
              <p:nvPr/>
            </p:nvSpPr>
            <p:spPr>
              <a:xfrm>
                <a:off x="34260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09;p131">
                <a:extLst>
                  <a:ext uri="{FF2B5EF4-FFF2-40B4-BE49-F238E27FC236}">
                    <a16:creationId xmlns:a16="http://schemas.microsoft.com/office/drawing/2014/main" id="{17EEBDE6-5889-1F2F-5B66-94C6A4CF23CA}"/>
                  </a:ext>
                </a:extLst>
              </p:cNvPr>
              <p:cNvSpPr/>
              <p:nvPr/>
            </p:nvSpPr>
            <p:spPr>
              <a:xfrm>
                <a:off x="35784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10;p131">
                <a:extLst>
                  <a:ext uri="{FF2B5EF4-FFF2-40B4-BE49-F238E27FC236}">
                    <a16:creationId xmlns:a16="http://schemas.microsoft.com/office/drawing/2014/main" id="{FD696DD8-BADD-A834-1A76-DD75A9ED32B8}"/>
                  </a:ext>
                </a:extLst>
              </p:cNvPr>
              <p:cNvSpPr/>
              <p:nvPr/>
            </p:nvSpPr>
            <p:spPr>
              <a:xfrm>
                <a:off x="37308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11;p131">
                <a:extLst>
                  <a:ext uri="{FF2B5EF4-FFF2-40B4-BE49-F238E27FC236}">
                    <a16:creationId xmlns:a16="http://schemas.microsoft.com/office/drawing/2014/main" id="{A559D628-AFF7-F3EE-7996-433A0EE90722}"/>
                  </a:ext>
                </a:extLst>
              </p:cNvPr>
              <p:cNvSpPr/>
              <p:nvPr/>
            </p:nvSpPr>
            <p:spPr>
              <a:xfrm>
                <a:off x="38832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12;p131">
                <a:extLst>
                  <a:ext uri="{FF2B5EF4-FFF2-40B4-BE49-F238E27FC236}">
                    <a16:creationId xmlns:a16="http://schemas.microsoft.com/office/drawing/2014/main" id="{9AA5CF7F-EDA2-BE5A-77AE-B75F544605AD}"/>
                  </a:ext>
                </a:extLst>
              </p:cNvPr>
              <p:cNvSpPr/>
              <p:nvPr/>
            </p:nvSpPr>
            <p:spPr>
              <a:xfrm>
                <a:off x="4035624" y="2276974"/>
                <a:ext cx="80359" cy="103477"/>
              </a:xfrm>
              <a:prstGeom prst="flowChartConnector">
                <a:avLst/>
              </a:prstGeom>
              <a:solidFill>
                <a:srgbClr val="FFFF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" name="Google Shape;1016;p131">
              <a:extLst>
                <a:ext uri="{FF2B5EF4-FFF2-40B4-BE49-F238E27FC236}">
                  <a16:creationId xmlns:a16="http://schemas.microsoft.com/office/drawing/2014/main" id="{94B5EF8B-4E2E-4661-9EAC-FE76095BB73A}"/>
                </a:ext>
              </a:extLst>
            </p:cNvPr>
            <p:cNvSpPr txBox="1"/>
            <p:nvPr/>
          </p:nvSpPr>
          <p:spPr>
            <a:xfrm>
              <a:off x="2150810" y="3529298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x1</a:t>
              </a:r>
              <a:endParaRPr dirty="0"/>
            </a:p>
          </p:txBody>
        </p:sp>
        <p:sp>
          <p:nvSpPr>
            <p:cNvPr id="65" name="Google Shape;1017;p131">
              <a:extLst>
                <a:ext uri="{FF2B5EF4-FFF2-40B4-BE49-F238E27FC236}">
                  <a16:creationId xmlns:a16="http://schemas.microsoft.com/office/drawing/2014/main" id="{4091E8A9-A107-FD5B-F099-A707B3F7F70B}"/>
                </a:ext>
              </a:extLst>
            </p:cNvPr>
            <p:cNvSpPr txBox="1"/>
            <p:nvPr/>
          </p:nvSpPr>
          <p:spPr>
            <a:xfrm>
              <a:off x="3612848" y="1021094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y</a:t>
              </a:r>
              <a:endParaRPr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30674B7-AD51-63F8-8336-A58CE36C5EB9}"/>
                </a:ext>
              </a:extLst>
            </p:cNvPr>
            <p:cNvGrpSpPr/>
            <p:nvPr/>
          </p:nvGrpSpPr>
          <p:grpSpPr>
            <a:xfrm rot="5400000">
              <a:off x="1554168" y="4571047"/>
              <a:ext cx="2281898" cy="114495"/>
              <a:chOff x="682824" y="3980915"/>
              <a:chExt cx="2281898" cy="114495"/>
            </a:xfrm>
          </p:grpSpPr>
          <p:sp>
            <p:nvSpPr>
              <p:cNvPr id="26" name="Google Shape;978;p131">
                <a:extLst>
                  <a:ext uri="{FF2B5EF4-FFF2-40B4-BE49-F238E27FC236}">
                    <a16:creationId xmlns:a16="http://schemas.microsoft.com/office/drawing/2014/main" id="{D7184317-BF40-DDE6-6EEB-195F93C06AEC}"/>
                  </a:ext>
                </a:extLst>
              </p:cNvPr>
              <p:cNvSpPr/>
              <p:nvPr/>
            </p:nvSpPr>
            <p:spPr>
              <a:xfrm>
                <a:off x="6828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79;p131">
                <a:extLst>
                  <a:ext uri="{FF2B5EF4-FFF2-40B4-BE49-F238E27FC236}">
                    <a16:creationId xmlns:a16="http://schemas.microsoft.com/office/drawing/2014/main" id="{3D846822-6BD0-2E17-B268-5A821D500BEF}"/>
                  </a:ext>
                </a:extLst>
              </p:cNvPr>
              <p:cNvSpPr/>
              <p:nvPr/>
            </p:nvSpPr>
            <p:spPr>
              <a:xfrm>
                <a:off x="2884363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80;p131">
                <a:extLst>
                  <a:ext uri="{FF2B5EF4-FFF2-40B4-BE49-F238E27FC236}">
                    <a16:creationId xmlns:a16="http://schemas.microsoft.com/office/drawing/2014/main" id="{D8A59127-9D68-E6E0-F7E4-15CA2B522573}"/>
                  </a:ext>
                </a:extLst>
              </p:cNvPr>
              <p:cNvSpPr/>
              <p:nvPr/>
            </p:nvSpPr>
            <p:spPr>
              <a:xfrm>
                <a:off x="2618121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81;p131">
                <a:extLst>
                  <a:ext uri="{FF2B5EF4-FFF2-40B4-BE49-F238E27FC236}">
                    <a16:creationId xmlns:a16="http://schemas.microsoft.com/office/drawing/2014/main" id="{68B22962-E481-481F-0C84-8BA3DCE623BB}"/>
                  </a:ext>
                </a:extLst>
              </p:cNvPr>
              <p:cNvSpPr/>
              <p:nvPr/>
            </p:nvSpPr>
            <p:spPr>
              <a:xfrm>
                <a:off x="11400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82;p131">
                <a:extLst>
                  <a:ext uri="{FF2B5EF4-FFF2-40B4-BE49-F238E27FC236}">
                    <a16:creationId xmlns:a16="http://schemas.microsoft.com/office/drawing/2014/main" id="{DD432CB6-453C-8423-DE63-76DC7A91814F}"/>
                  </a:ext>
                </a:extLst>
              </p:cNvPr>
              <p:cNvSpPr/>
              <p:nvPr/>
            </p:nvSpPr>
            <p:spPr>
              <a:xfrm>
                <a:off x="12924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83;p131">
                <a:extLst>
                  <a:ext uri="{FF2B5EF4-FFF2-40B4-BE49-F238E27FC236}">
                    <a16:creationId xmlns:a16="http://schemas.microsoft.com/office/drawing/2014/main" id="{C54D288F-D366-00B7-495D-F70058D34A85}"/>
                  </a:ext>
                </a:extLst>
              </p:cNvPr>
              <p:cNvSpPr/>
              <p:nvPr/>
            </p:nvSpPr>
            <p:spPr>
              <a:xfrm>
                <a:off x="14448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84;p131">
                <a:extLst>
                  <a:ext uri="{FF2B5EF4-FFF2-40B4-BE49-F238E27FC236}">
                    <a16:creationId xmlns:a16="http://schemas.microsoft.com/office/drawing/2014/main" id="{D6C03181-200B-1BF9-7FE6-CA4769CC4E20}"/>
                  </a:ext>
                </a:extLst>
              </p:cNvPr>
              <p:cNvSpPr/>
              <p:nvPr/>
            </p:nvSpPr>
            <p:spPr>
              <a:xfrm>
                <a:off x="15972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85;p131">
                <a:extLst>
                  <a:ext uri="{FF2B5EF4-FFF2-40B4-BE49-F238E27FC236}">
                    <a16:creationId xmlns:a16="http://schemas.microsoft.com/office/drawing/2014/main" id="{7393A9EF-E4EF-86E3-E0F1-F7BB410BB9C5}"/>
                  </a:ext>
                </a:extLst>
              </p:cNvPr>
              <p:cNvSpPr/>
              <p:nvPr/>
            </p:nvSpPr>
            <p:spPr>
              <a:xfrm>
                <a:off x="17496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86;p131">
                <a:extLst>
                  <a:ext uri="{FF2B5EF4-FFF2-40B4-BE49-F238E27FC236}">
                    <a16:creationId xmlns:a16="http://schemas.microsoft.com/office/drawing/2014/main" id="{330105A9-9759-79A1-7393-5E9C6EA3C022}"/>
                  </a:ext>
                </a:extLst>
              </p:cNvPr>
              <p:cNvSpPr/>
              <p:nvPr/>
            </p:nvSpPr>
            <p:spPr>
              <a:xfrm>
                <a:off x="19020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87;p131">
                <a:extLst>
                  <a:ext uri="{FF2B5EF4-FFF2-40B4-BE49-F238E27FC236}">
                    <a16:creationId xmlns:a16="http://schemas.microsoft.com/office/drawing/2014/main" id="{57A2B8F1-4B70-8532-6235-1F03086009A8}"/>
                  </a:ext>
                </a:extLst>
              </p:cNvPr>
              <p:cNvSpPr/>
              <p:nvPr/>
            </p:nvSpPr>
            <p:spPr>
              <a:xfrm>
                <a:off x="9114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88;p131">
                <a:extLst>
                  <a:ext uri="{FF2B5EF4-FFF2-40B4-BE49-F238E27FC236}">
                    <a16:creationId xmlns:a16="http://schemas.microsoft.com/office/drawing/2014/main" id="{740D2F97-7E4E-4A23-6F8B-09B88C581F8C}"/>
                  </a:ext>
                </a:extLst>
              </p:cNvPr>
              <p:cNvSpPr/>
              <p:nvPr/>
            </p:nvSpPr>
            <p:spPr>
              <a:xfrm>
                <a:off x="10638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89;p131">
                <a:extLst>
                  <a:ext uri="{FF2B5EF4-FFF2-40B4-BE49-F238E27FC236}">
                    <a16:creationId xmlns:a16="http://schemas.microsoft.com/office/drawing/2014/main" id="{C97004AB-9521-C76B-46AF-D9FAF6FB665B}"/>
                  </a:ext>
                </a:extLst>
              </p:cNvPr>
              <p:cNvSpPr/>
              <p:nvPr/>
            </p:nvSpPr>
            <p:spPr>
              <a:xfrm>
                <a:off x="2384012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90;p131">
                <a:extLst>
                  <a:ext uri="{FF2B5EF4-FFF2-40B4-BE49-F238E27FC236}">
                    <a16:creationId xmlns:a16="http://schemas.microsoft.com/office/drawing/2014/main" id="{C5163DE0-8E9A-124A-3332-8B046B858F7B}"/>
                  </a:ext>
                </a:extLst>
              </p:cNvPr>
              <p:cNvSpPr/>
              <p:nvPr/>
            </p:nvSpPr>
            <p:spPr>
              <a:xfrm>
                <a:off x="13686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91;p131">
                <a:extLst>
                  <a:ext uri="{FF2B5EF4-FFF2-40B4-BE49-F238E27FC236}">
                    <a16:creationId xmlns:a16="http://schemas.microsoft.com/office/drawing/2014/main" id="{3C576AAC-E2B7-FEED-C9D0-563596802C54}"/>
                  </a:ext>
                </a:extLst>
              </p:cNvPr>
              <p:cNvSpPr/>
              <p:nvPr/>
            </p:nvSpPr>
            <p:spPr>
              <a:xfrm>
                <a:off x="2468476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92;p131">
                <a:extLst>
                  <a:ext uri="{FF2B5EF4-FFF2-40B4-BE49-F238E27FC236}">
                    <a16:creationId xmlns:a16="http://schemas.microsoft.com/office/drawing/2014/main" id="{24009DC4-E06B-F53C-0546-0F17718E4D3C}"/>
                  </a:ext>
                </a:extLst>
              </p:cNvPr>
              <p:cNvSpPr/>
              <p:nvPr/>
            </p:nvSpPr>
            <p:spPr>
              <a:xfrm>
                <a:off x="1673424" y="3982752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990;p131">
                <a:extLst>
                  <a:ext uri="{FF2B5EF4-FFF2-40B4-BE49-F238E27FC236}">
                    <a16:creationId xmlns:a16="http://schemas.microsoft.com/office/drawing/2014/main" id="{43DE64A6-FC74-43B7-BBC3-C41FFB554B7F}"/>
                  </a:ext>
                </a:extLst>
              </p:cNvPr>
              <p:cNvSpPr/>
              <p:nvPr/>
            </p:nvSpPr>
            <p:spPr>
              <a:xfrm>
                <a:off x="2226103" y="3980915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982;p131">
                <a:extLst>
                  <a:ext uri="{FF2B5EF4-FFF2-40B4-BE49-F238E27FC236}">
                    <a16:creationId xmlns:a16="http://schemas.microsoft.com/office/drawing/2014/main" id="{1BB628A8-B947-77BC-D662-A3EBA0A7392E}"/>
                  </a:ext>
                </a:extLst>
              </p:cNvPr>
              <p:cNvSpPr/>
              <p:nvPr/>
            </p:nvSpPr>
            <p:spPr>
              <a:xfrm>
                <a:off x="2050749" y="3991933"/>
                <a:ext cx="80359" cy="103477"/>
              </a:xfrm>
              <a:prstGeom prst="flowChartConnector">
                <a:avLst/>
              </a:prstGeom>
              <a:solidFill>
                <a:srgbClr val="351C7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979;p131">
              <a:extLst>
                <a:ext uri="{FF2B5EF4-FFF2-40B4-BE49-F238E27FC236}">
                  <a16:creationId xmlns:a16="http://schemas.microsoft.com/office/drawing/2014/main" id="{1D4D6C70-2BB8-1439-CAB5-51B1625A3260}"/>
                </a:ext>
              </a:extLst>
            </p:cNvPr>
            <p:cNvSpPr/>
            <p:nvPr/>
          </p:nvSpPr>
          <p:spPr>
            <a:xfrm rot="5400000">
              <a:off x="2656772" y="5840743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D3A71F8-EE00-345B-97B5-70BBFC141E57}"/>
              </a:ext>
            </a:extLst>
          </p:cNvPr>
          <p:cNvCxnSpPr/>
          <p:nvPr/>
        </p:nvCxnSpPr>
        <p:spPr>
          <a:xfrm flipV="1">
            <a:off x="2495253" y="2433844"/>
            <a:ext cx="2485327" cy="267714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2" descr="File:Murdoch University extended logo ...">
            <a:extLst>
              <a:ext uri="{FF2B5EF4-FFF2-40B4-BE49-F238E27FC236}">
                <a16:creationId xmlns:a16="http://schemas.microsoft.com/office/drawing/2014/main" id="{7B2D7680-873B-067A-0379-5B216E83F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2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155;p134">
            <a:extLst>
              <a:ext uri="{FF2B5EF4-FFF2-40B4-BE49-F238E27FC236}">
                <a16:creationId xmlns:a16="http://schemas.microsoft.com/office/drawing/2014/main" id="{981D06B0-3A89-38AB-ED1B-F2BAC5FC3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825" y="1682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Binary classification</a:t>
            </a:r>
            <a:endParaRPr dirty="0"/>
          </a:p>
        </p:txBody>
      </p:sp>
      <p:sp>
        <p:nvSpPr>
          <p:cNvPr id="21" name="Google Shape;1156;p134">
            <a:extLst>
              <a:ext uri="{FF2B5EF4-FFF2-40B4-BE49-F238E27FC236}">
                <a16:creationId xmlns:a16="http://schemas.microsoft.com/office/drawing/2014/main" id="{CB8E6707-66D7-C543-4E5A-33F274B1A1BF}"/>
              </a:ext>
            </a:extLst>
          </p:cNvPr>
          <p:cNvSpPr/>
          <p:nvPr/>
        </p:nvSpPr>
        <p:spPr>
          <a:xfrm>
            <a:off x="2098725" y="4378350"/>
            <a:ext cx="203700" cy="21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" name="Google Shape;1159;p134">
            <a:extLst>
              <a:ext uri="{FF2B5EF4-FFF2-40B4-BE49-F238E27FC236}">
                <a16:creationId xmlns:a16="http://schemas.microsoft.com/office/drawing/2014/main" id="{16ADA2DD-FD38-16F0-ADCB-8E38E0A3B6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863" b="3891"/>
          <a:stretch/>
        </p:blipFill>
        <p:spPr>
          <a:xfrm>
            <a:off x="427143" y="1060011"/>
            <a:ext cx="5332163" cy="511182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160;p134">
            <a:extLst>
              <a:ext uri="{FF2B5EF4-FFF2-40B4-BE49-F238E27FC236}">
                <a16:creationId xmlns:a16="http://schemas.microsoft.com/office/drawing/2014/main" id="{32EC8D32-5B61-EDF9-0537-A4D9EBFDB6F0}"/>
              </a:ext>
            </a:extLst>
          </p:cNvPr>
          <p:cNvSpPr/>
          <p:nvPr/>
        </p:nvSpPr>
        <p:spPr>
          <a:xfrm rot="11971731" flipH="1" flipV="1">
            <a:off x="1569143" y="1485441"/>
            <a:ext cx="3011444" cy="4049862"/>
          </a:xfrm>
          <a:prstGeom prst="parallelogram">
            <a:avLst>
              <a:gd name="adj" fmla="val 12277"/>
            </a:avLst>
          </a:prstGeom>
          <a:solidFill>
            <a:schemeClr val="accent1">
              <a:lumMod val="40000"/>
              <a:lumOff val="60000"/>
              <a:alpha val="26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161;p134">
            <a:extLst>
              <a:ext uri="{FF2B5EF4-FFF2-40B4-BE49-F238E27FC236}">
                <a16:creationId xmlns:a16="http://schemas.microsoft.com/office/drawing/2014/main" id="{C15E9717-7FF8-6E5F-0014-B39C524DB8AC}"/>
              </a:ext>
            </a:extLst>
          </p:cNvPr>
          <p:cNvSpPr txBox="1"/>
          <p:nvPr/>
        </p:nvSpPr>
        <p:spPr>
          <a:xfrm>
            <a:off x="6012175" y="4613340"/>
            <a:ext cx="3727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w0 = mx0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= mx1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[w0, w1]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s" sz="1800" b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s" sz="1800" b="1" i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s" sz="1800" i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(x0, x1) = </a:t>
            </a:r>
            <a:r>
              <a:rPr lang="e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[0]x0 + </a:t>
            </a:r>
            <a:r>
              <a:rPr lang="e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[1]x1 + b</a:t>
            </a:r>
            <a:endParaRPr sz="1800" dirty="0"/>
          </a:p>
        </p:txBody>
      </p:sp>
      <p:sp>
        <p:nvSpPr>
          <p:cNvPr id="31" name="Google Shape;1167;p134">
            <a:extLst>
              <a:ext uri="{FF2B5EF4-FFF2-40B4-BE49-F238E27FC236}">
                <a16:creationId xmlns:a16="http://schemas.microsoft.com/office/drawing/2014/main" id="{BB679478-9D7F-460A-DD0D-4A8C2C5021E9}"/>
              </a:ext>
            </a:extLst>
          </p:cNvPr>
          <p:cNvSpPr txBox="1"/>
          <p:nvPr/>
        </p:nvSpPr>
        <p:spPr>
          <a:xfrm>
            <a:off x="4535513" y="964401"/>
            <a:ext cx="2953324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s" sz="2400" b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s" sz="2400" b="1" i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s" sz="2400" i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(x0, x1)</a:t>
            </a:r>
            <a:r>
              <a:rPr lang="es" sz="2400" dirty="0">
                <a:solidFill>
                  <a:schemeClr val="dk1"/>
                </a:solidFill>
              </a:rPr>
              <a:t>  &gt;= 0.5</a:t>
            </a:r>
            <a:endParaRPr sz="2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D0D98FD-93ED-9385-0F4A-EA64A3D0BBBB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327094" y="1518369"/>
            <a:ext cx="2685081" cy="16765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Google Shape;904;p128">
            <a:extLst>
              <a:ext uri="{FF2B5EF4-FFF2-40B4-BE49-F238E27FC236}">
                <a16:creationId xmlns:a16="http://schemas.microsoft.com/office/drawing/2014/main" id="{B4406AF6-18A1-F8E0-FEA9-E236162E57D6}"/>
              </a:ext>
            </a:extLst>
          </p:cNvPr>
          <p:cNvGraphicFramePr/>
          <p:nvPr/>
        </p:nvGraphicFramePr>
        <p:xfrm>
          <a:off x="7848775" y="1460855"/>
          <a:ext cx="3813999" cy="320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x0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x1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y(label)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2.2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3.5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5" name="Google Shape;905;p128">
            <a:extLst>
              <a:ext uri="{FF2B5EF4-FFF2-40B4-BE49-F238E27FC236}">
                <a16:creationId xmlns:a16="http://schemas.microsoft.com/office/drawing/2014/main" id="{8FA3B8C5-918C-ABE1-E043-B048C75C973A}"/>
              </a:ext>
            </a:extLst>
          </p:cNvPr>
          <p:cNvGraphicFramePr/>
          <p:nvPr/>
        </p:nvGraphicFramePr>
        <p:xfrm>
          <a:off x="7848775" y="4842405"/>
          <a:ext cx="3813999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-0.3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-2.5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/>
                        <a:t>?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Google Shape;1160;p134">
            <a:extLst>
              <a:ext uri="{FF2B5EF4-FFF2-40B4-BE49-F238E27FC236}">
                <a16:creationId xmlns:a16="http://schemas.microsoft.com/office/drawing/2014/main" id="{C2146BE2-BD06-B13C-A331-E5B576204670}"/>
              </a:ext>
            </a:extLst>
          </p:cNvPr>
          <p:cNvSpPr/>
          <p:nvPr/>
        </p:nvSpPr>
        <p:spPr>
          <a:xfrm rot="11971731" flipH="1" flipV="1">
            <a:off x="2074050" y="1562106"/>
            <a:ext cx="2855381" cy="2025317"/>
          </a:xfrm>
          <a:prstGeom prst="parallelogram">
            <a:avLst>
              <a:gd name="adj" fmla="val 10077"/>
            </a:avLst>
          </a:prstGeom>
          <a:solidFill>
            <a:srgbClr val="FF0000">
              <a:alpha val="17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902;p128">
            <a:extLst>
              <a:ext uri="{FF2B5EF4-FFF2-40B4-BE49-F238E27FC236}">
                <a16:creationId xmlns:a16="http://schemas.microsoft.com/office/drawing/2014/main" id="{2CC4F581-C74E-FA50-182E-8315030E5585}"/>
              </a:ext>
            </a:extLst>
          </p:cNvPr>
          <p:cNvSpPr/>
          <p:nvPr/>
        </p:nvSpPr>
        <p:spPr>
          <a:xfrm>
            <a:off x="3800291" y="2139226"/>
            <a:ext cx="146700" cy="130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903;p128">
            <a:extLst>
              <a:ext uri="{FF2B5EF4-FFF2-40B4-BE49-F238E27FC236}">
                <a16:creationId xmlns:a16="http://schemas.microsoft.com/office/drawing/2014/main" id="{F5B69F20-B92B-917E-55ED-6579D8146B89}"/>
              </a:ext>
            </a:extLst>
          </p:cNvPr>
          <p:cNvSpPr/>
          <p:nvPr/>
        </p:nvSpPr>
        <p:spPr>
          <a:xfrm>
            <a:off x="1933391" y="4478474"/>
            <a:ext cx="146700" cy="130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Picture 2" descr="File:Murdoch University extended logo ...">
            <a:extLst>
              <a:ext uri="{FF2B5EF4-FFF2-40B4-BE49-F238E27FC236}">
                <a16:creationId xmlns:a16="http://schemas.microsoft.com/office/drawing/2014/main" id="{B54A933D-69E3-AD28-71F0-50B1A234A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46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31" grpId="0"/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E2AA-55DC-C31C-B003-EDCE0748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212725"/>
            <a:ext cx="10515600" cy="769938"/>
          </a:xfrm>
        </p:spPr>
        <p:txBody>
          <a:bodyPr/>
          <a:lstStyle/>
          <a:p>
            <a:r>
              <a:rPr lang="en-US" dirty="0"/>
              <a:t>Covid19 vs No Covid19 classification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B4A8B8D-D49A-CCAC-9FFB-0C43FD4F10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A92FAF2-D328-4A9E-929A-3AD204F03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AC474-0EF5-4E05-C0A9-F450EDAB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73" y="902493"/>
            <a:ext cx="7927658" cy="56626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285B0C-897E-0DA9-EEEA-BF56B32F749F}"/>
              </a:ext>
            </a:extLst>
          </p:cNvPr>
          <p:cNvCxnSpPr>
            <a:cxnSpLocks/>
          </p:cNvCxnSpPr>
          <p:nvPr/>
        </p:nvCxnSpPr>
        <p:spPr>
          <a:xfrm flipV="1">
            <a:off x="3132221" y="1828842"/>
            <a:ext cx="6288505" cy="314425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File:Murdoch University extended logo ...">
            <a:extLst>
              <a:ext uri="{FF2B5EF4-FFF2-40B4-BE49-F238E27FC236}">
                <a16:creationId xmlns:a16="http://schemas.microsoft.com/office/drawing/2014/main" id="{3C71B68D-443E-D52B-C8F5-EC3BE76A1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6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5A65E-4667-0414-0B9F-6CCDB96F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F7B8-D082-14E4-2DBC-D640A71F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212725"/>
            <a:ext cx="10515600" cy="769938"/>
          </a:xfrm>
        </p:spPr>
        <p:txBody>
          <a:bodyPr/>
          <a:lstStyle/>
          <a:p>
            <a:r>
              <a:rPr lang="en-US" dirty="0"/>
              <a:t>Classification evaluation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315B2C5-FF9E-AD81-8C84-6429206AAB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0BEEFE8-E19F-69BC-C850-870B3CC6A1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D31D1-F1A2-938E-0735-40A272BE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02493"/>
            <a:ext cx="7106653" cy="56626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BA5952-C258-443C-46D5-E120B04D4210}"/>
              </a:ext>
            </a:extLst>
          </p:cNvPr>
          <p:cNvCxnSpPr>
            <a:cxnSpLocks/>
          </p:cNvCxnSpPr>
          <p:nvPr/>
        </p:nvCxnSpPr>
        <p:spPr>
          <a:xfrm flipV="1">
            <a:off x="1235242" y="1892968"/>
            <a:ext cx="5432841" cy="346509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6009F2-CCC1-F966-D629-6EA2178178B1}"/>
              </a:ext>
            </a:extLst>
          </p:cNvPr>
          <p:cNvSpPr txBox="1"/>
          <p:nvPr/>
        </p:nvSpPr>
        <p:spPr>
          <a:xfrm>
            <a:off x="7829431" y="921061"/>
            <a:ext cx="251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 each classification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2F98C2-65AF-4FBF-CDF9-C9A7DF9F0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856847"/>
              </p:ext>
            </p:extLst>
          </p:nvPr>
        </p:nvGraphicFramePr>
        <p:xfrm>
          <a:off x="7857224" y="1916141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5E784CF-2E11-9C14-AB1C-641E98AFCED1}"/>
              </a:ext>
            </a:extLst>
          </p:cNvPr>
          <p:cNvSpPr txBox="1"/>
          <p:nvPr/>
        </p:nvSpPr>
        <p:spPr>
          <a:xfrm>
            <a:off x="9969139" y="1546809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73131-6762-B20A-2BE9-5461B9CF82E7}"/>
              </a:ext>
            </a:extLst>
          </p:cNvPr>
          <p:cNvSpPr txBox="1"/>
          <p:nvPr/>
        </p:nvSpPr>
        <p:spPr>
          <a:xfrm rot="16200000">
            <a:off x="7187432" y="2707557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9F789-31D3-1014-6473-44E4231C2170}"/>
              </a:ext>
            </a:extLst>
          </p:cNvPr>
          <p:cNvSpPr txBox="1"/>
          <p:nvPr/>
        </p:nvSpPr>
        <p:spPr>
          <a:xfrm>
            <a:off x="4315327" y="2551581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64334-C4BE-5C2A-0C59-3CFD52F42B58}"/>
              </a:ext>
            </a:extLst>
          </p:cNvPr>
          <p:cNvSpPr txBox="1"/>
          <p:nvPr/>
        </p:nvSpPr>
        <p:spPr>
          <a:xfrm>
            <a:off x="2109538" y="428448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3944B-1BC7-5FA9-0AD7-60E340B44797}"/>
              </a:ext>
            </a:extLst>
          </p:cNvPr>
          <p:cNvSpPr txBox="1"/>
          <p:nvPr/>
        </p:nvSpPr>
        <p:spPr>
          <a:xfrm>
            <a:off x="5733400" y="1995475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94A680D-6FF1-EC45-A927-5618CDAFC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34385"/>
              </p:ext>
            </p:extLst>
          </p:nvPr>
        </p:nvGraphicFramePr>
        <p:xfrm>
          <a:off x="7857224" y="4020760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8D43BA-81D7-CC2D-D16B-22D5AD77D06E}"/>
              </a:ext>
            </a:extLst>
          </p:cNvPr>
          <p:cNvSpPr txBox="1"/>
          <p:nvPr/>
        </p:nvSpPr>
        <p:spPr>
          <a:xfrm>
            <a:off x="9965880" y="3468508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0A73FE-8D80-337E-D553-F1954945A6E5}"/>
              </a:ext>
            </a:extLst>
          </p:cNvPr>
          <p:cNvSpPr txBox="1"/>
          <p:nvPr/>
        </p:nvSpPr>
        <p:spPr>
          <a:xfrm rot="16200000">
            <a:off x="7184173" y="4629256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20" name="Picture 2" descr="File:Murdoch University extended logo ...">
            <a:extLst>
              <a:ext uri="{FF2B5EF4-FFF2-40B4-BE49-F238E27FC236}">
                <a16:creationId xmlns:a16="http://schemas.microsoft.com/office/drawing/2014/main" id="{E214AEC5-7A47-7510-7623-9C92FA034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1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B26B-2C8B-0261-A579-755F3B8D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87AD-B1A6-C9DF-74D9-F5A1F8C6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212725"/>
            <a:ext cx="10515600" cy="769938"/>
          </a:xfrm>
        </p:spPr>
        <p:txBody>
          <a:bodyPr/>
          <a:lstStyle/>
          <a:p>
            <a:r>
              <a:rPr lang="en-US" dirty="0"/>
              <a:t>Classification evaluation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6B873A9-1EA2-0B1E-9E94-AA7E3F5480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16D30E0-1DCC-9D01-0E9C-0B566CB39A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FD6D2B-19D2-E491-ADDF-75D45721C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02493"/>
            <a:ext cx="7106653" cy="56626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4F4C38-0185-44C1-6F4C-4300FB707B42}"/>
              </a:ext>
            </a:extLst>
          </p:cNvPr>
          <p:cNvCxnSpPr>
            <a:cxnSpLocks/>
          </p:cNvCxnSpPr>
          <p:nvPr/>
        </p:nvCxnSpPr>
        <p:spPr>
          <a:xfrm flipV="1">
            <a:off x="1235242" y="1892968"/>
            <a:ext cx="5432841" cy="346509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22B8A2-7BDD-4FCF-0C4A-560610316C3B}"/>
              </a:ext>
            </a:extLst>
          </p:cNvPr>
          <p:cNvSpPr txBox="1"/>
          <p:nvPr/>
        </p:nvSpPr>
        <p:spPr>
          <a:xfrm>
            <a:off x="7782593" y="553338"/>
            <a:ext cx="251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 each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1FFCE-7DBB-928E-8AF4-E8D3B4A3B0B1}"/>
              </a:ext>
            </a:extLst>
          </p:cNvPr>
          <p:cNvSpPr txBox="1"/>
          <p:nvPr/>
        </p:nvSpPr>
        <p:spPr>
          <a:xfrm>
            <a:off x="4315327" y="2551581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9A4A4-DA87-4DBA-FB46-E3841F737B49}"/>
              </a:ext>
            </a:extLst>
          </p:cNvPr>
          <p:cNvSpPr txBox="1"/>
          <p:nvPr/>
        </p:nvSpPr>
        <p:spPr>
          <a:xfrm>
            <a:off x="2109538" y="428448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281206-E2F1-1D7C-06C9-B7B846B47D48}"/>
              </a:ext>
            </a:extLst>
          </p:cNvPr>
          <p:cNvSpPr txBox="1"/>
          <p:nvPr/>
        </p:nvSpPr>
        <p:spPr>
          <a:xfrm>
            <a:off x="5733400" y="1995475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B9581-33C9-7361-C9FA-16428DBAEF93}"/>
              </a:ext>
            </a:extLst>
          </p:cNvPr>
          <p:cNvSpPr txBox="1"/>
          <p:nvPr/>
        </p:nvSpPr>
        <p:spPr>
          <a:xfrm>
            <a:off x="9938087" y="987609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DCB5DA-3045-E5CE-202E-E3D2CEF540E7}"/>
              </a:ext>
            </a:extLst>
          </p:cNvPr>
          <p:cNvSpPr txBox="1"/>
          <p:nvPr/>
        </p:nvSpPr>
        <p:spPr>
          <a:xfrm rot="16200000">
            <a:off x="7156380" y="2148357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20" name="Picture 19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1DA766C3-FEDD-EE17-C157-9794083B8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300" y="2990850"/>
            <a:ext cx="4000500" cy="939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6BEFC0-4982-F10B-27B4-F3EF8198D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594" y="4929808"/>
            <a:ext cx="2717800" cy="876300"/>
          </a:xfrm>
          <a:prstGeom prst="rect">
            <a:avLst/>
          </a:prstGeom>
        </p:spPr>
      </p:pic>
      <p:pic>
        <p:nvPicPr>
          <p:cNvPr id="24" name="Picture 23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7EC836A5-B7B1-C604-9C85-D5AB7FB84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741" y="4114298"/>
            <a:ext cx="2540000" cy="863600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951E941D-29E5-D7B9-2DEB-E15202D2F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5793408"/>
            <a:ext cx="3530600" cy="8255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5F2311D-59CF-3116-B432-63085C18E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237541"/>
              </p:ext>
            </p:extLst>
          </p:nvPr>
        </p:nvGraphicFramePr>
        <p:xfrm>
          <a:off x="7851561" y="1571367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pic>
        <p:nvPicPr>
          <p:cNvPr id="28" name="Picture 2" descr="File:Murdoch University extended logo ...">
            <a:extLst>
              <a:ext uri="{FF2B5EF4-FFF2-40B4-BE49-F238E27FC236}">
                <a16:creationId xmlns:a16="http://schemas.microsoft.com/office/drawing/2014/main" id="{7BA08BD6-A76B-4C0A-18E7-08C50C895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97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D8B7-455D-3F15-26AC-E6D68667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A7D0-7EF1-C12C-624A-8587103C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212725"/>
            <a:ext cx="10515600" cy="769938"/>
          </a:xfrm>
        </p:spPr>
        <p:txBody>
          <a:bodyPr/>
          <a:lstStyle/>
          <a:p>
            <a:r>
              <a:rPr lang="en-US" dirty="0"/>
              <a:t>Classification evaluation on training 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129D7C-6D64-A1F1-3352-C99B7D09FB5D}"/>
              </a:ext>
            </a:extLst>
          </p:cNvPr>
          <p:cNvSpPr txBox="1"/>
          <p:nvPr/>
        </p:nvSpPr>
        <p:spPr>
          <a:xfrm>
            <a:off x="10017109" y="2295068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ABA589-355F-A998-34F0-6A274BB0A407}"/>
              </a:ext>
            </a:extLst>
          </p:cNvPr>
          <p:cNvSpPr txBox="1"/>
          <p:nvPr/>
        </p:nvSpPr>
        <p:spPr>
          <a:xfrm rot="16200000">
            <a:off x="7235402" y="3455816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11" name="Picture 10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05EA29C-194C-315F-911C-3C6E27ED7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73" y="1340491"/>
            <a:ext cx="7518400" cy="1041400"/>
          </a:xfrm>
          <a:prstGeom prst="rect">
            <a:avLst/>
          </a:prstGeom>
        </p:spPr>
      </p:pic>
      <p:pic>
        <p:nvPicPr>
          <p:cNvPr id="16" name="Picture 15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61385D6E-8179-4828-32ED-FC324380D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73" y="3252581"/>
            <a:ext cx="5029200" cy="939800"/>
          </a:xfrm>
          <a:prstGeom prst="rect">
            <a:avLst/>
          </a:prstGeom>
        </p:spPr>
      </p:pic>
      <p:pic>
        <p:nvPicPr>
          <p:cNvPr id="21" name="Picture 20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7F2CFCBE-4372-2FF0-A4F8-CDF076932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67" y="2295068"/>
            <a:ext cx="4851400" cy="97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459118-5D07-555D-397D-ABCB500B4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573" y="4494360"/>
            <a:ext cx="7531100" cy="850900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7A45925-92FF-32F1-2D32-8B62CF962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504829"/>
              </p:ext>
            </p:extLst>
          </p:nvPr>
        </p:nvGraphicFramePr>
        <p:xfrm>
          <a:off x="7930583" y="2897630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pic>
        <p:nvPicPr>
          <p:cNvPr id="29" name="Picture 2" descr="File:Murdoch University extended logo ...">
            <a:extLst>
              <a:ext uri="{FF2B5EF4-FFF2-40B4-BE49-F238E27FC236}">
                <a16:creationId xmlns:a16="http://schemas.microsoft.com/office/drawing/2014/main" id="{2D73CCB6-4E64-0BB4-5240-B4FD23EAD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80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9B3491-6094-EBAB-73CE-776B293A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B94A-9FA1-67C4-354C-0227A9F0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212725"/>
            <a:ext cx="10515600" cy="769938"/>
          </a:xfrm>
        </p:spPr>
        <p:txBody>
          <a:bodyPr/>
          <a:lstStyle/>
          <a:p>
            <a:r>
              <a:rPr lang="en-US" dirty="0"/>
              <a:t>Classification evaluation on test 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23A43-4AB4-9AD9-C950-6768DBC8E0BC}"/>
              </a:ext>
            </a:extLst>
          </p:cNvPr>
          <p:cNvSpPr txBox="1"/>
          <p:nvPr/>
        </p:nvSpPr>
        <p:spPr>
          <a:xfrm>
            <a:off x="10017109" y="2295068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BA1CE-4C0A-6C7C-A859-EEB18587AE5B}"/>
              </a:ext>
            </a:extLst>
          </p:cNvPr>
          <p:cNvSpPr txBox="1"/>
          <p:nvPr/>
        </p:nvSpPr>
        <p:spPr>
          <a:xfrm rot="16200000">
            <a:off x="7235402" y="3455816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11" name="Picture 10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0BCB4E88-9098-EE6B-73C6-AC9CB486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73" y="1340491"/>
            <a:ext cx="7518400" cy="1041400"/>
          </a:xfrm>
          <a:prstGeom prst="rect">
            <a:avLst/>
          </a:prstGeom>
        </p:spPr>
      </p:pic>
      <p:pic>
        <p:nvPicPr>
          <p:cNvPr id="16" name="Picture 15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162D4A15-881F-D700-DE3B-70A1769A3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73" y="3252581"/>
            <a:ext cx="5029200" cy="939800"/>
          </a:xfrm>
          <a:prstGeom prst="rect">
            <a:avLst/>
          </a:prstGeom>
        </p:spPr>
      </p:pic>
      <p:pic>
        <p:nvPicPr>
          <p:cNvPr id="21" name="Picture 20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9E98E868-5C8B-9042-328C-B3B70D60E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67" y="2295068"/>
            <a:ext cx="4851400" cy="97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5FED25-27C9-CEBD-86A5-73725EB24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573" y="4494360"/>
            <a:ext cx="7531100" cy="850900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D2212CD-1638-AEAC-1BB1-C623CADD1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71602"/>
              </p:ext>
            </p:extLst>
          </p:nvPr>
        </p:nvGraphicFramePr>
        <p:xfrm>
          <a:off x="7930583" y="2897630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pic>
        <p:nvPicPr>
          <p:cNvPr id="3" name="Picture 2" descr="File:Murdoch University extended logo ...">
            <a:extLst>
              <a:ext uri="{FF2B5EF4-FFF2-40B4-BE49-F238E27FC236}">
                <a16:creationId xmlns:a16="http://schemas.microsoft.com/office/drawing/2014/main" id="{430573D0-3BC0-B84E-F650-4041C1631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47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45E0-8AE6-CC14-0207-7751C3E7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81" y="313099"/>
            <a:ext cx="10515600" cy="541003"/>
          </a:xfrm>
        </p:spPr>
        <p:txBody>
          <a:bodyPr>
            <a:normAutofit fontScale="90000"/>
          </a:bodyPr>
          <a:lstStyle/>
          <a:p>
            <a:r>
              <a:rPr lang="en-US" dirty="0"/>
              <a:t>Unbalanced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EE7EB-F86D-6D6A-C868-CC8714FBC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7" y="1415670"/>
            <a:ext cx="7772400" cy="47966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A1E9D7-01AE-A5F2-F6B3-9C50FD1ECB63}"/>
              </a:ext>
            </a:extLst>
          </p:cNvPr>
          <p:cNvCxnSpPr/>
          <p:nvPr/>
        </p:nvCxnSpPr>
        <p:spPr>
          <a:xfrm flipV="1">
            <a:off x="994613" y="2326105"/>
            <a:ext cx="2213810" cy="16844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C4240D-5ED5-3F83-9CD6-DB84E4CA18B3}"/>
              </a:ext>
            </a:extLst>
          </p:cNvPr>
          <p:cNvCxnSpPr>
            <a:cxnSpLocks/>
          </p:cNvCxnSpPr>
          <p:nvPr/>
        </p:nvCxnSpPr>
        <p:spPr>
          <a:xfrm>
            <a:off x="2406318" y="3168315"/>
            <a:ext cx="930442" cy="986590"/>
          </a:xfrm>
          <a:prstGeom prst="straightConnector1">
            <a:avLst/>
          </a:prstGeom>
          <a:ln w="444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BC31F5-5033-B5D3-A2AB-9D990669E466}"/>
              </a:ext>
            </a:extLst>
          </p:cNvPr>
          <p:cNvSpPr txBox="1"/>
          <p:nvPr/>
        </p:nvSpPr>
        <p:spPr>
          <a:xfrm>
            <a:off x="2871539" y="4330709"/>
            <a:ext cx="15821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No COVID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E06664-FB87-867F-131F-9F6A20659FAF}"/>
              </a:ext>
            </a:extLst>
          </p:cNvPr>
          <p:cNvSpPr txBox="1"/>
          <p:nvPr/>
        </p:nvSpPr>
        <p:spPr>
          <a:xfrm>
            <a:off x="1161038" y="2516378"/>
            <a:ext cx="112050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COVID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264C9F7-D40A-7604-301C-791E39726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012111"/>
              </p:ext>
            </p:extLst>
          </p:nvPr>
        </p:nvGraphicFramePr>
        <p:xfrm>
          <a:off x="8117627" y="3168315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F725237-2578-5A91-D204-4C54DA120621}"/>
              </a:ext>
            </a:extLst>
          </p:cNvPr>
          <p:cNvSpPr txBox="1"/>
          <p:nvPr/>
        </p:nvSpPr>
        <p:spPr>
          <a:xfrm>
            <a:off x="10226283" y="2616063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144009-FEA5-657C-A819-566AC89E5211}"/>
              </a:ext>
            </a:extLst>
          </p:cNvPr>
          <p:cNvSpPr txBox="1"/>
          <p:nvPr/>
        </p:nvSpPr>
        <p:spPr>
          <a:xfrm rot="16200000">
            <a:off x="7409575" y="3737116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18" name="Picture 2" descr="File:Murdoch University extended logo ...">
            <a:extLst>
              <a:ext uri="{FF2B5EF4-FFF2-40B4-BE49-F238E27FC236}">
                <a16:creationId xmlns:a16="http://schemas.microsoft.com/office/drawing/2014/main" id="{BDAA97F9-566A-904E-9A99-19495137F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0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/>
      <p:bldP spid="16" grpId="1"/>
      <p:bldP spid="17" grpId="0"/>
      <p:bldP spid="1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BB4C-BDD6-5C77-05D9-895FA330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CA12-2884-A711-0B74-2D49EFBB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81" y="313099"/>
            <a:ext cx="10515600" cy="541003"/>
          </a:xfrm>
        </p:spPr>
        <p:txBody>
          <a:bodyPr>
            <a:normAutofit fontScale="90000"/>
          </a:bodyPr>
          <a:lstStyle/>
          <a:p>
            <a:r>
              <a:rPr lang="en-US" dirty="0"/>
              <a:t>Unbalanced data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5B19798-434D-BC79-2A64-D87E63B74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76521"/>
              </p:ext>
            </p:extLst>
          </p:nvPr>
        </p:nvGraphicFramePr>
        <p:xfrm>
          <a:off x="8117627" y="3168315"/>
          <a:ext cx="39818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8">
                  <a:extLst>
                    <a:ext uri="{9D8B030D-6E8A-4147-A177-3AD203B41FA5}">
                      <a16:colId xmlns:a16="http://schemas.microsoft.com/office/drawing/2014/main" val="3087114317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279313722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1015572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0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3375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EB9E8F7-1987-6431-5CAA-51D2547D5D30}"/>
              </a:ext>
            </a:extLst>
          </p:cNvPr>
          <p:cNvSpPr txBox="1"/>
          <p:nvPr/>
        </p:nvSpPr>
        <p:spPr>
          <a:xfrm>
            <a:off x="10226283" y="2616063"/>
            <a:ext cx="722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D8DCE-416B-AF87-0087-CC3B2DFFEA03}"/>
              </a:ext>
            </a:extLst>
          </p:cNvPr>
          <p:cNvSpPr txBox="1"/>
          <p:nvPr/>
        </p:nvSpPr>
        <p:spPr>
          <a:xfrm rot="16200000">
            <a:off x="7409575" y="3737116"/>
            <a:ext cx="78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Truth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BD35253-8B89-4C8F-6325-2A8453409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47" y="1490508"/>
            <a:ext cx="7569200" cy="1041400"/>
          </a:xfrm>
          <a:prstGeom prst="rect">
            <a:avLst/>
          </a:prstGeom>
        </p:spPr>
      </p:pic>
      <p:pic>
        <p:nvPicPr>
          <p:cNvPr id="9" name="Picture 8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12973C6C-8A0F-4B9B-C6AA-86E372A5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47" y="2531908"/>
            <a:ext cx="4064000" cy="3492500"/>
          </a:xfrm>
          <a:prstGeom prst="rect">
            <a:avLst/>
          </a:prstGeom>
        </p:spPr>
      </p:pic>
      <p:pic>
        <p:nvPicPr>
          <p:cNvPr id="11" name="Picture 2" descr="File:Murdoch University extended logo ...">
            <a:extLst>
              <a:ext uri="{FF2B5EF4-FFF2-40B4-BE49-F238E27FC236}">
                <a16:creationId xmlns:a16="http://schemas.microsoft.com/office/drawing/2014/main" id="{DD734533-7B3C-C040-1586-05BE845AA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44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9019-4AA2-01B4-A52D-23533D93B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233"/>
          </a:xfrm>
        </p:spPr>
        <p:txBody>
          <a:bodyPr>
            <a:normAutofit fontScale="90000"/>
          </a:bodyPr>
          <a:lstStyle/>
          <a:p>
            <a:r>
              <a:rPr lang="en-AU" dirty="0"/>
              <a:t>Logistic Regression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18EF76-7230-7D58-5EEF-653E2A13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4" y="1579420"/>
            <a:ext cx="92723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Extension of linear regression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yes/no outcomes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sigmoid 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squeeze predictions into [0,1]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= probability of “COVID” (positive class)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rule: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 ≥ 0.5 → COVID, else No COVID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Coefficients can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(direction and strength of association)</a:t>
            </a:r>
          </a:p>
        </p:txBody>
      </p:sp>
      <p:pic>
        <p:nvPicPr>
          <p:cNvPr id="5" name="Picture 2" descr="File:Murdoch University extended logo ...">
            <a:extLst>
              <a:ext uri="{FF2B5EF4-FFF2-40B4-BE49-F238E27FC236}">
                <a16:creationId xmlns:a16="http://schemas.microsoft.com/office/drawing/2014/main" id="{A8ED3585-FC72-3514-8E2A-E0E005C6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AD70FB1-BFF9-F383-2046-1CEFDF37AD4C}"/>
              </a:ext>
            </a:extLst>
          </p:cNvPr>
          <p:cNvGrpSpPr/>
          <p:nvPr/>
        </p:nvGrpSpPr>
        <p:grpSpPr>
          <a:xfrm>
            <a:off x="2582779" y="3056748"/>
            <a:ext cx="6407200" cy="2987230"/>
            <a:chOff x="128775" y="1855175"/>
            <a:chExt cx="6407200" cy="2987230"/>
          </a:xfrm>
        </p:grpSpPr>
        <p:sp>
          <p:nvSpPr>
            <p:cNvPr id="7" name="Google Shape;901;p128">
              <a:extLst>
                <a:ext uri="{FF2B5EF4-FFF2-40B4-BE49-F238E27FC236}">
                  <a16:creationId xmlns:a16="http://schemas.microsoft.com/office/drawing/2014/main" id="{CFF46846-6989-4949-D4CA-F19D21A2ED1E}"/>
                </a:ext>
              </a:extLst>
            </p:cNvPr>
            <p:cNvSpPr/>
            <p:nvPr/>
          </p:nvSpPr>
          <p:spPr>
            <a:xfrm>
              <a:off x="1768525" y="2600350"/>
              <a:ext cx="203700" cy="211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6;p128">
              <a:extLst>
                <a:ext uri="{FF2B5EF4-FFF2-40B4-BE49-F238E27FC236}">
                  <a16:creationId xmlns:a16="http://schemas.microsoft.com/office/drawing/2014/main" id="{40E6873D-9060-0C17-0C49-24CB1313EFDA}"/>
                </a:ext>
              </a:extLst>
            </p:cNvPr>
            <p:cNvSpPr txBox="1"/>
            <p:nvPr/>
          </p:nvSpPr>
          <p:spPr>
            <a:xfrm>
              <a:off x="1841875" y="2567750"/>
              <a:ext cx="469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58;p131">
              <a:extLst>
                <a:ext uri="{FF2B5EF4-FFF2-40B4-BE49-F238E27FC236}">
                  <a16:creationId xmlns:a16="http://schemas.microsoft.com/office/drawing/2014/main" id="{1D01BDD4-3587-7585-730E-BA94574B771F}"/>
                </a:ext>
              </a:extLst>
            </p:cNvPr>
            <p:cNvSpPr txBox="1"/>
            <p:nvPr/>
          </p:nvSpPr>
          <p:spPr>
            <a:xfrm>
              <a:off x="128775" y="2311950"/>
              <a:ext cx="602492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x1</a:t>
              </a:r>
              <a:endParaRPr/>
            </a:p>
          </p:txBody>
        </p:sp>
        <p:sp>
          <p:nvSpPr>
            <p:cNvPr id="10" name="Google Shape;962;p131">
              <a:extLst>
                <a:ext uri="{FF2B5EF4-FFF2-40B4-BE49-F238E27FC236}">
                  <a16:creationId xmlns:a16="http://schemas.microsoft.com/office/drawing/2014/main" id="{36E3A964-618F-11E9-B9E5-013EE3DCA0A1}"/>
                </a:ext>
              </a:extLst>
            </p:cNvPr>
            <p:cNvSpPr/>
            <p:nvPr/>
          </p:nvSpPr>
          <p:spPr>
            <a:xfrm>
              <a:off x="1768524" y="2600349"/>
              <a:ext cx="276975" cy="30955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1;p131">
              <a:extLst>
                <a:ext uri="{FF2B5EF4-FFF2-40B4-BE49-F238E27FC236}">
                  <a16:creationId xmlns:a16="http://schemas.microsoft.com/office/drawing/2014/main" id="{E860D74D-EAC1-32E5-859B-7511543D6A01}"/>
                </a:ext>
              </a:extLst>
            </p:cNvPr>
            <p:cNvSpPr/>
            <p:nvPr/>
          </p:nvSpPr>
          <p:spPr>
            <a:xfrm>
              <a:off x="206749" y="1855175"/>
              <a:ext cx="5458117" cy="298723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12" name="Google Shape;972;p131">
              <a:extLst>
                <a:ext uri="{FF2B5EF4-FFF2-40B4-BE49-F238E27FC236}">
                  <a16:creationId xmlns:a16="http://schemas.microsoft.com/office/drawing/2014/main" id="{ED2264BB-01A2-764A-B9B8-D9B0BB548F88}"/>
                </a:ext>
              </a:extLst>
            </p:cNvPr>
            <p:cNvCxnSpPr>
              <a:cxnSpLocks/>
            </p:cNvCxnSpPr>
            <p:nvPr/>
          </p:nvCxnSpPr>
          <p:spPr>
            <a:xfrm>
              <a:off x="597124" y="2025084"/>
              <a:ext cx="24067" cy="233085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73;p131">
              <a:extLst>
                <a:ext uri="{FF2B5EF4-FFF2-40B4-BE49-F238E27FC236}">
                  <a16:creationId xmlns:a16="http://schemas.microsoft.com/office/drawing/2014/main" id="{C4F598E9-69F8-5023-AAFF-EBC954788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91" y="4344015"/>
              <a:ext cx="5064418" cy="754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74;p131">
              <a:extLst>
                <a:ext uri="{FF2B5EF4-FFF2-40B4-BE49-F238E27FC236}">
                  <a16:creationId xmlns:a16="http://schemas.microsoft.com/office/drawing/2014/main" id="{07D1AB75-178B-BA51-D435-3D68359F7445}"/>
                </a:ext>
              </a:extLst>
            </p:cNvPr>
            <p:cNvCxnSpPr>
              <a:cxnSpLocks/>
            </p:cNvCxnSpPr>
            <p:nvPr/>
          </p:nvCxnSpPr>
          <p:spPr>
            <a:xfrm>
              <a:off x="431225" y="4012278"/>
              <a:ext cx="24882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75;p131">
              <a:extLst>
                <a:ext uri="{FF2B5EF4-FFF2-40B4-BE49-F238E27FC236}">
                  <a16:creationId xmlns:a16="http://schemas.microsoft.com/office/drawing/2014/main" id="{8C6EF3AF-2775-61D0-4603-396068F4732A}"/>
                </a:ext>
              </a:extLst>
            </p:cNvPr>
            <p:cNvCxnSpPr>
              <a:cxnSpLocks/>
            </p:cNvCxnSpPr>
            <p:nvPr/>
          </p:nvCxnSpPr>
          <p:spPr>
            <a:xfrm>
              <a:off x="448950" y="2386825"/>
              <a:ext cx="16071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976;p131">
              <a:extLst>
                <a:ext uri="{FF2B5EF4-FFF2-40B4-BE49-F238E27FC236}">
                  <a16:creationId xmlns:a16="http://schemas.microsoft.com/office/drawing/2014/main" id="{20D60B33-8CA9-75BD-A112-2EDA3B1CB00C}"/>
                </a:ext>
              </a:extLst>
            </p:cNvPr>
            <p:cNvSpPr txBox="1"/>
            <p:nvPr/>
          </p:nvSpPr>
          <p:spPr>
            <a:xfrm>
              <a:off x="186006" y="3778253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0</a:t>
              </a:r>
              <a:endParaRPr dirty="0"/>
            </a:p>
          </p:txBody>
        </p:sp>
        <p:sp>
          <p:nvSpPr>
            <p:cNvPr id="17" name="Google Shape;977;p131">
              <a:extLst>
                <a:ext uri="{FF2B5EF4-FFF2-40B4-BE49-F238E27FC236}">
                  <a16:creationId xmlns:a16="http://schemas.microsoft.com/office/drawing/2014/main" id="{B03FB2D4-DA09-E36E-227B-E5BB70376286}"/>
                </a:ext>
              </a:extLst>
            </p:cNvPr>
            <p:cNvSpPr txBox="1"/>
            <p:nvPr/>
          </p:nvSpPr>
          <p:spPr>
            <a:xfrm>
              <a:off x="206749" y="2186725"/>
              <a:ext cx="24882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1</a:t>
              </a:r>
              <a:endParaRPr/>
            </a:p>
          </p:txBody>
        </p:sp>
        <p:sp>
          <p:nvSpPr>
            <p:cNvPr id="18" name="Google Shape;978;p131">
              <a:extLst>
                <a:ext uri="{FF2B5EF4-FFF2-40B4-BE49-F238E27FC236}">
                  <a16:creationId xmlns:a16="http://schemas.microsoft.com/office/drawing/2014/main" id="{BB0D6DF6-48CE-2B87-C5C0-9FC9C539A2DA}"/>
                </a:ext>
              </a:extLst>
            </p:cNvPr>
            <p:cNvSpPr/>
            <p:nvPr/>
          </p:nvSpPr>
          <p:spPr>
            <a:xfrm>
              <a:off x="697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79;p131">
              <a:extLst>
                <a:ext uri="{FF2B5EF4-FFF2-40B4-BE49-F238E27FC236}">
                  <a16:creationId xmlns:a16="http://schemas.microsoft.com/office/drawing/2014/main" id="{2EA19DF7-3F75-2E43-AF05-9DBB589E7C73}"/>
                </a:ext>
              </a:extLst>
            </p:cNvPr>
            <p:cNvSpPr/>
            <p:nvPr/>
          </p:nvSpPr>
          <p:spPr>
            <a:xfrm>
              <a:off x="2898588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0;p131">
              <a:extLst>
                <a:ext uri="{FF2B5EF4-FFF2-40B4-BE49-F238E27FC236}">
                  <a16:creationId xmlns:a16="http://schemas.microsoft.com/office/drawing/2014/main" id="{73067A82-7F04-D106-2B9A-7153A26B6DEE}"/>
                </a:ext>
              </a:extLst>
            </p:cNvPr>
            <p:cNvSpPr/>
            <p:nvPr/>
          </p:nvSpPr>
          <p:spPr>
            <a:xfrm>
              <a:off x="2632346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1;p131">
              <a:extLst>
                <a:ext uri="{FF2B5EF4-FFF2-40B4-BE49-F238E27FC236}">
                  <a16:creationId xmlns:a16="http://schemas.microsoft.com/office/drawing/2014/main" id="{009CB5CD-D47F-A7BD-3809-29F8D64F210B}"/>
                </a:ext>
              </a:extLst>
            </p:cNvPr>
            <p:cNvSpPr/>
            <p:nvPr/>
          </p:nvSpPr>
          <p:spPr>
            <a:xfrm>
              <a:off x="11542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2;p131">
              <a:extLst>
                <a:ext uri="{FF2B5EF4-FFF2-40B4-BE49-F238E27FC236}">
                  <a16:creationId xmlns:a16="http://schemas.microsoft.com/office/drawing/2014/main" id="{EA68A1A9-478A-590E-565D-1364D9908FDC}"/>
                </a:ext>
              </a:extLst>
            </p:cNvPr>
            <p:cNvSpPr/>
            <p:nvPr/>
          </p:nvSpPr>
          <p:spPr>
            <a:xfrm>
              <a:off x="1306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3;p131">
              <a:extLst>
                <a:ext uri="{FF2B5EF4-FFF2-40B4-BE49-F238E27FC236}">
                  <a16:creationId xmlns:a16="http://schemas.microsoft.com/office/drawing/2014/main" id="{8EB127B6-C520-634F-80FF-0F8F6A494D74}"/>
                </a:ext>
              </a:extLst>
            </p:cNvPr>
            <p:cNvSpPr/>
            <p:nvPr/>
          </p:nvSpPr>
          <p:spPr>
            <a:xfrm>
              <a:off x="1459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4;p131">
              <a:extLst>
                <a:ext uri="{FF2B5EF4-FFF2-40B4-BE49-F238E27FC236}">
                  <a16:creationId xmlns:a16="http://schemas.microsoft.com/office/drawing/2014/main" id="{03F176D6-CC53-97E0-A460-14048CE27986}"/>
                </a:ext>
              </a:extLst>
            </p:cNvPr>
            <p:cNvSpPr/>
            <p:nvPr/>
          </p:nvSpPr>
          <p:spPr>
            <a:xfrm>
              <a:off x="16114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5;p131">
              <a:extLst>
                <a:ext uri="{FF2B5EF4-FFF2-40B4-BE49-F238E27FC236}">
                  <a16:creationId xmlns:a16="http://schemas.microsoft.com/office/drawing/2014/main" id="{AB139A8C-74FA-C6FE-4139-2B75B05AFCAF}"/>
                </a:ext>
              </a:extLst>
            </p:cNvPr>
            <p:cNvSpPr/>
            <p:nvPr/>
          </p:nvSpPr>
          <p:spPr>
            <a:xfrm>
              <a:off x="17638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6;p131">
              <a:extLst>
                <a:ext uri="{FF2B5EF4-FFF2-40B4-BE49-F238E27FC236}">
                  <a16:creationId xmlns:a16="http://schemas.microsoft.com/office/drawing/2014/main" id="{EAE9D5B1-77E5-A97F-1643-A28E622A9937}"/>
                </a:ext>
              </a:extLst>
            </p:cNvPr>
            <p:cNvSpPr/>
            <p:nvPr/>
          </p:nvSpPr>
          <p:spPr>
            <a:xfrm>
              <a:off x="19162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;p131">
              <a:extLst>
                <a:ext uri="{FF2B5EF4-FFF2-40B4-BE49-F238E27FC236}">
                  <a16:creationId xmlns:a16="http://schemas.microsoft.com/office/drawing/2014/main" id="{0598BB07-13A2-7CB5-4FF6-EFCCC04404FA}"/>
                </a:ext>
              </a:extLst>
            </p:cNvPr>
            <p:cNvSpPr/>
            <p:nvPr/>
          </p:nvSpPr>
          <p:spPr>
            <a:xfrm>
              <a:off x="925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8;p131">
              <a:extLst>
                <a:ext uri="{FF2B5EF4-FFF2-40B4-BE49-F238E27FC236}">
                  <a16:creationId xmlns:a16="http://schemas.microsoft.com/office/drawing/2014/main" id="{1A4B99E2-19EA-2410-09DE-BBB8A5CC373F}"/>
                </a:ext>
              </a:extLst>
            </p:cNvPr>
            <p:cNvSpPr/>
            <p:nvPr/>
          </p:nvSpPr>
          <p:spPr>
            <a:xfrm>
              <a:off x="10780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9;p131">
              <a:extLst>
                <a:ext uri="{FF2B5EF4-FFF2-40B4-BE49-F238E27FC236}">
                  <a16:creationId xmlns:a16="http://schemas.microsoft.com/office/drawing/2014/main" id="{DF91CFCF-CDC1-2FAF-8878-3B170B9B5175}"/>
                </a:ext>
              </a:extLst>
            </p:cNvPr>
            <p:cNvSpPr/>
            <p:nvPr/>
          </p:nvSpPr>
          <p:spPr>
            <a:xfrm>
              <a:off x="2398237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90;p131">
              <a:extLst>
                <a:ext uri="{FF2B5EF4-FFF2-40B4-BE49-F238E27FC236}">
                  <a16:creationId xmlns:a16="http://schemas.microsoft.com/office/drawing/2014/main" id="{CF0FD610-682A-8F8F-7E46-805C7E60BD05}"/>
                </a:ext>
              </a:extLst>
            </p:cNvPr>
            <p:cNvSpPr/>
            <p:nvPr/>
          </p:nvSpPr>
          <p:spPr>
            <a:xfrm>
              <a:off x="13828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91;p131">
              <a:extLst>
                <a:ext uri="{FF2B5EF4-FFF2-40B4-BE49-F238E27FC236}">
                  <a16:creationId xmlns:a16="http://schemas.microsoft.com/office/drawing/2014/main" id="{96B2820F-7724-80AE-6CDE-E3CF34F22E1B}"/>
                </a:ext>
              </a:extLst>
            </p:cNvPr>
            <p:cNvSpPr/>
            <p:nvPr/>
          </p:nvSpPr>
          <p:spPr>
            <a:xfrm>
              <a:off x="2482701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92;p131">
              <a:extLst>
                <a:ext uri="{FF2B5EF4-FFF2-40B4-BE49-F238E27FC236}">
                  <a16:creationId xmlns:a16="http://schemas.microsoft.com/office/drawing/2014/main" id="{86DDA6F7-A9F5-4FB9-ECAD-EF48D49AF34A}"/>
                </a:ext>
              </a:extLst>
            </p:cNvPr>
            <p:cNvSpPr/>
            <p:nvPr/>
          </p:nvSpPr>
          <p:spPr>
            <a:xfrm>
              <a:off x="1687649" y="3982752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93;p131">
              <a:extLst>
                <a:ext uri="{FF2B5EF4-FFF2-40B4-BE49-F238E27FC236}">
                  <a16:creationId xmlns:a16="http://schemas.microsoft.com/office/drawing/2014/main" id="{535C9470-F439-FAFB-D7C4-CCCB1E75439D}"/>
                </a:ext>
              </a:extLst>
            </p:cNvPr>
            <p:cNvSpPr/>
            <p:nvPr/>
          </p:nvSpPr>
          <p:spPr>
            <a:xfrm>
              <a:off x="500923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94;p131">
              <a:extLst>
                <a:ext uri="{FF2B5EF4-FFF2-40B4-BE49-F238E27FC236}">
                  <a16:creationId xmlns:a16="http://schemas.microsoft.com/office/drawing/2014/main" id="{73B1BA79-87FC-9388-0E40-67BD5368223E}"/>
                </a:ext>
              </a:extLst>
            </p:cNvPr>
            <p:cNvSpPr/>
            <p:nvPr/>
          </p:nvSpPr>
          <p:spPr>
            <a:xfrm>
              <a:off x="2892160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95;p131">
              <a:extLst>
                <a:ext uri="{FF2B5EF4-FFF2-40B4-BE49-F238E27FC236}">
                  <a16:creationId xmlns:a16="http://schemas.microsoft.com/office/drawing/2014/main" id="{EE536C12-C646-A3AC-96F9-4DB9727E5985}"/>
                </a:ext>
              </a:extLst>
            </p:cNvPr>
            <p:cNvSpPr/>
            <p:nvPr/>
          </p:nvSpPr>
          <p:spPr>
            <a:xfrm>
              <a:off x="4774210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96;p131">
              <a:extLst>
                <a:ext uri="{FF2B5EF4-FFF2-40B4-BE49-F238E27FC236}">
                  <a16:creationId xmlns:a16="http://schemas.microsoft.com/office/drawing/2014/main" id="{527CD647-884F-368A-5E19-E23C6AE211BE}"/>
                </a:ext>
              </a:extLst>
            </p:cNvPr>
            <p:cNvSpPr/>
            <p:nvPr/>
          </p:nvSpPr>
          <p:spPr>
            <a:xfrm>
              <a:off x="2602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97;p131">
              <a:extLst>
                <a:ext uri="{FF2B5EF4-FFF2-40B4-BE49-F238E27FC236}">
                  <a16:creationId xmlns:a16="http://schemas.microsoft.com/office/drawing/2014/main" id="{9B84052A-55BE-5139-F80C-DDCD0883313F}"/>
                </a:ext>
              </a:extLst>
            </p:cNvPr>
            <p:cNvSpPr/>
            <p:nvPr/>
          </p:nvSpPr>
          <p:spPr>
            <a:xfrm>
              <a:off x="2754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8;p131">
              <a:extLst>
                <a:ext uri="{FF2B5EF4-FFF2-40B4-BE49-F238E27FC236}">
                  <a16:creationId xmlns:a16="http://schemas.microsoft.com/office/drawing/2014/main" id="{47D25DC5-ABD1-BE55-47D0-9322A3D796DE}"/>
                </a:ext>
              </a:extLst>
            </p:cNvPr>
            <p:cNvSpPr/>
            <p:nvPr/>
          </p:nvSpPr>
          <p:spPr>
            <a:xfrm>
              <a:off x="435005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99;p131">
              <a:extLst>
                <a:ext uri="{FF2B5EF4-FFF2-40B4-BE49-F238E27FC236}">
                  <a16:creationId xmlns:a16="http://schemas.microsoft.com/office/drawing/2014/main" id="{67AC9DE6-3075-D830-F19B-2102F6AF71A6}"/>
                </a:ext>
              </a:extLst>
            </p:cNvPr>
            <p:cNvSpPr/>
            <p:nvPr/>
          </p:nvSpPr>
          <p:spPr>
            <a:xfrm>
              <a:off x="30592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00;p131">
              <a:extLst>
                <a:ext uri="{FF2B5EF4-FFF2-40B4-BE49-F238E27FC236}">
                  <a16:creationId xmlns:a16="http://schemas.microsoft.com/office/drawing/2014/main" id="{3FCA4AA2-F7DD-60AD-FAD7-92AC15E2793B}"/>
                </a:ext>
              </a:extLst>
            </p:cNvPr>
            <p:cNvSpPr/>
            <p:nvPr/>
          </p:nvSpPr>
          <p:spPr>
            <a:xfrm>
              <a:off x="3211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01;p131">
              <a:extLst>
                <a:ext uri="{FF2B5EF4-FFF2-40B4-BE49-F238E27FC236}">
                  <a16:creationId xmlns:a16="http://schemas.microsoft.com/office/drawing/2014/main" id="{905FD15B-7D03-7B77-A7CE-9379E7DEB23F}"/>
                </a:ext>
              </a:extLst>
            </p:cNvPr>
            <p:cNvSpPr/>
            <p:nvPr/>
          </p:nvSpPr>
          <p:spPr>
            <a:xfrm>
              <a:off x="3364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02;p131">
              <a:extLst>
                <a:ext uri="{FF2B5EF4-FFF2-40B4-BE49-F238E27FC236}">
                  <a16:creationId xmlns:a16="http://schemas.microsoft.com/office/drawing/2014/main" id="{14BE6F0B-37B0-7FC4-C500-C6F1405A1DFB}"/>
                </a:ext>
              </a:extLst>
            </p:cNvPr>
            <p:cNvSpPr/>
            <p:nvPr/>
          </p:nvSpPr>
          <p:spPr>
            <a:xfrm>
              <a:off x="4189398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3;p131">
              <a:extLst>
                <a:ext uri="{FF2B5EF4-FFF2-40B4-BE49-F238E27FC236}">
                  <a16:creationId xmlns:a16="http://schemas.microsoft.com/office/drawing/2014/main" id="{1465C63D-64D6-AA92-DBF0-1406CEE9F194}"/>
                </a:ext>
              </a:extLst>
            </p:cNvPr>
            <p:cNvSpPr/>
            <p:nvPr/>
          </p:nvSpPr>
          <p:spPr>
            <a:xfrm>
              <a:off x="4518068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04;p131">
              <a:extLst>
                <a:ext uri="{FF2B5EF4-FFF2-40B4-BE49-F238E27FC236}">
                  <a16:creationId xmlns:a16="http://schemas.microsoft.com/office/drawing/2014/main" id="{86FF1003-1EEE-3E54-E989-8504BB191E43}"/>
                </a:ext>
              </a:extLst>
            </p:cNvPr>
            <p:cNvSpPr/>
            <p:nvPr/>
          </p:nvSpPr>
          <p:spPr>
            <a:xfrm>
              <a:off x="2830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05;p131">
              <a:extLst>
                <a:ext uri="{FF2B5EF4-FFF2-40B4-BE49-F238E27FC236}">
                  <a16:creationId xmlns:a16="http://schemas.microsoft.com/office/drawing/2014/main" id="{FEBFB365-1EDD-8329-172C-3121FEF1C6DA}"/>
                </a:ext>
              </a:extLst>
            </p:cNvPr>
            <p:cNvSpPr/>
            <p:nvPr/>
          </p:nvSpPr>
          <p:spPr>
            <a:xfrm>
              <a:off x="2983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6;p131">
              <a:extLst>
                <a:ext uri="{FF2B5EF4-FFF2-40B4-BE49-F238E27FC236}">
                  <a16:creationId xmlns:a16="http://schemas.microsoft.com/office/drawing/2014/main" id="{8F0A0731-1A9C-0B58-A073-0A392F1F5D08}"/>
                </a:ext>
              </a:extLst>
            </p:cNvPr>
            <p:cNvSpPr/>
            <p:nvPr/>
          </p:nvSpPr>
          <p:spPr>
            <a:xfrm>
              <a:off x="3135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07;p131">
              <a:extLst>
                <a:ext uri="{FF2B5EF4-FFF2-40B4-BE49-F238E27FC236}">
                  <a16:creationId xmlns:a16="http://schemas.microsoft.com/office/drawing/2014/main" id="{BD97A61F-8D10-131B-0ED7-8B23357857DC}"/>
                </a:ext>
              </a:extLst>
            </p:cNvPr>
            <p:cNvSpPr/>
            <p:nvPr/>
          </p:nvSpPr>
          <p:spPr>
            <a:xfrm>
              <a:off x="32878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8;p131">
              <a:extLst>
                <a:ext uri="{FF2B5EF4-FFF2-40B4-BE49-F238E27FC236}">
                  <a16:creationId xmlns:a16="http://schemas.microsoft.com/office/drawing/2014/main" id="{EEC59FA7-1A27-A805-65E4-2A713AB8BFC2}"/>
                </a:ext>
              </a:extLst>
            </p:cNvPr>
            <p:cNvSpPr/>
            <p:nvPr/>
          </p:nvSpPr>
          <p:spPr>
            <a:xfrm>
              <a:off x="34402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09;p131">
              <a:extLst>
                <a:ext uri="{FF2B5EF4-FFF2-40B4-BE49-F238E27FC236}">
                  <a16:creationId xmlns:a16="http://schemas.microsoft.com/office/drawing/2014/main" id="{5DDD436F-3EF3-00CE-2C54-290103B0C644}"/>
                </a:ext>
              </a:extLst>
            </p:cNvPr>
            <p:cNvSpPr/>
            <p:nvPr/>
          </p:nvSpPr>
          <p:spPr>
            <a:xfrm>
              <a:off x="35926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0;p131">
              <a:extLst>
                <a:ext uri="{FF2B5EF4-FFF2-40B4-BE49-F238E27FC236}">
                  <a16:creationId xmlns:a16="http://schemas.microsoft.com/office/drawing/2014/main" id="{528C156D-0658-6B9A-D540-16097632AA5C}"/>
                </a:ext>
              </a:extLst>
            </p:cNvPr>
            <p:cNvSpPr/>
            <p:nvPr/>
          </p:nvSpPr>
          <p:spPr>
            <a:xfrm>
              <a:off x="37450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1;p131">
              <a:extLst>
                <a:ext uri="{FF2B5EF4-FFF2-40B4-BE49-F238E27FC236}">
                  <a16:creationId xmlns:a16="http://schemas.microsoft.com/office/drawing/2014/main" id="{1374795D-02A0-7615-FC2D-09317A8D78EC}"/>
                </a:ext>
              </a:extLst>
            </p:cNvPr>
            <p:cNvSpPr/>
            <p:nvPr/>
          </p:nvSpPr>
          <p:spPr>
            <a:xfrm>
              <a:off x="38974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2;p131">
              <a:extLst>
                <a:ext uri="{FF2B5EF4-FFF2-40B4-BE49-F238E27FC236}">
                  <a16:creationId xmlns:a16="http://schemas.microsoft.com/office/drawing/2014/main" id="{A2064E1D-808A-0A59-C606-FCF5F777576D}"/>
                </a:ext>
              </a:extLst>
            </p:cNvPr>
            <p:cNvSpPr/>
            <p:nvPr/>
          </p:nvSpPr>
          <p:spPr>
            <a:xfrm>
              <a:off x="4049849" y="2276974"/>
              <a:ext cx="80359" cy="103477"/>
            </a:xfrm>
            <a:prstGeom prst="flowChartConnector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6;p131">
              <a:extLst>
                <a:ext uri="{FF2B5EF4-FFF2-40B4-BE49-F238E27FC236}">
                  <a16:creationId xmlns:a16="http://schemas.microsoft.com/office/drawing/2014/main" id="{51B2EDE7-F437-B2F3-D770-250CD04009F6}"/>
                </a:ext>
              </a:extLst>
            </p:cNvPr>
            <p:cNvSpPr txBox="1"/>
            <p:nvPr/>
          </p:nvSpPr>
          <p:spPr>
            <a:xfrm>
              <a:off x="2853170" y="4344015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x0</a:t>
              </a:r>
              <a:endParaRPr dirty="0"/>
            </a:p>
          </p:txBody>
        </p:sp>
        <p:sp>
          <p:nvSpPr>
            <p:cNvPr id="54" name="Google Shape;1017;p131">
              <a:extLst>
                <a:ext uri="{FF2B5EF4-FFF2-40B4-BE49-F238E27FC236}">
                  <a16:creationId xmlns:a16="http://schemas.microsoft.com/office/drawing/2014/main" id="{BDC4E97C-DE64-A5F2-8CAB-55313E388376}"/>
                </a:ext>
              </a:extLst>
            </p:cNvPr>
            <p:cNvSpPr txBox="1"/>
            <p:nvPr/>
          </p:nvSpPr>
          <p:spPr>
            <a:xfrm>
              <a:off x="185567" y="3061770"/>
              <a:ext cx="64491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/>
                <a:t>y</a:t>
              </a:r>
              <a:endParaRPr dirty="0"/>
            </a:p>
          </p:txBody>
        </p:sp>
        <p:sp>
          <p:nvSpPr>
            <p:cNvPr id="55" name="Google Shape;990;p131">
              <a:extLst>
                <a:ext uri="{FF2B5EF4-FFF2-40B4-BE49-F238E27FC236}">
                  <a16:creationId xmlns:a16="http://schemas.microsoft.com/office/drawing/2014/main" id="{68CAE8BE-07A4-E3CB-8B2B-D802C8637EA7}"/>
                </a:ext>
              </a:extLst>
            </p:cNvPr>
            <p:cNvSpPr/>
            <p:nvPr/>
          </p:nvSpPr>
          <p:spPr>
            <a:xfrm>
              <a:off x="2240328" y="3980915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82;p131">
              <a:extLst>
                <a:ext uri="{FF2B5EF4-FFF2-40B4-BE49-F238E27FC236}">
                  <a16:creationId xmlns:a16="http://schemas.microsoft.com/office/drawing/2014/main" id="{C443B268-CBA5-EC61-17AF-B4F6EB6743DD}"/>
                </a:ext>
              </a:extLst>
            </p:cNvPr>
            <p:cNvSpPr/>
            <p:nvPr/>
          </p:nvSpPr>
          <p:spPr>
            <a:xfrm>
              <a:off x="2064974" y="3991933"/>
              <a:ext cx="80359" cy="103477"/>
            </a:xfrm>
            <a:prstGeom prst="flowChartConnector">
              <a:avLst/>
            </a:prstGeom>
            <a:solidFill>
              <a:srgbClr val="351C7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49EB11-B4EA-CFD6-B324-0417B2C41747}"/>
              </a:ext>
            </a:extLst>
          </p:cNvPr>
          <p:cNvCxnSpPr/>
          <p:nvPr/>
        </p:nvCxnSpPr>
        <p:spPr>
          <a:xfrm flipV="1">
            <a:off x="3134058" y="3226657"/>
            <a:ext cx="4409544" cy="207032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4790301-912B-6C96-728A-1EA5B9411668}"/>
              </a:ext>
            </a:extLst>
          </p:cNvPr>
          <p:cNvCxnSpPr>
            <a:cxnSpLocks/>
          </p:cNvCxnSpPr>
          <p:nvPr/>
        </p:nvCxnSpPr>
        <p:spPr>
          <a:xfrm flipH="1">
            <a:off x="2902954" y="4349782"/>
            <a:ext cx="521591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E4BFFAA-9F5B-BF91-B057-F802E6E89081}"/>
              </a:ext>
            </a:extLst>
          </p:cNvPr>
          <p:cNvSpPr txBox="1"/>
          <p:nvPr/>
        </p:nvSpPr>
        <p:spPr>
          <a:xfrm>
            <a:off x="8112445" y="417879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319DB57-F644-E934-8AA2-3A964B42F46A}"/>
              </a:ext>
            </a:extLst>
          </p:cNvPr>
          <p:cNvSpPr/>
          <p:nvPr/>
        </p:nvSpPr>
        <p:spPr>
          <a:xfrm>
            <a:off x="2294023" y="3529263"/>
            <a:ext cx="5479299" cy="1733244"/>
          </a:xfrm>
          <a:custGeom>
            <a:avLst/>
            <a:gdLst>
              <a:gd name="connsiteX0" fmla="*/ 0 w 3946420"/>
              <a:gd name="connsiteY0" fmla="*/ 1716505 h 1733244"/>
              <a:gd name="connsiteX1" fmla="*/ 304800 w 3946420"/>
              <a:gd name="connsiteY1" fmla="*/ 1716505 h 1733244"/>
              <a:gd name="connsiteX2" fmla="*/ 368969 w 3946420"/>
              <a:gd name="connsiteY2" fmla="*/ 1700463 h 1733244"/>
              <a:gd name="connsiteX3" fmla="*/ 513348 w 3946420"/>
              <a:gd name="connsiteY3" fmla="*/ 1668379 h 1733244"/>
              <a:gd name="connsiteX4" fmla="*/ 641684 w 3946420"/>
              <a:gd name="connsiteY4" fmla="*/ 1636295 h 1733244"/>
              <a:gd name="connsiteX5" fmla="*/ 834190 w 3946420"/>
              <a:gd name="connsiteY5" fmla="*/ 1620253 h 1733244"/>
              <a:gd name="connsiteX6" fmla="*/ 1042737 w 3946420"/>
              <a:gd name="connsiteY6" fmla="*/ 1572126 h 1733244"/>
              <a:gd name="connsiteX7" fmla="*/ 1090863 w 3946420"/>
              <a:gd name="connsiteY7" fmla="*/ 1556084 h 1733244"/>
              <a:gd name="connsiteX8" fmla="*/ 1251284 w 3946420"/>
              <a:gd name="connsiteY8" fmla="*/ 1475874 h 1733244"/>
              <a:gd name="connsiteX9" fmla="*/ 1299411 w 3946420"/>
              <a:gd name="connsiteY9" fmla="*/ 1443790 h 1733244"/>
              <a:gd name="connsiteX10" fmla="*/ 1347537 w 3946420"/>
              <a:gd name="connsiteY10" fmla="*/ 1427748 h 1733244"/>
              <a:gd name="connsiteX11" fmla="*/ 1379621 w 3946420"/>
              <a:gd name="connsiteY11" fmla="*/ 1395663 h 1733244"/>
              <a:gd name="connsiteX12" fmla="*/ 1475874 w 3946420"/>
              <a:gd name="connsiteY12" fmla="*/ 1331495 h 1733244"/>
              <a:gd name="connsiteX13" fmla="*/ 1524000 w 3946420"/>
              <a:gd name="connsiteY13" fmla="*/ 1299411 h 1733244"/>
              <a:gd name="connsiteX14" fmla="*/ 1556084 w 3946420"/>
              <a:gd name="connsiteY14" fmla="*/ 1267326 h 1733244"/>
              <a:gd name="connsiteX15" fmla="*/ 1604211 w 3946420"/>
              <a:gd name="connsiteY15" fmla="*/ 1251284 h 1733244"/>
              <a:gd name="connsiteX16" fmla="*/ 1700463 w 3946420"/>
              <a:gd name="connsiteY16" fmla="*/ 1155032 h 1733244"/>
              <a:gd name="connsiteX17" fmla="*/ 1780674 w 3946420"/>
              <a:gd name="connsiteY17" fmla="*/ 1042737 h 1733244"/>
              <a:gd name="connsiteX18" fmla="*/ 1909011 w 3946420"/>
              <a:gd name="connsiteY18" fmla="*/ 946484 h 1733244"/>
              <a:gd name="connsiteX19" fmla="*/ 1973179 w 3946420"/>
              <a:gd name="connsiteY19" fmla="*/ 850232 h 1733244"/>
              <a:gd name="connsiteX20" fmla="*/ 2053390 w 3946420"/>
              <a:gd name="connsiteY20" fmla="*/ 753979 h 1733244"/>
              <a:gd name="connsiteX21" fmla="*/ 2101516 w 3946420"/>
              <a:gd name="connsiteY21" fmla="*/ 705853 h 1733244"/>
              <a:gd name="connsiteX22" fmla="*/ 2181726 w 3946420"/>
              <a:gd name="connsiteY22" fmla="*/ 625642 h 1733244"/>
              <a:gd name="connsiteX23" fmla="*/ 2245895 w 3946420"/>
              <a:gd name="connsiteY23" fmla="*/ 529390 h 1733244"/>
              <a:gd name="connsiteX24" fmla="*/ 2277979 w 3946420"/>
              <a:gd name="connsiteY24" fmla="*/ 481263 h 1733244"/>
              <a:gd name="connsiteX25" fmla="*/ 2374232 w 3946420"/>
              <a:gd name="connsiteY25" fmla="*/ 401053 h 1733244"/>
              <a:gd name="connsiteX26" fmla="*/ 2454442 w 3946420"/>
              <a:gd name="connsiteY26" fmla="*/ 304800 h 1733244"/>
              <a:gd name="connsiteX27" fmla="*/ 2502569 w 3946420"/>
              <a:gd name="connsiteY27" fmla="*/ 272716 h 1733244"/>
              <a:gd name="connsiteX28" fmla="*/ 2646948 w 3946420"/>
              <a:gd name="connsiteY28" fmla="*/ 160421 h 1733244"/>
              <a:gd name="connsiteX29" fmla="*/ 2839453 w 3946420"/>
              <a:gd name="connsiteY29" fmla="*/ 96253 h 1733244"/>
              <a:gd name="connsiteX30" fmla="*/ 2887579 w 3946420"/>
              <a:gd name="connsiteY30" fmla="*/ 80211 h 1733244"/>
              <a:gd name="connsiteX31" fmla="*/ 2935705 w 3946420"/>
              <a:gd name="connsiteY31" fmla="*/ 64169 h 1733244"/>
              <a:gd name="connsiteX32" fmla="*/ 3080084 w 3946420"/>
              <a:gd name="connsiteY32" fmla="*/ 32084 h 1733244"/>
              <a:gd name="connsiteX33" fmla="*/ 3240505 w 3946420"/>
              <a:gd name="connsiteY33" fmla="*/ 0 h 1733244"/>
              <a:gd name="connsiteX34" fmla="*/ 3914274 w 3946420"/>
              <a:gd name="connsiteY34" fmla="*/ 16042 h 1733244"/>
              <a:gd name="connsiteX35" fmla="*/ 3946358 w 3946420"/>
              <a:gd name="connsiteY35" fmla="*/ 80211 h 173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946420" h="1733244">
                <a:moveTo>
                  <a:pt x="0" y="1716505"/>
                </a:moveTo>
                <a:cubicBezTo>
                  <a:pt x="160647" y="1736587"/>
                  <a:pt x="121429" y="1740955"/>
                  <a:pt x="304800" y="1716505"/>
                </a:cubicBezTo>
                <a:cubicBezTo>
                  <a:pt x="326655" y="1713591"/>
                  <a:pt x="347446" y="1705246"/>
                  <a:pt x="368969" y="1700463"/>
                </a:cubicBezTo>
                <a:cubicBezTo>
                  <a:pt x="443395" y="1683924"/>
                  <a:pt x="444886" y="1687939"/>
                  <a:pt x="513348" y="1668379"/>
                </a:cubicBezTo>
                <a:cubicBezTo>
                  <a:pt x="578893" y="1649652"/>
                  <a:pt x="558515" y="1646080"/>
                  <a:pt x="641684" y="1636295"/>
                </a:cubicBezTo>
                <a:cubicBezTo>
                  <a:pt x="705634" y="1628772"/>
                  <a:pt x="770021" y="1625600"/>
                  <a:pt x="834190" y="1620253"/>
                </a:cubicBezTo>
                <a:cubicBezTo>
                  <a:pt x="897823" y="1607526"/>
                  <a:pt x="984684" y="1591477"/>
                  <a:pt x="1042737" y="1572126"/>
                </a:cubicBezTo>
                <a:cubicBezTo>
                  <a:pt x="1058779" y="1566779"/>
                  <a:pt x="1076081" y="1564296"/>
                  <a:pt x="1090863" y="1556084"/>
                </a:cubicBezTo>
                <a:cubicBezTo>
                  <a:pt x="1247132" y="1469268"/>
                  <a:pt x="1125881" y="1507225"/>
                  <a:pt x="1251284" y="1475874"/>
                </a:cubicBezTo>
                <a:cubicBezTo>
                  <a:pt x="1267326" y="1465179"/>
                  <a:pt x="1282166" y="1452412"/>
                  <a:pt x="1299411" y="1443790"/>
                </a:cubicBezTo>
                <a:cubicBezTo>
                  <a:pt x="1314536" y="1436228"/>
                  <a:pt x="1333037" y="1436448"/>
                  <a:pt x="1347537" y="1427748"/>
                </a:cubicBezTo>
                <a:cubicBezTo>
                  <a:pt x="1360506" y="1419966"/>
                  <a:pt x="1367521" y="1404738"/>
                  <a:pt x="1379621" y="1395663"/>
                </a:cubicBezTo>
                <a:cubicBezTo>
                  <a:pt x="1410469" y="1372527"/>
                  <a:pt x="1443790" y="1352884"/>
                  <a:pt x="1475874" y="1331495"/>
                </a:cubicBezTo>
                <a:cubicBezTo>
                  <a:pt x="1491916" y="1320800"/>
                  <a:pt x="1510367" y="1313044"/>
                  <a:pt x="1524000" y="1299411"/>
                </a:cubicBezTo>
                <a:cubicBezTo>
                  <a:pt x="1534695" y="1288716"/>
                  <a:pt x="1543115" y="1275108"/>
                  <a:pt x="1556084" y="1267326"/>
                </a:cubicBezTo>
                <a:cubicBezTo>
                  <a:pt x="1570584" y="1258626"/>
                  <a:pt x="1588169" y="1256631"/>
                  <a:pt x="1604211" y="1251284"/>
                </a:cubicBezTo>
                <a:cubicBezTo>
                  <a:pt x="1636295" y="1219200"/>
                  <a:pt x="1675294" y="1192785"/>
                  <a:pt x="1700463" y="1155032"/>
                </a:cubicBezTo>
                <a:cubicBezTo>
                  <a:pt x="1716071" y="1131620"/>
                  <a:pt x="1764395" y="1057207"/>
                  <a:pt x="1780674" y="1042737"/>
                </a:cubicBezTo>
                <a:cubicBezTo>
                  <a:pt x="1830446" y="998495"/>
                  <a:pt x="1872828" y="994728"/>
                  <a:pt x="1909011" y="946484"/>
                </a:cubicBezTo>
                <a:cubicBezTo>
                  <a:pt x="1932147" y="915636"/>
                  <a:pt x="1945913" y="877498"/>
                  <a:pt x="1973179" y="850232"/>
                </a:cubicBezTo>
                <a:cubicBezTo>
                  <a:pt x="2113788" y="709620"/>
                  <a:pt x="1941711" y="887993"/>
                  <a:pt x="2053390" y="753979"/>
                </a:cubicBezTo>
                <a:cubicBezTo>
                  <a:pt x="2067914" y="736551"/>
                  <a:pt x="2086992" y="723282"/>
                  <a:pt x="2101516" y="705853"/>
                </a:cubicBezTo>
                <a:cubicBezTo>
                  <a:pt x="2168358" y="625641"/>
                  <a:pt x="2093494" y="684463"/>
                  <a:pt x="2181726" y="625642"/>
                </a:cubicBezTo>
                <a:lnTo>
                  <a:pt x="2245895" y="529390"/>
                </a:lnTo>
                <a:cubicBezTo>
                  <a:pt x="2256590" y="513348"/>
                  <a:pt x="2264346" y="494896"/>
                  <a:pt x="2277979" y="481263"/>
                </a:cubicBezTo>
                <a:cubicBezTo>
                  <a:pt x="2418588" y="340654"/>
                  <a:pt x="2240218" y="512732"/>
                  <a:pt x="2374232" y="401053"/>
                </a:cubicBezTo>
                <a:cubicBezTo>
                  <a:pt x="2531923" y="269644"/>
                  <a:pt x="2328248" y="430992"/>
                  <a:pt x="2454442" y="304800"/>
                </a:cubicBezTo>
                <a:cubicBezTo>
                  <a:pt x="2468075" y="291167"/>
                  <a:pt x="2487757" y="285059"/>
                  <a:pt x="2502569" y="272716"/>
                </a:cubicBezTo>
                <a:cubicBezTo>
                  <a:pt x="2557936" y="226577"/>
                  <a:pt x="2565856" y="187452"/>
                  <a:pt x="2646948" y="160421"/>
                </a:cubicBezTo>
                <a:lnTo>
                  <a:pt x="2839453" y="96253"/>
                </a:lnTo>
                <a:lnTo>
                  <a:pt x="2887579" y="80211"/>
                </a:lnTo>
                <a:cubicBezTo>
                  <a:pt x="2903621" y="74864"/>
                  <a:pt x="2919300" y="68270"/>
                  <a:pt x="2935705" y="64169"/>
                </a:cubicBezTo>
                <a:cubicBezTo>
                  <a:pt x="3004371" y="47002"/>
                  <a:pt x="3005405" y="45662"/>
                  <a:pt x="3080084" y="32084"/>
                </a:cubicBezTo>
                <a:cubicBezTo>
                  <a:pt x="3224308" y="5862"/>
                  <a:pt x="3127006" y="28375"/>
                  <a:pt x="3240505" y="0"/>
                </a:cubicBezTo>
                <a:cubicBezTo>
                  <a:pt x="3465095" y="5347"/>
                  <a:pt x="3690543" y="-4297"/>
                  <a:pt x="3914274" y="16042"/>
                </a:cubicBezTo>
                <a:cubicBezTo>
                  <a:pt x="3949324" y="19228"/>
                  <a:pt x="3946358" y="58587"/>
                  <a:pt x="3946358" y="80211"/>
                </a:cubicBezTo>
              </a:path>
            </a:pathLst>
          </a:cu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22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E2CF-E262-3C3B-B184-391FFD08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8854"/>
          </a:xfrm>
        </p:spPr>
        <p:txBody>
          <a:bodyPr>
            <a:normAutofit fontScale="90000"/>
          </a:bodyPr>
          <a:lstStyle/>
          <a:p>
            <a:r>
              <a:rPr lang="en-AU" dirty="0"/>
              <a:t>Decision Trees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F7316D-36C7-2ACF-6310-27D690A0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43" y="1005000"/>
            <a:ext cx="84381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as a series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yes/no questions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the data recursively into groups with similar labels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easy to trace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overfit if grown too deep → pruning or ensembles (random forests) help</a:t>
            </a:r>
          </a:p>
        </p:txBody>
      </p:sp>
      <p:pic>
        <p:nvPicPr>
          <p:cNvPr id="5" name="Picture 2" descr="File:Murdoch University extended logo ...">
            <a:extLst>
              <a:ext uri="{FF2B5EF4-FFF2-40B4-BE49-F238E27FC236}">
                <a16:creationId xmlns:a16="http://schemas.microsoft.com/office/drawing/2014/main" id="{3DEB3567-C21D-9970-B9C6-5E333A1C5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3">
            <a:extLst>
              <a:ext uri="{FF2B5EF4-FFF2-40B4-BE49-F238E27FC236}">
                <a16:creationId xmlns:a16="http://schemas.microsoft.com/office/drawing/2014/main" id="{0D25E621-0564-9750-9394-8EA2D23CEA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568A5-4AE0-987D-AB9E-A5A2BEF9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616" y="2205329"/>
            <a:ext cx="6735567" cy="415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32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BB18-5828-C249-590D-D6AF444E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68" y="268874"/>
            <a:ext cx="10515600" cy="677612"/>
          </a:xfrm>
        </p:spPr>
        <p:txBody>
          <a:bodyPr>
            <a:normAutofit fontScale="90000"/>
          </a:bodyPr>
          <a:lstStyle/>
          <a:p>
            <a:r>
              <a:rPr lang="en-AU" dirty="0"/>
              <a:t>k-Nearest </a:t>
            </a:r>
            <a:r>
              <a:rPr lang="en-AU" dirty="0" err="1"/>
              <a:t>Neighbors</a:t>
            </a:r>
            <a:r>
              <a:rPr lang="en-AU" dirty="0"/>
              <a:t> (</a:t>
            </a:r>
            <a:r>
              <a:rPr lang="en-AU" dirty="0" err="1"/>
              <a:t>kNN</a:t>
            </a:r>
            <a:r>
              <a:rPr lang="en-AU" dirty="0"/>
              <a:t>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0482C9-BCEB-EBFD-6F87-7776ABE69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68" y="1087362"/>
            <a:ext cx="85183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neighbors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 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closest 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PC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vote → predicted class</a:t>
            </a:r>
          </a:p>
        </p:txBody>
      </p:sp>
      <p:pic>
        <p:nvPicPr>
          <p:cNvPr id="6" name="Picture 2" descr="File:Murdoch University extended logo ...">
            <a:extLst>
              <a:ext uri="{FF2B5EF4-FFF2-40B4-BE49-F238E27FC236}">
                <a16:creationId xmlns:a16="http://schemas.microsoft.com/office/drawing/2014/main" id="{C043F6BD-B1C7-BAAE-4A9C-93A71E69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9AD89-242A-69F7-26CD-49AAA3038C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15" b="3621"/>
          <a:stretch>
            <a:fillRect/>
          </a:stretch>
        </p:blipFill>
        <p:spPr>
          <a:xfrm>
            <a:off x="2362200" y="2151569"/>
            <a:ext cx="7927658" cy="4607380"/>
          </a:xfrm>
          <a:prstGeom prst="rect">
            <a:avLst/>
          </a:prstGeom>
        </p:spPr>
      </p:pic>
      <p:sp>
        <p:nvSpPr>
          <p:cNvPr id="9" name="7-point Star 8">
            <a:extLst>
              <a:ext uri="{FF2B5EF4-FFF2-40B4-BE49-F238E27FC236}">
                <a16:creationId xmlns:a16="http://schemas.microsoft.com/office/drawing/2014/main" id="{3AB56653-EEFF-3399-3968-CB3C1E57518A}"/>
              </a:ext>
            </a:extLst>
          </p:cNvPr>
          <p:cNvSpPr/>
          <p:nvPr/>
        </p:nvSpPr>
        <p:spPr>
          <a:xfrm>
            <a:off x="4031078" y="3089817"/>
            <a:ext cx="128337" cy="128337"/>
          </a:xfrm>
          <a:prstGeom prst="star7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7697E-B2DB-57B1-0745-5C1E41037DA5}"/>
              </a:ext>
            </a:extLst>
          </p:cNvPr>
          <p:cNvSpPr txBox="1"/>
          <p:nvPr/>
        </p:nvSpPr>
        <p:spPr>
          <a:xfrm>
            <a:off x="1445925" y="365339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BE83F9-FF34-BA1D-D4A2-DE5E0EEBD0D7}"/>
              </a:ext>
            </a:extLst>
          </p:cNvPr>
          <p:cNvSpPr/>
          <p:nvPr/>
        </p:nvSpPr>
        <p:spPr>
          <a:xfrm>
            <a:off x="3389439" y="2470611"/>
            <a:ext cx="1447662" cy="14492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16FDB5-92F2-7AE1-FEB6-9BCD85F4019D}"/>
              </a:ext>
            </a:extLst>
          </p:cNvPr>
          <p:cNvCxnSpPr>
            <a:stCxn id="9" idx="1"/>
          </p:cNvCxnSpPr>
          <p:nvPr/>
        </p:nvCxnSpPr>
        <p:spPr>
          <a:xfrm flipV="1">
            <a:off x="4159415" y="2989780"/>
            <a:ext cx="484504" cy="182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54A257-410A-5824-44A1-6A3ACED18B6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23804" y="3218155"/>
            <a:ext cx="428143" cy="33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3E6B8E-CAF1-F4B1-09D9-8C62EC33F08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23804" y="3218155"/>
            <a:ext cx="363632" cy="573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7-point Star 23">
            <a:extLst>
              <a:ext uri="{FF2B5EF4-FFF2-40B4-BE49-F238E27FC236}">
                <a16:creationId xmlns:a16="http://schemas.microsoft.com/office/drawing/2014/main" id="{94F93EB1-957A-DFC3-833C-68FFF457CFCF}"/>
              </a:ext>
            </a:extLst>
          </p:cNvPr>
          <p:cNvSpPr/>
          <p:nvPr/>
        </p:nvSpPr>
        <p:spPr>
          <a:xfrm>
            <a:off x="4023221" y="3091385"/>
            <a:ext cx="128337" cy="128337"/>
          </a:xfrm>
          <a:prstGeom prst="star7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7-point Star 24">
            <a:extLst>
              <a:ext uri="{FF2B5EF4-FFF2-40B4-BE49-F238E27FC236}">
                <a16:creationId xmlns:a16="http://schemas.microsoft.com/office/drawing/2014/main" id="{D5AA5658-3333-37C5-9C29-4BF01ED1C9F7}"/>
              </a:ext>
            </a:extLst>
          </p:cNvPr>
          <p:cNvSpPr/>
          <p:nvPr/>
        </p:nvSpPr>
        <p:spPr>
          <a:xfrm>
            <a:off x="6746922" y="2995867"/>
            <a:ext cx="128337" cy="128337"/>
          </a:xfrm>
          <a:prstGeom prst="star7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9C78E5-1D4F-D737-AD16-5C1AD38BCEF1}"/>
              </a:ext>
            </a:extLst>
          </p:cNvPr>
          <p:cNvSpPr/>
          <p:nvPr/>
        </p:nvSpPr>
        <p:spPr>
          <a:xfrm>
            <a:off x="6105283" y="2376661"/>
            <a:ext cx="1447662" cy="14492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88D70B-E3B7-2C29-9704-9A6839D53DFD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6629079" y="3078401"/>
            <a:ext cx="246180" cy="307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827BFE-5EB6-025C-69EF-C2A7236005B6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6731208" y="2712432"/>
            <a:ext cx="108440" cy="411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E5B0D9-F408-3FD8-0189-56801B07CB8D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839648" y="3124205"/>
            <a:ext cx="295937" cy="140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7-point Star 29">
            <a:extLst>
              <a:ext uri="{FF2B5EF4-FFF2-40B4-BE49-F238E27FC236}">
                <a16:creationId xmlns:a16="http://schemas.microsoft.com/office/drawing/2014/main" id="{1DACF52B-9E01-A242-512D-8ED6790DA027}"/>
              </a:ext>
            </a:extLst>
          </p:cNvPr>
          <p:cNvSpPr/>
          <p:nvPr/>
        </p:nvSpPr>
        <p:spPr>
          <a:xfrm>
            <a:off x="6739065" y="2997435"/>
            <a:ext cx="128337" cy="128337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7-point Star 45">
            <a:extLst>
              <a:ext uri="{FF2B5EF4-FFF2-40B4-BE49-F238E27FC236}">
                <a16:creationId xmlns:a16="http://schemas.microsoft.com/office/drawing/2014/main" id="{5BB5A9BE-5A46-8ACB-C87D-7EEFCB8A4129}"/>
              </a:ext>
            </a:extLst>
          </p:cNvPr>
          <p:cNvSpPr/>
          <p:nvPr/>
        </p:nvSpPr>
        <p:spPr>
          <a:xfrm>
            <a:off x="5171237" y="4866474"/>
            <a:ext cx="128337" cy="128337"/>
          </a:xfrm>
          <a:prstGeom prst="star7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1B07C9-EE3C-DFDD-CF17-2271853CAFEB}"/>
              </a:ext>
            </a:extLst>
          </p:cNvPr>
          <p:cNvSpPr/>
          <p:nvPr/>
        </p:nvSpPr>
        <p:spPr>
          <a:xfrm>
            <a:off x="4529598" y="4247268"/>
            <a:ext cx="1447662" cy="14492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067DE5E-3BF1-3686-A250-DC27EA0F89B5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643919" y="4864906"/>
            <a:ext cx="655655" cy="84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040126B-CB99-C6D8-1B73-A6B6D1AEA9B5}"/>
              </a:ext>
            </a:extLst>
          </p:cNvPr>
          <p:cNvCxnSpPr>
            <a:cxnSpLocks/>
            <a:stCxn id="46" idx="2"/>
          </p:cNvCxnSpPr>
          <p:nvPr/>
        </p:nvCxnSpPr>
        <p:spPr>
          <a:xfrm flipH="1" flipV="1">
            <a:off x="4643919" y="4949008"/>
            <a:ext cx="620044" cy="45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A0EB7F3-CC48-9A44-E4F3-E5BD20F181C6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5155523" y="4994812"/>
            <a:ext cx="108440" cy="571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7-point Star 50">
            <a:extLst>
              <a:ext uri="{FF2B5EF4-FFF2-40B4-BE49-F238E27FC236}">
                <a16:creationId xmlns:a16="http://schemas.microsoft.com/office/drawing/2014/main" id="{6F31924E-D7E6-4028-4E82-E3ED6EFC05B1}"/>
              </a:ext>
            </a:extLst>
          </p:cNvPr>
          <p:cNvSpPr/>
          <p:nvPr/>
        </p:nvSpPr>
        <p:spPr>
          <a:xfrm>
            <a:off x="5163380" y="4868042"/>
            <a:ext cx="128337" cy="128337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7-point Star 54">
            <a:extLst>
              <a:ext uri="{FF2B5EF4-FFF2-40B4-BE49-F238E27FC236}">
                <a16:creationId xmlns:a16="http://schemas.microsoft.com/office/drawing/2014/main" id="{0D6475F1-0325-37AB-48F8-B8F697A84447}"/>
              </a:ext>
            </a:extLst>
          </p:cNvPr>
          <p:cNvSpPr/>
          <p:nvPr/>
        </p:nvSpPr>
        <p:spPr>
          <a:xfrm>
            <a:off x="8550688" y="4274584"/>
            <a:ext cx="128337" cy="128337"/>
          </a:xfrm>
          <a:prstGeom prst="star7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F1BD155-FD3A-BD4B-5F36-F3148B11D0EB}"/>
              </a:ext>
            </a:extLst>
          </p:cNvPr>
          <p:cNvSpPr/>
          <p:nvPr/>
        </p:nvSpPr>
        <p:spPr>
          <a:xfrm>
            <a:off x="7909049" y="3655378"/>
            <a:ext cx="1447662" cy="14492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D3FFB33-401F-68EA-038A-C0831DD7189E}"/>
              </a:ext>
            </a:extLst>
          </p:cNvPr>
          <p:cNvCxnSpPr>
            <a:cxnSpLocks/>
            <a:stCxn id="55" idx="1"/>
          </p:cNvCxnSpPr>
          <p:nvPr/>
        </p:nvCxnSpPr>
        <p:spPr>
          <a:xfrm flipV="1">
            <a:off x="8679025" y="3825893"/>
            <a:ext cx="0" cy="531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2D48C5D-F522-2270-4959-5F134DF018CD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8399282" y="4402922"/>
            <a:ext cx="244132" cy="169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678B03-F9BB-A856-6AD7-949E35FFEEA4}"/>
              </a:ext>
            </a:extLst>
          </p:cNvPr>
          <p:cNvCxnSpPr>
            <a:cxnSpLocks/>
            <a:stCxn id="55" idx="2"/>
          </p:cNvCxnSpPr>
          <p:nvPr/>
        </p:nvCxnSpPr>
        <p:spPr>
          <a:xfrm flipH="1" flipV="1">
            <a:off x="8502977" y="3919843"/>
            <a:ext cx="140437" cy="483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7-point Star 59">
            <a:extLst>
              <a:ext uri="{FF2B5EF4-FFF2-40B4-BE49-F238E27FC236}">
                <a16:creationId xmlns:a16="http://schemas.microsoft.com/office/drawing/2014/main" id="{64AF6DD2-AD33-323C-151B-623FF50AEE8F}"/>
              </a:ext>
            </a:extLst>
          </p:cNvPr>
          <p:cNvSpPr/>
          <p:nvPr/>
        </p:nvSpPr>
        <p:spPr>
          <a:xfrm>
            <a:off x="8542831" y="4276152"/>
            <a:ext cx="128337" cy="128337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8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4" grpId="0" animBg="1"/>
      <p:bldP spid="25" grpId="0" animBg="1"/>
      <p:bldP spid="30" grpId="0" animBg="1"/>
      <p:bldP spid="46" grpId="0" animBg="1"/>
      <p:bldP spid="51" grpId="0" animBg="1"/>
      <p:bldP spid="55" grpId="0" animBg="1"/>
      <p:bldP spid="6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F8AF-348F-BB37-8CDA-C841A3C6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368969"/>
            <a:ext cx="10515600" cy="615867"/>
          </a:xfrm>
        </p:spPr>
        <p:txBody>
          <a:bodyPr>
            <a:normAutofit fontScale="90000"/>
          </a:bodyPr>
          <a:lstStyle/>
          <a:p>
            <a:r>
              <a:rPr lang="en-AU" dirty="0"/>
              <a:t>Comparing Classifiers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9C1FE1-EF9E-6A51-DC41-2FF425382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20477"/>
              </p:ext>
            </p:extLst>
          </p:nvPr>
        </p:nvGraphicFramePr>
        <p:xfrm>
          <a:off x="838200" y="3132614"/>
          <a:ext cx="10946702" cy="1463040"/>
        </p:xfrm>
        <a:graphic>
          <a:graphicData uri="http://schemas.openxmlformats.org/drawingml/2006/table">
            <a:tbl>
              <a:tblPr>
                <a:effectLst>
                  <a:outerShdw blurRad="50800" dist="50800" dir="5400000" algn="ctr" rotWithShape="0">
                    <a:schemeClr val="tx1">
                      <a:alpha val="10000"/>
                    </a:schemeClr>
                  </a:outerShdw>
                </a:effectLst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22656757"/>
                    </a:ext>
                  </a:extLst>
                </a:gridCol>
                <a:gridCol w="3936302">
                  <a:extLst>
                    <a:ext uri="{9D8B030D-6E8A-4147-A177-3AD203B41FA5}">
                      <a16:colId xmlns:a16="http://schemas.microsoft.com/office/drawing/2014/main" val="36428038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1470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/>
                        <a:t>Strengths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Weaknesses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71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Interpretable, fast, good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Only linear boundaries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4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Decision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Easy to visualize, handles nonlinearity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Overfits if deep, unstable splits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2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kNN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Simple, flexible, nonlinear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Sensitive to scaling &amp;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88581"/>
                  </a:ext>
                </a:extLst>
              </a:tr>
            </a:tbl>
          </a:graphicData>
        </a:graphic>
      </p:graphicFrame>
      <p:pic>
        <p:nvPicPr>
          <p:cNvPr id="4" name="Picture 2" descr="File:Murdoch University extended logo ...">
            <a:extLst>
              <a:ext uri="{FF2B5EF4-FFF2-40B4-BE49-F238E27FC236}">
                <a16:creationId xmlns:a16="http://schemas.microsoft.com/office/drawing/2014/main" id="{34857124-3F5E-CB59-3BCA-7AA9FDDA4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5" y="6404096"/>
            <a:ext cx="1742643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96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2894</Words>
  <Application>Microsoft Macintosh PowerPoint</Application>
  <PresentationFormat>Widescreen</PresentationFormat>
  <Paragraphs>410</Paragraphs>
  <Slides>29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Times New Roman</vt:lpstr>
      <vt:lpstr>Office Theme</vt:lpstr>
      <vt:lpstr>Regression and Classification in Metabolomics</vt:lpstr>
      <vt:lpstr>Outline</vt:lpstr>
      <vt:lpstr>What We’ll Do</vt:lpstr>
      <vt:lpstr>The Dataset</vt:lpstr>
      <vt:lpstr>The plan(Workflow)</vt:lpstr>
      <vt:lpstr>PCA Refresher</vt:lpstr>
      <vt:lpstr>Regression Basics</vt:lpstr>
      <vt:lpstr>Evaluating Regression Performance</vt:lpstr>
      <vt:lpstr>Evaluating Regression Performance</vt:lpstr>
      <vt:lpstr>The Overfitting Mirage (38 PCs)</vt:lpstr>
      <vt:lpstr>Why the Mirage Happens</vt:lpstr>
      <vt:lpstr>Fixing Regression (Choosing the Right Complexity)</vt:lpstr>
      <vt:lpstr>From Regression to Classification</vt:lpstr>
      <vt:lpstr>PowerPoint Presentation</vt:lpstr>
      <vt:lpstr>Binary Classification</vt:lpstr>
      <vt:lpstr>Binary Classification</vt:lpstr>
      <vt:lpstr>Binary Classification</vt:lpstr>
      <vt:lpstr>Binary classification</vt:lpstr>
      <vt:lpstr>Covid19 vs No Covid19 classification</vt:lpstr>
      <vt:lpstr>Classification evaluation</vt:lpstr>
      <vt:lpstr>Classification evaluation</vt:lpstr>
      <vt:lpstr>Classification evaluation on training set</vt:lpstr>
      <vt:lpstr>Classification evaluation on test set</vt:lpstr>
      <vt:lpstr>Unbalanced data</vt:lpstr>
      <vt:lpstr>Unbalanced data</vt:lpstr>
      <vt:lpstr>Logistic Regression</vt:lpstr>
      <vt:lpstr>Decision Trees</vt:lpstr>
      <vt:lpstr>k-Nearest Neighbors (kNN)</vt:lpstr>
      <vt:lpstr>Comparing Classifiers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Castillo Robles</dc:creator>
  <cp:lastModifiedBy>Andres Fernando Bernal Escobar</cp:lastModifiedBy>
  <cp:revision>5</cp:revision>
  <dcterms:created xsi:type="dcterms:W3CDTF">2025-09-23T06:09:07Z</dcterms:created>
  <dcterms:modified xsi:type="dcterms:W3CDTF">2025-09-25T01:40:05Z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f931c-4856-410e-abf2-8a4d5c5dd217_Enabled">
    <vt:lpwstr>true</vt:lpwstr>
  </property>
  <property fmtid="{D5CDD505-2E9C-101B-9397-08002B2CF9AE}" pid="3" name="MSIP_Label_374f931c-4856-410e-abf2-8a4d5c5dd217_SetDate">
    <vt:lpwstr>2025-09-24T06:13:26Z</vt:lpwstr>
  </property>
  <property fmtid="{D5CDD505-2E9C-101B-9397-08002B2CF9AE}" pid="4" name="MSIP_Label_374f931c-4856-410e-abf2-8a4d5c5dd217_Method">
    <vt:lpwstr>Standard</vt:lpwstr>
  </property>
  <property fmtid="{D5CDD505-2E9C-101B-9397-08002B2CF9AE}" pid="5" name="MSIP_Label_374f931c-4856-410e-abf2-8a4d5c5dd217_Name">
    <vt:lpwstr>Official</vt:lpwstr>
  </property>
  <property fmtid="{D5CDD505-2E9C-101B-9397-08002B2CF9AE}" pid="6" name="MSIP_Label_374f931c-4856-410e-abf2-8a4d5c5dd217_SiteId">
    <vt:lpwstr>c00d4c1b-cf7b-4e93-b7c7-10113a9bc230</vt:lpwstr>
  </property>
  <property fmtid="{D5CDD505-2E9C-101B-9397-08002B2CF9AE}" pid="7" name="MSIP_Label_374f931c-4856-410e-abf2-8a4d5c5dd217_ActionId">
    <vt:lpwstr>a8cb58eb-2c3c-4a52-9376-9b862fc4410e</vt:lpwstr>
  </property>
  <property fmtid="{D5CDD505-2E9C-101B-9397-08002B2CF9AE}" pid="8" name="MSIP_Label_374f931c-4856-410e-abf2-8a4d5c5dd217_ContentBits">
    <vt:lpwstr>2</vt:lpwstr>
  </property>
  <property fmtid="{D5CDD505-2E9C-101B-9397-08002B2CF9AE}" pid="9" name="MSIP_Label_374f931c-4856-410e-abf2-8a4d5c5dd217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[OFFICIAL]</vt:lpwstr>
  </property>
</Properties>
</file>