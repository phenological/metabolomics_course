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5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Lst>
  <p:sldSz cx="12192000" cy="6858000"/>
  <p:notesSz cx="6858000" cy="9144000"/>
  <p:embeddedFontLst>
    <p:embeddedFont>
      <p:font typeface="Helvetica Neue" panose="02000503000000020004" pitchFamily="2" charset="0"/>
      <p:regular r:id="rId53"/>
      <p:bold r:id="rId54"/>
      <p:italic r:id="rId55"/>
      <p:boldItalic r:id="rId56"/>
    </p:embeddedFont>
    <p:embeddedFont>
      <p:font typeface="Roboto"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D21FA1-A5D8-4325-A2E5-31A690B1F344}">
  <a:tblStyle styleId="{EBD21FA1-A5D8-4325-A2E5-31A690B1F34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2652CD-1FEC-473F-96D7-C42509400C8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8592"/>
  </p:normalViewPr>
  <p:slideViewPr>
    <p:cSldViewPr snapToGrid="0">
      <p:cViewPr varScale="1">
        <p:scale>
          <a:sx n="82" d="100"/>
          <a:sy n="82" d="100"/>
        </p:scale>
        <p:origin x="16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cef0bf247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cef0bf247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1" name="Google Shape;111;g37cef0bf247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7cef0bf247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7cef0bf247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 name="Google Shape;123;g37cef0bf247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7cef0bf247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7cef0bf247_0_1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endParaRPr sz="1300" b="1" dirty="0">
              <a:latin typeface="Arial"/>
              <a:ea typeface="Arial"/>
              <a:cs typeface="Arial"/>
              <a:sym typeface="Arial"/>
            </a:endParaRPr>
          </a:p>
        </p:txBody>
      </p:sp>
      <p:sp>
        <p:nvSpPr>
          <p:cNvPr id="142" name="Google Shape;142;g37cef0bf247_0_1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7cef0bf247_0_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7cef0bf247_0_1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1200"/>
              </a:spcBef>
              <a:spcAft>
                <a:spcPts val="0"/>
              </a:spcAft>
              <a:buNone/>
            </a:pPr>
            <a:endParaRPr dirty="0"/>
          </a:p>
        </p:txBody>
      </p:sp>
      <p:sp>
        <p:nvSpPr>
          <p:cNvPr id="178" name="Google Shape;178;g37cef0bf247_0_1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7cef0bf247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7cef0bf247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1" name="Google Shape;211;g37cef0bf247_0_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7cef0bf247_0_3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7cef0bf247_0_3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1" name="Google Shape;221;g37cef0bf247_0_3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7cef0bf247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7cef0bf247_0_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0" name="Google Shape;230;g37cef0bf247_0_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7cef0bf247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7cef0bf247_0_2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1200"/>
              </a:spcBef>
              <a:spcAft>
                <a:spcPts val="0"/>
              </a:spcAft>
              <a:buNone/>
            </a:pPr>
            <a:endParaRPr dirty="0"/>
          </a:p>
        </p:txBody>
      </p:sp>
      <p:sp>
        <p:nvSpPr>
          <p:cNvPr id="249" name="Google Shape;249;g37cef0bf247_0_2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7cef0bf247_0_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7cef0bf247_0_2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sz="1000" b="1" dirty="0">
              <a:solidFill>
                <a:srgbClr val="1C1C1C"/>
              </a:solidFill>
              <a:latin typeface="Roboto"/>
              <a:ea typeface="Roboto"/>
              <a:cs typeface="Roboto"/>
              <a:sym typeface="Roboto"/>
            </a:endParaRPr>
          </a:p>
        </p:txBody>
      </p:sp>
      <p:sp>
        <p:nvSpPr>
          <p:cNvPr id="260" name="Google Shape;260;g37cef0bf247_0_29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d72c38b44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7d72c38b44_0_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0" name="Google Shape;270;g37d72c38b44_0_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7cef0bf247_0_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7cef0bf247_0_3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9" name="Google Shape;279;g37cef0bf247_0_3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7cef0bf247_0_3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7cef0bf247_0_3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6" name="Google Shape;296;g37cef0bf247_0_3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7d72c38b44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7d72c38b44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g37d72c38b44_0_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859a6ec4f0_0_1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859a6ec4f0_0_1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g3859a6ec4f0_0_1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7d72c38b44_0_2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7d72c38b44_0_21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g37d72c38b44_0_21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7d72c38b44_0_21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7d72c38b44_0_21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37d72c38b44_0_21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7d72c38b44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7d72c38b44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g37d72c38b44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7d72c38b44_0_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7d72c38b44_0_2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g37d72c38b44_0_2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7d72c38b44_0_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7d72c38b44_0_2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g37d72c38b44_0_2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7d72c38b44_0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7d72c38b44_0_2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g37d72c38b44_0_2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7d72c38b44_0_2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7d72c38b44_0_2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g37d72c38b44_0_27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7d72c38b44_0_3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g37d72c38b44_0_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7d72c38b44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37d72c38b44_0_2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g37d72c38b44_0_2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7d72c38b44_0_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7d72c38b44_0_2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g37d72c38b44_0_28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7d72c38b44_0_3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g37d72c38b44_0_3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7d72c38b44_0_3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1" name="Google Shape;431;g37d72c38b44_0_3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7d72c38b44_0_6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dirty="0"/>
          </a:p>
        </p:txBody>
      </p:sp>
      <p:sp>
        <p:nvSpPr>
          <p:cNvPr id="444" name="Google Shape;444;g37d72c38b44_0_6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7d72c38b44_0_8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4" name="Google Shape;684;g37d72c38b44_0_8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7d72c38b44_0_8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g37d72c38b44_0_8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7d72c38b44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7d72c38b44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0" name="Google Shape;1040;g37d72c38b44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37d72c38b44_0_19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37d72c38b44_0_19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7d72c38b44_0_20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37d72c38b44_0_20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37d72c38b44_0_20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37d72c38b44_0_20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37d72c38b44_0_2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37d72c38b44_0_20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37d72c38b44_0_20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37d72c38b44_0_20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37d72c38b44_0_2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37d72c38b44_0_2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37d72c38b44_0_12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4" name="Google Shape;1124;g37d72c38b44_0_1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37d72c38b44_0_12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0" name="Google Shape;1130;g37d72c38b44_0_12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7d72c38b44_0_12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6" name="Google Shape;1136;g37d72c38b44_0_12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37d72c38b44_0_12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3" name="Google Shape;1143;g37d72c38b44_0_1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37d72c38b44_0_12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9" name="Google Shape;1149;g37d72c38b44_0_1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37d72c38b44_0_12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5" name="Google Shape;1155;g37d72c38b44_0_12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37d72c38b44_0_12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1" name="Google Shape;1161;g37d72c38b44_0_1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37d72c38b44_0_12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7" name="Google Shape;1167;g37d72c38b44_0_1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7d72c38b44_0_19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37d72c38b44_0_19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74" name="Google Shape;1174;g37d72c38b44_0_19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37d72c38b44_0_19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37d72c38b44_0_19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1200"/>
              </a:spcBef>
              <a:spcAft>
                <a:spcPts val="0"/>
              </a:spcAft>
              <a:buNone/>
            </a:pPr>
            <a:endParaRPr dirty="0"/>
          </a:p>
        </p:txBody>
      </p:sp>
      <p:sp>
        <p:nvSpPr>
          <p:cNvPr id="1183" name="Google Shape;1183;g37d72c38b44_0_19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37d72c38b44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37d72c38b44_0_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37d72c38b44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37d72c38b44_0_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sz="1500" dirty="0">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g37d72c38b44_0_161:notes"/>
          <p:cNvSpPr txBox="1">
            <a:spLocks noGrp="1"/>
          </p:cNvSpPr>
          <p:nvPr>
            <p:ph type="body" idx="1"/>
          </p:nvPr>
        </p:nvSpPr>
        <p:spPr>
          <a:xfrm>
            <a:off x="685800" y="4400549"/>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sz="1500" dirty="0"/>
          </a:p>
        </p:txBody>
      </p:sp>
      <p:sp>
        <p:nvSpPr>
          <p:cNvPr id="1220" name="Google Shape;1220;g37d72c38b44_0_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15600" y="593367"/>
            <a:ext cx="11360700" cy="763500"/>
          </a:xfrm>
          <a:prstGeom prst="rect">
            <a:avLst/>
          </a:prstGeom>
        </p:spPr>
        <p:txBody>
          <a:bodyPr spcFirstLastPara="1" wrap="square" lIns="91425" tIns="45700" rIns="91425" bIns="45700" anchor="ctr"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a:off x="415600" y="1536633"/>
            <a:ext cx="11360700" cy="4555200"/>
          </a:xfrm>
          <a:prstGeom prst="rect">
            <a:avLst/>
          </a:prstGeom>
        </p:spPr>
        <p:txBody>
          <a:bodyPr spcFirstLastPara="1" wrap="square" lIns="91425" tIns="45700" rIns="91425" bIns="45700" anchor="t" anchorCtr="0">
            <a:normAutofit/>
          </a:bodyPr>
          <a:lstStyle>
            <a:lvl1pPr marL="457200" lvl="0" indent="-406400">
              <a:spcBef>
                <a:spcPts val="1000"/>
              </a:spcBef>
              <a:spcAft>
                <a:spcPts val="0"/>
              </a:spcAft>
              <a:buSzPts val="2800"/>
              <a:buChar char="•"/>
              <a:defRPr/>
            </a:lvl1pPr>
            <a:lvl2pPr marL="914400" lvl="1" indent="-381000">
              <a:spcBef>
                <a:spcPts val="500"/>
              </a:spcBef>
              <a:spcAft>
                <a:spcPts val="0"/>
              </a:spcAft>
              <a:buSzPts val="2400"/>
              <a:buChar char="•"/>
              <a:defRPr/>
            </a:lvl2pPr>
            <a:lvl3pPr marL="1371600" lvl="2" indent="-355600">
              <a:spcBef>
                <a:spcPts val="500"/>
              </a:spcBef>
              <a:spcAft>
                <a:spcPts val="0"/>
              </a:spcAft>
              <a:buSzPts val="2000"/>
              <a:buChar char="•"/>
              <a:defRPr/>
            </a:lvl3pPr>
            <a:lvl4pPr marL="1828800" lvl="3" indent="-342900">
              <a:spcBef>
                <a:spcPts val="500"/>
              </a:spcBef>
              <a:spcAft>
                <a:spcPts val="0"/>
              </a:spcAft>
              <a:buSzPts val="1800"/>
              <a:buChar char="•"/>
              <a:defRPr/>
            </a:lvl4pPr>
            <a:lvl5pPr marL="2286000" lvl="4" indent="-342900">
              <a:spcBef>
                <a:spcPts val="500"/>
              </a:spcBef>
              <a:spcAft>
                <a:spcPts val="0"/>
              </a:spcAft>
              <a:buSzPts val="1800"/>
              <a:buChar char="•"/>
              <a:defRPr/>
            </a:lvl5pPr>
            <a:lvl6pPr marL="2743200" lvl="5" indent="-342900">
              <a:spcBef>
                <a:spcPts val="500"/>
              </a:spcBef>
              <a:spcAft>
                <a:spcPts val="0"/>
              </a:spcAft>
              <a:buSzPts val="1800"/>
              <a:buChar char="•"/>
              <a:defRPr/>
            </a:lvl6pPr>
            <a:lvl7pPr marL="3200400" lvl="6" indent="-342900">
              <a:spcBef>
                <a:spcPts val="500"/>
              </a:spcBef>
              <a:spcAft>
                <a:spcPts val="0"/>
              </a:spcAft>
              <a:buSzPts val="1800"/>
              <a:buChar char="•"/>
              <a:defRPr/>
            </a:lvl7pPr>
            <a:lvl8pPr marL="3657600" lvl="7" indent="-342900">
              <a:spcBef>
                <a:spcPts val="500"/>
              </a:spcBef>
              <a:spcAft>
                <a:spcPts val="0"/>
              </a:spcAft>
              <a:buSzPts val="1800"/>
              <a:buChar char="•"/>
              <a:defRPr/>
            </a:lvl8pPr>
            <a:lvl9pPr marL="4114800" lvl="8" indent="-342900">
              <a:spcBef>
                <a:spcPts val="500"/>
              </a:spcBef>
              <a:spcAft>
                <a:spcPts val="0"/>
              </a:spcAft>
              <a:buSzPts val="1800"/>
              <a:buChar char="•"/>
              <a:defRPr/>
            </a:lvl9pPr>
          </a:lstStyle>
          <a:p>
            <a:endParaRPr/>
          </a:p>
        </p:txBody>
      </p:sp>
      <p:sp>
        <p:nvSpPr>
          <p:cNvPr id="87" name="Google Shape;87;p13"/>
          <p:cNvSpPr txBox="1">
            <a:spLocks noGrp="1"/>
          </p:cNvSpPr>
          <p:nvPr>
            <p:ph type="sldNum" idx="12"/>
          </p:nvPr>
        </p:nvSpPr>
        <p:spPr>
          <a:xfrm>
            <a:off x="11296610" y="6217622"/>
            <a:ext cx="731700" cy="5247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 name="TextBox 2">
            <a:extLst>
              <a:ext uri="{FF2B5EF4-FFF2-40B4-BE49-F238E27FC236}">
                <a16:creationId xmlns:a16="http://schemas.microsoft.com/office/drawing/2014/main" id="{EE12E864-F688-F6A7-8291-DF22C2F8961E}"/>
              </a:ext>
            </a:extLst>
          </p:cNvPr>
          <p:cNvSpPr txBox="1"/>
          <p:nvPr userDrawn="1">
            <p:extLst>
              <p:ext uri="{1162E1C5-73C7-4A58-AE30-91384D911F3F}">
                <p184:classification xmlns:p184="http://schemas.microsoft.com/office/powerpoint/2018/4/main" val="ftr"/>
              </p:ext>
            </p:extLst>
          </p:nvPr>
        </p:nvSpPr>
        <p:spPr>
          <a:xfrm>
            <a:off x="63500" y="6626860"/>
            <a:ext cx="620713" cy="167640"/>
          </a:xfrm>
          <a:prstGeom prst="rect">
            <a:avLst/>
          </a:prstGeom>
        </p:spPr>
        <p:txBody>
          <a:bodyPr horzOverflow="overflow" lIns="0" tIns="0" rIns="0" bIns="0">
            <a:spAutoFit/>
          </a:bodyPr>
          <a:lstStyle/>
          <a:p>
            <a:pPr algn="l"/>
            <a:r>
              <a:rPr lang="en-US" sz="1100">
                <a:solidFill>
                  <a:srgbClr val="008000">
                    <a:alpha val="50000"/>
                  </a:srgbClr>
                </a:solidFill>
                <a:latin typeface="Calibri" panose="020F0502020204030204" pitchFamily="34" charset="0"/>
                <a:cs typeface="Calibri" panose="020F0502020204030204" pitchFamily="34" charset="0"/>
              </a:rPr>
              <a:t>[OFFICIAL]</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3.png"/><Relationship Id="rId7"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6.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7.jp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image" Target="../media/image46.jpg"/><Relationship Id="rId3" Type="http://schemas.openxmlformats.org/officeDocument/2006/relationships/hyperlink" Target="https://doi.org/10.3109/00365513.2014.1003593" TargetMode="External"/><Relationship Id="rId7"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dx.doi.org/10.1186/1471-2105-9-324" TargetMode="External"/><Relationship Id="rId9" Type="http://schemas.openxmlformats.org/officeDocument/2006/relationships/image" Target="../media/image47.jpg"/></Relationships>
</file>

<file path=ppt/slides/_rels/slide27.xml.rels><?xml version="1.0" encoding="UTF-8" standalone="yes"?>
<Relationships xmlns="http://schemas.openxmlformats.org/package/2006/relationships"><Relationship Id="rId8" Type="http://schemas.openxmlformats.org/officeDocument/2006/relationships/hyperlink" Target="https://www.ncbi.nlm.nih.gov/pmc/articles/PMC5809546/#CR13" TargetMode="External"/><Relationship Id="rId13" Type="http://schemas.openxmlformats.org/officeDocument/2006/relationships/hyperlink" Target="https://www.ncbi.nlm.nih.gov/pmc/articles/PMC5809546/#CR60" TargetMode="External"/><Relationship Id="rId3" Type="http://schemas.openxmlformats.org/officeDocument/2006/relationships/hyperlink" Target="https://www.ncbi.nlm.nih.gov/pmc/articles/PMC5809546/#CR71" TargetMode="External"/><Relationship Id="rId7" Type="http://schemas.openxmlformats.org/officeDocument/2006/relationships/hyperlink" Target="https://www.ncbi.nlm.nih.gov/pmc/articles/PMC5809546/#CR4" TargetMode="External"/><Relationship Id="rId12" Type="http://schemas.openxmlformats.org/officeDocument/2006/relationships/hyperlink" Target="https://www.ncbi.nlm.nih.gov/pmc/articles/PMC5809546/#CR58"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www.ncbi.nlm.nih.gov/pmc/articles/PMC5809546/#CR26" TargetMode="External"/><Relationship Id="rId11" Type="http://schemas.openxmlformats.org/officeDocument/2006/relationships/hyperlink" Target="https://www.ncbi.nlm.nih.gov/pmc/articles/PMC5809546/#CR54" TargetMode="External"/><Relationship Id="rId5" Type="http://schemas.openxmlformats.org/officeDocument/2006/relationships/hyperlink" Target="https://www.ncbi.nlm.nih.gov/pmc/articles/PMC5809546/#CR57" TargetMode="External"/><Relationship Id="rId10" Type="http://schemas.openxmlformats.org/officeDocument/2006/relationships/hyperlink" Target="https://www.ncbi.nlm.nih.gov/pmc/articles/PMC5809546/#CR113" TargetMode="External"/><Relationship Id="rId4" Type="http://schemas.openxmlformats.org/officeDocument/2006/relationships/hyperlink" Target="https://www.ncbi.nlm.nih.gov/pmc/articles/PMC5809546/#CR70" TargetMode="External"/><Relationship Id="rId9" Type="http://schemas.openxmlformats.org/officeDocument/2006/relationships/hyperlink" Target="https://www.ncbi.nlm.nih.gov/pmc/articles/PMC5809546/#CR66" TargetMode="External"/><Relationship Id="rId14" Type="http://schemas.openxmlformats.org/officeDocument/2006/relationships/hyperlink" Target="https://www.ncbi.nlm.nih.gov/pmc/articles/PMC5809546/#CR55"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gif"/><Relationship Id="rId4" Type="http://schemas.openxmlformats.org/officeDocument/2006/relationships/image" Target="../media/image52.gif"/></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58.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11.xml"/><Relationship Id="rId5" Type="http://schemas.openxmlformats.org/officeDocument/2006/relationships/image" Target="../media/image61.png"/><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1.xml"/><Relationship Id="rId5" Type="http://schemas.openxmlformats.org/officeDocument/2006/relationships/image" Target="../media/image63.pn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66.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8" Type="http://schemas.openxmlformats.org/officeDocument/2006/relationships/image" Target="../media/image72.jpg"/><Relationship Id="rId3" Type="http://schemas.openxmlformats.org/officeDocument/2006/relationships/image" Target="../media/image67.jpg"/><Relationship Id="rId7" Type="http://schemas.openxmlformats.org/officeDocument/2006/relationships/image" Target="../media/image71.jp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70.jpg"/><Relationship Id="rId5" Type="http://schemas.openxmlformats.org/officeDocument/2006/relationships/image" Target="../media/image69.jpg"/><Relationship Id="rId10" Type="http://schemas.openxmlformats.org/officeDocument/2006/relationships/image" Target="../media/image74.jpg"/><Relationship Id="rId4" Type="http://schemas.openxmlformats.org/officeDocument/2006/relationships/image" Target="../media/image68.jpg"/><Relationship Id="rId9" Type="http://schemas.openxmlformats.org/officeDocument/2006/relationships/image" Target="../media/image73.jpg"/></Relationships>
</file>

<file path=ppt/slides/_rels/slide37.xml.rels><?xml version="1.0" encoding="UTF-8" standalone="yes"?>
<Relationships xmlns="http://schemas.openxmlformats.org/package/2006/relationships"><Relationship Id="rId3" Type="http://schemas.openxmlformats.org/officeDocument/2006/relationships/hyperlink" Target="https://doi.org/10.1021/acs.analchem.2c02167"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83.png"/></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5" descr="https://lh4.googleusercontent.com/Br98KqhxTQiFOhGuOxdnQ4CZYuv1BREPYvTd_wAD0gaY8ZDqY7GN0ZlpEV2SGILNbo_YaIMdgb3wIT28yx-3a1tvNwjGmwojsbSWW7mQ5SmDw2krRTqoBOO-tMmXeDZe3oI2e3dBPSk"/>
          <p:cNvPicPr preferRelativeResize="0"/>
          <p:nvPr/>
        </p:nvPicPr>
        <p:blipFill rotWithShape="1">
          <a:blip r:embed="rId3">
            <a:alphaModFix amt="27000"/>
          </a:blip>
          <a:srcRect/>
          <a:stretch/>
        </p:blipFill>
        <p:spPr>
          <a:xfrm>
            <a:off x="3042600" y="0"/>
            <a:ext cx="4208199" cy="6980900"/>
          </a:xfrm>
          <a:prstGeom prst="rect">
            <a:avLst/>
          </a:prstGeom>
          <a:noFill/>
          <a:ln>
            <a:noFill/>
          </a:ln>
        </p:spPr>
      </p:pic>
      <p:sp>
        <p:nvSpPr>
          <p:cNvPr id="102" name="Google Shape;102;p15"/>
          <p:cNvSpPr txBox="1"/>
          <p:nvPr/>
        </p:nvSpPr>
        <p:spPr>
          <a:xfrm>
            <a:off x="2960770" y="585483"/>
            <a:ext cx="5296985" cy="16253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233F"/>
              </a:buClr>
              <a:buSzPts val="4200"/>
              <a:buFont typeface="Arial"/>
              <a:buNone/>
            </a:pPr>
            <a:r>
              <a:rPr lang="en-US" sz="4200" b="1">
                <a:solidFill>
                  <a:srgbClr val="DF233F"/>
                </a:solidFill>
              </a:rPr>
              <a:t>Introduction to data preprocessing</a:t>
            </a:r>
            <a:endParaRPr sz="2800" b="1" u="none" strike="noStrike" cap="none">
              <a:solidFill>
                <a:srgbClr val="DF233F"/>
              </a:solidFill>
              <a:latin typeface="Arial"/>
              <a:ea typeface="Arial"/>
              <a:cs typeface="Arial"/>
              <a:sym typeface="Arial"/>
            </a:endParaRPr>
          </a:p>
        </p:txBody>
      </p:sp>
      <p:sp>
        <p:nvSpPr>
          <p:cNvPr id="103" name="Google Shape;103;p15"/>
          <p:cNvSpPr/>
          <p:nvPr/>
        </p:nvSpPr>
        <p:spPr>
          <a:xfrm>
            <a:off x="634257" y="5214550"/>
            <a:ext cx="11011833" cy="1057967"/>
          </a:xfrm>
          <a:prstGeom prst="rect">
            <a:avLst/>
          </a:prstGeom>
          <a:solidFill>
            <a:srgbClr val="CF10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F233F"/>
              </a:solidFill>
              <a:latin typeface="Calibri"/>
              <a:ea typeface="Calibri"/>
              <a:cs typeface="Calibri"/>
              <a:sym typeface="Calibri"/>
            </a:endParaRPr>
          </a:p>
        </p:txBody>
      </p:sp>
      <p:sp>
        <p:nvSpPr>
          <p:cNvPr id="104" name="Google Shape;104;p15"/>
          <p:cNvSpPr/>
          <p:nvPr/>
        </p:nvSpPr>
        <p:spPr>
          <a:xfrm>
            <a:off x="770152" y="5420367"/>
            <a:ext cx="5078713" cy="64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1800"/>
              <a:buFont typeface="Arial"/>
              <a:buNone/>
            </a:pPr>
            <a:r>
              <a:rPr lang="en-US" sz="1800" b="1">
                <a:solidFill>
                  <a:srgbClr val="FFFFFF"/>
                </a:solidFill>
              </a:rPr>
              <a:t>Reika Masuda</a:t>
            </a:r>
            <a:endParaRPr sz="1800" b="1"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800"/>
              <a:buFont typeface="Arial"/>
              <a:buNone/>
            </a:pPr>
            <a:r>
              <a:rPr lang="en-US" sz="1800">
                <a:solidFill>
                  <a:srgbClr val="FFFFFF"/>
                </a:solidFill>
              </a:rPr>
              <a:t>September</a:t>
            </a:r>
            <a:r>
              <a:rPr lang="en-US" sz="1800" i="0" u="none" strike="noStrike" cap="none">
                <a:solidFill>
                  <a:srgbClr val="FFFFFF"/>
                </a:solidFill>
                <a:latin typeface="Arial"/>
                <a:ea typeface="Arial"/>
                <a:cs typeface="Arial"/>
                <a:sym typeface="Arial"/>
              </a:rPr>
              <a:t> 20</a:t>
            </a:r>
            <a:r>
              <a:rPr lang="en-US" sz="1800">
                <a:solidFill>
                  <a:srgbClr val="FFFFFF"/>
                </a:solidFill>
              </a:rPr>
              <a:t>25</a:t>
            </a:r>
            <a:endParaRPr sz="1800" i="0" u="none" strike="noStrike" cap="none">
              <a:solidFill>
                <a:srgbClr val="FFFFFF"/>
              </a:solidFill>
              <a:latin typeface="Arial"/>
              <a:ea typeface="Arial"/>
              <a:cs typeface="Arial"/>
              <a:sym typeface="Arial"/>
            </a:endParaRPr>
          </a:p>
        </p:txBody>
      </p:sp>
      <p:pic>
        <p:nvPicPr>
          <p:cNvPr id="105" name="Google Shape;105;p15" descr="Diagram, schematic&#10;&#10;Description automatically generated"/>
          <p:cNvPicPr preferRelativeResize="0"/>
          <p:nvPr/>
        </p:nvPicPr>
        <p:blipFill rotWithShape="1">
          <a:blip r:embed="rId4">
            <a:alphaModFix/>
          </a:blip>
          <a:srcRect/>
          <a:stretch/>
        </p:blipFill>
        <p:spPr>
          <a:xfrm>
            <a:off x="8565568" y="5321802"/>
            <a:ext cx="1336005" cy="852598"/>
          </a:xfrm>
          <a:prstGeom prst="rect">
            <a:avLst/>
          </a:prstGeom>
          <a:noFill/>
          <a:ln>
            <a:noFill/>
          </a:ln>
        </p:spPr>
      </p:pic>
      <p:pic>
        <p:nvPicPr>
          <p:cNvPr id="106" name="Google Shape;106;p15" descr="Shape&#10;&#10;Description automatically generated with medium confidence"/>
          <p:cNvPicPr preferRelativeResize="0"/>
          <p:nvPr/>
        </p:nvPicPr>
        <p:blipFill rotWithShape="1">
          <a:blip r:embed="rId5">
            <a:alphaModFix/>
          </a:blip>
          <a:srcRect l="4626" t="7758"/>
          <a:stretch/>
        </p:blipFill>
        <p:spPr>
          <a:xfrm>
            <a:off x="9958217" y="5321802"/>
            <a:ext cx="1609725" cy="843459"/>
          </a:xfrm>
          <a:prstGeom prst="rect">
            <a:avLst/>
          </a:prstGeom>
          <a:noFill/>
          <a:ln>
            <a:noFill/>
          </a:ln>
        </p:spPr>
      </p:pic>
      <p:sp>
        <p:nvSpPr>
          <p:cNvPr id="107" name="Google Shape;107;p15"/>
          <p:cNvSpPr txBox="1"/>
          <p:nvPr/>
        </p:nvSpPr>
        <p:spPr>
          <a:xfrm>
            <a:off x="2146700" y="2616950"/>
            <a:ext cx="7570800" cy="2397300"/>
          </a:xfrm>
          <a:prstGeom prst="rect">
            <a:avLst/>
          </a:prstGeom>
          <a:noFill/>
          <a:ln>
            <a:noFill/>
          </a:ln>
        </p:spPr>
        <p:txBody>
          <a:bodyPr spcFirstLastPara="1" wrap="square" lIns="91425" tIns="45700" rIns="91425" bIns="45700" anchor="t" anchorCtr="0">
            <a:noAutofit/>
          </a:bodyPr>
          <a:lstStyle/>
          <a:p>
            <a:pPr marL="228600" marR="0" lvl="0" indent="-247650" algn="l" rtl="0">
              <a:lnSpc>
                <a:spcPct val="90000"/>
              </a:lnSpc>
              <a:spcBef>
                <a:spcPts val="1000"/>
              </a:spcBef>
              <a:spcAft>
                <a:spcPts val="0"/>
              </a:spcAft>
              <a:buClr>
                <a:schemeClr val="dk1"/>
              </a:buClr>
              <a:buSzPts val="1400"/>
              <a:buChar char="•"/>
            </a:pP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838200" y="365125"/>
            <a:ext cx="105156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Why Data Processing Matters</a:t>
            </a:r>
            <a:endParaRPr sz="3600">
              <a:latin typeface="Arial"/>
              <a:ea typeface="Arial"/>
              <a:cs typeface="Arial"/>
              <a:sym typeface="Arial"/>
            </a:endParaRPr>
          </a:p>
        </p:txBody>
      </p:sp>
      <p:sp>
        <p:nvSpPr>
          <p:cNvPr id="114" name="Google Shape;114;p16"/>
          <p:cNvSpPr txBox="1">
            <a:spLocks noGrp="1"/>
          </p:cNvSpPr>
          <p:nvPr>
            <p:ph type="body" idx="1"/>
          </p:nvPr>
        </p:nvSpPr>
        <p:spPr>
          <a:xfrm>
            <a:off x="838200" y="1245925"/>
            <a:ext cx="5280300" cy="243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Font typeface="Arial"/>
              <a:buChar char="•"/>
            </a:pPr>
            <a:r>
              <a:rPr lang="en-US" sz="1800">
                <a:latin typeface="Arial"/>
                <a:ea typeface="Arial"/>
                <a:cs typeface="Arial"/>
                <a:sym typeface="Arial"/>
              </a:rPr>
              <a:t>Noisy spectra</a:t>
            </a:r>
            <a:endParaRPr sz="1800">
              <a:latin typeface="Arial"/>
              <a:ea typeface="Arial"/>
              <a:cs typeface="Arial"/>
              <a:sym typeface="Arial"/>
            </a:endParaRPr>
          </a:p>
          <a:p>
            <a:pPr marL="457200" lvl="0" indent="-342900" algn="l" rtl="0">
              <a:spcBef>
                <a:spcPts val="0"/>
              </a:spcBef>
              <a:spcAft>
                <a:spcPts val="0"/>
              </a:spcAft>
              <a:buSzPts val="1800"/>
              <a:buFont typeface="Arial"/>
              <a:buChar char="•"/>
            </a:pPr>
            <a:r>
              <a:rPr lang="en-US" sz="1800">
                <a:latin typeface="Arial"/>
                <a:ea typeface="Arial"/>
                <a:cs typeface="Arial"/>
                <a:sym typeface="Arial"/>
              </a:rPr>
              <a:t>Experimental artifacts</a:t>
            </a:r>
            <a:endParaRPr sz="1800">
              <a:latin typeface="Arial"/>
              <a:ea typeface="Arial"/>
              <a:cs typeface="Arial"/>
              <a:sym typeface="Arial"/>
            </a:endParaRPr>
          </a:p>
          <a:p>
            <a:pPr marL="0" lvl="0" indent="0" algn="l" rtl="0">
              <a:spcBef>
                <a:spcPts val="1000"/>
              </a:spcBef>
              <a:spcAft>
                <a:spcPts val="0"/>
              </a:spcAft>
              <a:buNone/>
            </a:pPr>
            <a:endParaRPr sz="1800">
              <a:latin typeface="Arial"/>
              <a:ea typeface="Arial"/>
              <a:cs typeface="Arial"/>
              <a:sym typeface="Arial"/>
            </a:endParaRPr>
          </a:p>
          <a:p>
            <a:pPr marL="457200" lvl="0" indent="-342900" algn="l" rtl="0">
              <a:spcBef>
                <a:spcPts val="1000"/>
              </a:spcBef>
              <a:spcAft>
                <a:spcPts val="0"/>
              </a:spcAft>
              <a:buSzPts val="1800"/>
              <a:buFont typeface="Arial"/>
              <a:buChar char="•"/>
            </a:pPr>
            <a:r>
              <a:rPr lang="en-US" sz="1800">
                <a:latin typeface="Arial"/>
                <a:ea typeface="Arial"/>
                <a:cs typeface="Arial"/>
                <a:sym typeface="Arial"/>
              </a:rPr>
              <a:t>Reproducibility and interpretability</a:t>
            </a:r>
            <a:endParaRPr sz="1800">
              <a:latin typeface="Arial"/>
              <a:ea typeface="Arial"/>
              <a:cs typeface="Arial"/>
              <a:sym typeface="Arial"/>
            </a:endParaRPr>
          </a:p>
          <a:p>
            <a:pPr marL="0" lvl="0" indent="0" algn="l" rtl="0">
              <a:spcBef>
                <a:spcPts val="1000"/>
              </a:spcBef>
              <a:spcAft>
                <a:spcPts val="0"/>
              </a:spcAft>
              <a:buNone/>
            </a:pPr>
            <a:endParaRPr sz="1800">
              <a:latin typeface="Arial"/>
              <a:ea typeface="Arial"/>
              <a:cs typeface="Arial"/>
              <a:sym typeface="Arial"/>
            </a:endParaRPr>
          </a:p>
          <a:p>
            <a:pPr marL="457200" lvl="0" indent="-342900" algn="l" rtl="0">
              <a:spcBef>
                <a:spcPts val="1000"/>
              </a:spcBef>
              <a:spcAft>
                <a:spcPts val="0"/>
              </a:spcAft>
              <a:buSzPts val="1800"/>
              <a:buFont typeface="Arial"/>
              <a:buChar char="•"/>
            </a:pPr>
            <a:r>
              <a:rPr lang="en-US" sz="1800">
                <a:latin typeface="Arial"/>
                <a:ea typeface="Arial"/>
                <a:cs typeface="Arial"/>
                <a:sym typeface="Arial"/>
              </a:rPr>
              <a:t>Can impact downstream statistical analysis and biological interpretation</a:t>
            </a:r>
            <a:endParaRPr sz="1800">
              <a:latin typeface="Arial"/>
              <a:ea typeface="Arial"/>
              <a:cs typeface="Arial"/>
              <a:sym typeface="Arial"/>
            </a:endParaRPr>
          </a:p>
        </p:txBody>
      </p:sp>
      <p:pic>
        <p:nvPicPr>
          <p:cNvPr id="115" name="Google Shape;115;p16" descr="Shape&#10;&#10;Description automatically generated with medium confidence"/>
          <p:cNvPicPr preferRelativeResize="0"/>
          <p:nvPr/>
        </p:nvPicPr>
        <p:blipFill rotWithShape="1">
          <a:blip r:embed="rId3">
            <a:alphaModFix/>
          </a:blip>
          <a:srcRect l="4625" t="7757"/>
          <a:stretch/>
        </p:blipFill>
        <p:spPr>
          <a:xfrm>
            <a:off x="-8" y="6014552"/>
            <a:ext cx="1609725" cy="843459"/>
          </a:xfrm>
          <a:prstGeom prst="rect">
            <a:avLst/>
          </a:prstGeom>
          <a:noFill/>
          <a:ln>
            <a:noFill/>
          </a:ln>
        </p:spPr>
      </p:pic>
      <p:pic>
        <p:nvPicPr>
          <p:cNvPr id="116" name="Google Shape;116;p16" title="Screenshot 2025-09-09 at 2.55.57 PM.png"/>
          <p:cNvPicPr preferRelativeResize="0"/>
          <p:nvPr/>
        </p:nvPicPr>
        <p:blipFill>
          <a:blip r:embed="rId4">
            <a:alphaModFix/>
          </a:blip>
          <a:stretch>
            <a:fillRect/>
          </a:stretch>
        </p:blipFill>
        <p:spPr>
          <a:xfrm>
            <a:off x="6278700" y="1245925"/>
            <a:ext cx="4960624" cy="2289000"/>
          </a:xfrm>
          <a:prstGeom prst="rect">
            <a:avLst/>
          </a:prstGeom>
          <a:noFill/>
          <a:ln>
            <a:noFill/>
          </a:ln>
        </p:spPr>
      </p:pic>
      <p:pic>
        <p:nvPicPr>
          <p:cNvPr id="117" name="Google Shape;117;p16" title="Screenshot 2025-09-09 at 2.56.12 PM.png"/>
          <p:cNvPicPr preferRelativeResize="0"/>
          <p:nvPr/>
        </p:nvPicPr>
        <p:blipFill>
          <a:blip r:embed="rId5">
            <a:alphaModFix/>
          </a:blip>
          <a:stretch>
            <a:fillRect/>
          </a:stretch>
        </p:blipFill>
        <p:spPr>
          <a:xfrm>
            <a:off x="6333100" y="3677175"/>
            <a:ext cx="4851825" cy="2183000"/>
          </a:xfrm>
          <a:prstGeom prst="rect">
            <a:avLst/>
          </a:prstGeom>
          <a:noFill/>
          <a:ln>
            <a:noFill/>
          </a:ln>
        </p:spPr>
      </p:pic>
      <p:sp>
        <p:nvSpPr>
          <p:cNvPr id="118" name="Google Shape;118;p16"/>
          <p:cNvSpPr txBox="1"/>
          <p:nvPr/>
        </p:nvSpPr>
        <p:spPr>
          <a:xfrm>
            <a:off x="9187900" y="6002425"/>
            <a:ext cx="2051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a:solidFill>
                  <a:schemeClr val="dk1"/>
                </a:solidFill>
              </a:rPr>
              <a:t>Emwas et al (2018)</a:t>
            </a:r>
            <a:endParaRPr sz="1100">
              <a:solidFill>
                <a:schemeClr val="dk1"/>
              </a:solidFill>
            </a:endParaRPr>
          </a:p>
        </p:txBody>
      </p:sp>
      <p:pic>
        <p:nvPicPr>
          <p:cNvPr id="119" name="Google Shape;119;p16" title="Screenshot 2025-09-10 at 12.58.28 PM.png"/>
          <p:cNvPicPr preferRelativeResize="0"/>
          <p:nvPr/>
        </p:nvPicPr>
        <p:blipFill>
          <a:blip r:embed="rId6">
            <a:alphaModFix/>
          </a:blip>
          <a:stretch>
            <a:fillRect/>
          </a:stretch>
        </p:blipFill>
        <p:spPr>
          <a:xfrm>
            <a:off x="1609717" y="3677125"/>
            <a:ext cx="4418582" cy="26497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838200" y="365125"/>
            <a:ext cx="105156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NMR Data Acquisition Basics</a:t>
            </a:r>
            <a:endParaRPr sz="3600">
              <a:latin typeface="Arial"/>
              <a:ea typeface="Arial"/>
              <a:cs typeface="Arial"/>
              <a:sym typeface="Arial"/>
            </a:endParaRPr>
          </a:p>
        </p:txBody>
      </p:sp>
      <p:pic>
        <p:nvPicPr>
          <p:cNvPr id="126" name="Google Shape;126;p17" descr="Shape&#10;&#10;Description automatically generated with medium confidence"/>
          <p:cNvPicPr preferRelativeResize="0"/>
          <p:nvPr/>
        </p:nvPicPr>
        <p:blipFill rotWithShape="1">
          <a:blip r:embed="rId3">
            <a:alphaModFix/>
          </a:blip>
          <a:srcRect l="4625" t="7757"/>
          <a:stretch/>
        </p:blipFill>
        <p:spPr>
          <a:xfrm>
            <a:off x="-8" y="6014552"/>
            <a:ext cx="1609725" cy="843459"/>
          </a:xfrm>
          <a:prstGeom prst="rect">
            <a:avLst/>
          </a:prstGeom>
          <a:noFill/>
          <a:ln>
            <a:noFill/>
          </a:ln>
        </p:spPr>
      </p:pic>
      <p:pic>
        <p:nvPicPr>
          <p:cNvPr id="127" name="Google Shape;127;p17"/>
          <p:cNvPicPr preferRelativeResize="0"/>
          <p:nvPr/>
        </p:nvPicPr>
        <p:blipFill>
          <a:blip r:embed="rId4">
            <a:alphaModFix/>
          </a:blip>
          <a:stretch>
            <a:fillRect/>
          </a:stretch>
        </p:blipFill>
        <p:spPr>
          <a:xfrm>
            <a:off x="5257249" y="2161165"/>
            <a:ext cx="2535403" cy="1967776"/>
          </a:xfrm>
          <a:prstGeom prst="rect">
            <a:avLst/>
          </a:prstGeom>
          <a:noFill/>
          <a:ln>
            <a:noFill/>
          </a:ln>
        </p:spPr>
      </p:pic>
      <p:pic>
        <p:nvPicPr>
          <p:cNvPr id="128" name="Google Shape;128;p17" title="Screenshot 2025-09-04 at 4.44.05 PM.png"/>
          <p:cNvPicPr preferRelativeResize="0"/>
          <p:nvPr/>
        </p:nvPicPr>
        <p:blipFill>
          <a:blip r:embed="rId5">
            <a:alphaModFix/>
          </a:blip>
          <a:stretch>
            <a:fillRect/>
          </a:stretch>
        </p:blipFill>
        <p:spPr>
          <a:xfrm>
            <a:off x="8151025" y="1782595"/>
            <a:ext cx="1827121" cy="2724931"/>
          </a:xfrm>
          <a:prstGeom prst="rect">
            <a:avLst/>
          </a:prstGeom>
          <a:noFill/>
          <a:ln>
            <a:noFill/>
          </a:ln>
        </p:spPr>
      </p:pic>
      <p:pic>
        <p:nvPicPr>
          <p:cNvPr id="129" name="Google Shape;129;p17" title="Screenshot 2025-09-04 at 4.44.24 PM.png"/>
          <p:cNvPicPr preferRelativeResize="0"/>
          <p:nvPr/>
        </p:nvPicPr>
        <p:blipFill>
          <a:blip r:embed="rId6">
            <a:alphaModFix/>
          </a:blip>
          <a:stretch>
            <a:fillRect/>
          </a:stretch>
        </p:blipFill>
        <p:spPr>
          <a:xfrm>
            <a:off x="10054789" y="1915558"/>
            <a:ext cx="1834997" cy="3016325"/>
          </a:xfrm>
          <a:prstGeom prst="rect">
            <a:avLst/>
          </a:prstGeom>
          <a:noFill/>
          <a:ln>
            <a:noFill/>
          </a:ln>
        </p:spPr>
      </p:pic>
      <p:sp>
        <p:nvSpPr>
          <p:cNvPr id="130" name="Google Shape;130;p17"/>
          <p:cNvSpPr/>
          <p:nvPr/>
        </p:nvSpPr>
        <p:spPr>
          <a:xfrm>
            <a:off x="8179828" y="1669350"/>
            <a:ext cx="3794400" cy="3519300"/>
          </a:xfrm>
          <a:prstGeom prst="roundRect">
            <a:avLst>
              <a:gd name="adj" fmla="val 16667"/>
            </a:avLst>
          </a:prstGeom>
          <a:noFill/>
          <a:ln w="7875" cap="flat" cmpd="sng">
            <a:solidFill>
              <a:srgbClr val="44546A"/>
            </a:solidFill>
            <a:prstDash val="solid"/>
            <a:round/>
            <a:headEnd type="none" w="sm" len="sm"/>
            <a:tailEnd type="none" w="sm" len="sm"/>
          </a:ln>
        </p:spPr>
        <p:txBody>
          <a:bodyPr spcFirstLastPara="1" wrap="square" lIns="75600" tIns="75600" rIns="75600" bIns="75600" anchor="ctr" anchorCtr="0">
            <a:noAutofit/>
          </a:bodyPr>
          <a:lstStyle/>
          <a:p>
            <a:pPr marL="0" lvl="0" indent="0" algn="ctr" rtl="0">
              <a:spcBef>
                <a:spcPts val="0"/>
              </a:spcBef>
              <a:spcAft>
                <a:spcPts val="0"/>
              </a:spcAft>
              <a:buNone/>
            </a:pPr>
            <a:endParaRPr sz="1157">
              <a:latin typeface="Calibri"/>
              <a:ea typeface="Calibri"/>
              <a:cs typeface="Calibri"/>
              <a:sym typeface="Calibri"/>
            </a:endParaRPr>
          </a:p>
        </p:txBody>
      </p:sp>
      <p:sp>
        <p:nvSpPr>
          <p:cNvPr id="131" name="Google Shape;131;p17"/>
          <p:cNvSpPr/>
          <p:nvPr/>
        </p:nvSpPr>
        <p:spPr>
          <a:xfrm>
            <a:off x="9908491" y="2315227"/>
            <a:ext cx="294300" cy="313500"/>
          </a:xfrm>
          <a:prstGeom prst="rightArrow">
            <a:avLst>
              <a:gd name="adj1" fmla="val 50000"/>
              <a:gd name="adj2" fmla="val 50000"/>
            </a:avLst>
          </a:prstGeom>
          <a:solidFill>
            <a:srgbClr val="E7E6E6"/>
          </a:solidFill>
          <a:ln w="7875" cap="flat" cmpd="sng">
            <a:solidFill>
              <a:srgbClr val="44546A"/>
            </a:solidFill>
            <a:prstDash val="solid"/>
            <a:round/>
            <a:headEnd type="none" w="sm" len="sm"/>
            <a:tailEnd type="none" w="sm" len="sm"/>
          </a:ln>
        </p:spPr>
        <p:txBody>
          <a:bodyPr spcFirstLastPara="1" wrap="square" lIns="75600" tIns="75600" rIns="75600" bIns="75600" anchor="ctr" anchorCtr="0">
            <a:noAutofit/>
          </a:bodyPr>
          <a:lstStyle/>
          <a:p>
            <a:pPr marL="0" lvl="0" indent="0" algn="ctr" rtl="0">
              <a:spcBef>
                <a:spcPts val="0"/>
              </a:spcBef>
              <a:spcAft>
                <a:spcPts val="0"/>
              </a:spcAft>
              <a:buNone/>
            </a:pPr>
            <a:endParaRPr sz="1157">
              <a:latin typeface="Calibri"/>
              <a:ea typeface="Calibri"/>
              <a:cs typeface="Calibri"/>
              <a:sym typeface="Calibri"/>
            </a:endParaRPr>
          </a:p>
        </p:txBody>
      </p:sp>
      <p:sp>
        <p:nvSpPr>
          <p:cNvPr id="132" name="Google Shape;132;p17"/>
          <p:cNvSpPr/>
          <p:nvPr/>
        </p:nvSpPr>
        <p:spPr>
          <a:xfrm>
            <a:off x="9908491" y="3125105"/>
            <a:ext cx="294300" cy="313500"/>
          </a:xfrm>
          <a:prstGeom prst="rightArrow">
            <a:avLst>
              <a:gd name="adj1" fmla="val 50000"/>
              <a:gd name="adj2" fmla="val 50000"/>
            </a:avLst>
          </a:prstGeom>
          <a:solidFill>
            <a:srgbClr val="E7E6E6"/>
          </a:solidFill>
          <a:ln w="7875" cap="flat" cmpd="sng">
            <a:solidFill>
              <a:srgbClr val="44546A"/>
            </a:solidFill>
            <a:prstDash val="solid"/>
            <a:round/>
            <a:headEnd type="none" w="sm" len="sm"/>
            <a:tailEnd type="none" w="sm" len="sm"/>
          </a:ln>
        </p:spPr>
        <p:txBody>
          <a:bodyPr spcFirstLastPara="1" wrap="square" lIns="75600" tIns="75600" rIns="75600" bIns="75600" anchor="ctr" anchorCtr="0">
            <a:noAutofit/>
          </a:bodyPr>
          <a:lstStyle/>
          <a:p>
            <a:pPr marL="0" lvl="0" indent="0" algn="ctr" rtl="0">
              <a:spcBef>
                <a:spcPts val="0"/>
              </a:spcBef>
              <a:spcAft>
                <a:spcPts val="0"/>
              </a:spcAft>
              <a:buNone/>
            </a:pPr>
            <a:endParaRPr sz="1157">
              <a:latin typeface="Calibri"/>
              <a:ea typeface="Calibri"/>
              <a:cs typeface="Calibri"/>
              <a:sym typeface="Calibri"/>
            </a:endParaRPr>
          </a:p>
        </p:txBody>
      </p:sp>
      <p:sp>
        <p:nvSpPr>
          <p:cNvPr id="133" name="Google Shape;133;p17"/>
          <p:cNvSpPr txBox="1"/>
          <p:nvPr/>
        </p:nvSpPr>
        <p:spPr>
          <a:xfrm>
            <a:off x="9832506" y="2286721"/>
            <a:ext cx="532200" cy="381900"/>
          </a:xfrm>
          <a:prstGeom prst="rect">
            <a:avLst/>
          </a:prstGeom>
          <a:noFill/>
          <a:ln>
            <a:noFill/>
          </a:ln>
        </p:spPr>
        <p:txBody>
          <a:bodyPr spcFirstLastPara="1" wrap="square" lIns="75600" tIns="75600" rIns="75600" bIns="75600" anchor="t" anchorCtr="0">
            <a:spAutoFit/>
          </a:bodyPr>
          <a:lstStyle/>
          <a:p>
            <a:pPr marL="0" lvl="0" indent="0" algn="l" rtl="0">
              <a:spcBef>
                <a:spcPts val="0"/>
              </a:spcBef>
              <a:spcAft>
                <a:spcPts val="0"/>
              </a:spcAft>
              <a:buNone/>
            </a:pPr>
            <a:r>
              <a:rPr lang="en-US" sz="1488">
                <a:solidFill>
                  <a:srgbClr val="000000"/>
                </a:solidFill>
                <a:latin typeface="Helvetica Neue"/>
                <a:ea typeface="Helvetica Neue"/>
                <a:cs typeface="Helvetica Neue"/>
                <a:sym typeface="Helvetica Neue"/>
              </a:rPr>
              <a:t>FT</a:t>
            </a:r>
            <a:endParaRPr sz="1488">
              <a:solidFill>
                <a:srgbClr val="000000"/>
              </a:solidFill>
              <a:latin typeface="Helvetica Neue"/>
              <a:ea typeface="Helvetica Neue"/>
              <a:cs typeface="Helvetica Neue"/>
              <a:sym typeface="Helvetica Neue"/>
            </a:endParaRPr>
          </a:p>
        </p:txBody>
      </p:sp>
      <p:sp>
        <p:nvSpPr>
          <p:cNvPr id="134" name="Google Shape;134;p17"/>
          <p:cNvSpPr txBox="1"/>
          <p:nvPr/>
        </p:nvSpPr>
        <p:spPr>
          <a:xfrm>
            <a:off x="9832506" y="3096279"/>
            <a:ext cx="532200" cy="381900"/>
          </a:xfrm>
          <a:prstGeom prst="rect">
            <a:avLst/>
          </a:prstGeom>
          <a:noFill/>
          <a:ln>
            <a:noFill/>
          </a:ln>
        </p:spPr>
        <p:txBody>
          <a:bodyPr spcFirstLastPara="1" wrap="square" lIns="75600" tIns="75600" rIns="75600" bIns="75600" anchor="t" anchorCtr="0">
            <a:spAutoFit/>
          </a:bodyPr>
          <a:lstStyle/>
          <a:p>
            <a:pPr marL="0" lvl="0" indent="0" algn="l" rtl="0">
              <a:spcBef>
                <a:spcPts val="0"/>
              </a:spcBef>
              <a:spcAft>
                <a:spcPts val="0"/>
              </a:spcAft>
              <a:buNone/>
            </a:pPr>
            <a:r>
              <a:rPr lang="en-US" sz="1488">
                <a:solidFill>
                  <a:srgbClr val="000000"/>
                </a:solidFill>
                <a:latin typeface="Helvetica Neue"/>
                <a:ea typeface="Helvetica Neue"/>
                <a:cs typeface="Helvetica Neue"/>
                <a:sym typeface="Helvetica Neue"/>
              </a:rPr>
              <a:t>FT</a:t>
            </a:r>
            <a:endParaRPr sz="1488">
              <a:solidFill>
                <a:srgbClr val="000000"/>
              </a:solidFill>
              <a:latin typeface="Helvetica Neue"/>
              <a:ea typeface="Helvetica Neue"/>
              <a:cs typeface="Helvetica Neue"/>
              <a:sym typeface="Helvetica Neue"/>
            </a:endParaRPr>
          </a:p>
        </p:txBody>
      </p:sp>
      <p:pic>
        <p:nvPicPr>
          <p:cNvPr id="135" name="Google Shape;135;p17"/>
          <p:cNvPicPr preferRelativeResize="0"/>
          <p:nvPr/>
        </p:nvPicPr>
        <p:blipFill>
          <a:blip r:embed="rId7">
            <a:alphaModFix/>
          </a:blip>
          <a:stretch>
            <a:fillRect/>
          </a:stretch>
        </p:blipFill>
        <p:spPr>
          <a:xfrm>
            <a:off x="838200" y="1446875"/>
            <a:ext cx="4031875" cy="1843300"/>
          </a:xfrm>
          <a:prstGeom prst="rect">
            <a:avLst/>
          </a:prstGeom>
          <a:noFill/>
          <a:ln>
            <a:noFill/>
          </a:ln>
        </p:spPr>
      </p:pic>
      <p:sp>
        <p:nvSpPr>
          <p:cNvPr id="136" name="Google Shape;136;p17"/>
          <p:cNvSpPr txBox="1"/>
          <p:nvPr/>
        </p:nvSpPr>
        <p:spPr>
          <a:xfrm>
            <a:off x="838200" y="1175700"/>
            <a:ext cx="142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rgbClr val="000000"/>
                </a:solidFill>
                <a:latin typeface="Helvetica Neue"/>
                <a:ea typeface="Helvetica Neue"/>
                <a:cs typeface="Helvetica Neue"/>
                <a:sym typeface="Helvetica Neue"/>
              </a:rPr>
              <a:t>Magnetisation</a:t>
            </a:r>
            <a:endParaRPr>
              <a:solidFill>
                <a:srgbClr val="000000"/>
              </a:solidFill>
              <a:latin typeface="Helvetica Neue"/>
              <a:ea typeface="Helvetica Neue"/>
              <a:cs typeface="Helvetica Neue"/>
              <a:sym typeface="Helvetica Neue"/>
            </a:endParaRPr>
          </a:p>
        </p:txBody>
      </p:sp>
      <p:sp>
        <p:nvSpPr>
          <p:cNvPr id="137" name="Google Shape;137;p17"/>
          <p:cNvSpPr txBox="1"/>
          <p:nvPr/>
        </p:nvSpPr>
        <p:spPr>
          <a:xfrm>
            <a:off x="710575" y="3450625"/>
            <a:ext cx="226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rgbClr val="000000"/>
                </a:solidFill>
                <a:latin typeface="Helvetica Neue"/>
                <a:ea typeface="Helvetica Neue"/>
                <a:cs typeface="Helvetica Neue"/>
                <a:sym typeface="Helvetica Neue"/>
              </a:rPr>
              <a:t>Radio Frequency Pulse</a:t>
            </a:r>
            <a:endParaRPr>
              <a:solidFill>
                <a:srgbClr val="000000"/>
              </a:solidFill>
              <a:latin typeface="Helvetica Neue"/>
              <a:ea typeface="Helvetica Neue"/>
              <a:cs typeface="Helvetica Neue"/>
              <a:sym typeface="Helvetica Neue"/>
            </a:endParaRPr>
          </a:p>
        </p:txBody>
      </p:sp>
      <p:pic>
        <p:nvPicPr>
          <p:cNvPr id="138" name="Google Shape;138;p17"/>
          <p:cNvPicPr preferRelativeResize="0"/>
          <p:nvPr/>
        </p:nvPicPr>
        <p:blipFill>
          <a:blip r:embed="rId8">
            <a:alphaModFix/>
          </a:blip>
          <a:stretch>
            <a:fillRect/>
          </a:stretch>
        </p:blipFill>
        <p:spPr>
          <a:xfrm>
            <a:off x="760775" y="3850825"/>
            <a:ext cx="4918225" cy="1912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8"/>
          <p:cNvSpPr txBox="1">
            <a:spLocks noGrp="1"/>
          </p:cNvSpPr>
          <p:nvPr>
            <p:ph type="title"/>
          </p:nvPr>
        </p:nvSpPr>
        <p:spPr>
          <a:xfrm>
            <a:off x="838200" y="365125"/>
            <a:ext cx="5452500" cy="871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400">
                <a:latin typeface="Helvetica Neue"/>
                <a:ea typeface="Helvetica Neue"/>
                <a:cs typeface="Helvetica Neue"/>
                <a:sym typeface="Helvetica Neue"/>
              </a:rPr>
              <a:t>NMR Data Acquisition Basics</a:t>
            </a:r>
            <a:endParaRPr sz="2400">
              <a:latin typeface="Helvetica Neue"/>
              <a:ea typeface="Helvetica Neue"/>
              <a:cs typeface="Helvetica Neue"/>
              <a:sym typeface="Helvetica Neue"/>
            </a:endParaRPr>
          </a:p>
        </p:txBody>
      </p:sp>
      <p:pic>
        <p:nvPicPr>
          <p:cNvPr id="145" name="Google Shape;145;p18" descr="Shape&#10;&#10;Description automatically generated with medium confidence"/>
          <p:cNvPicPr preferRelativeResize="0"/>
          <p:nvPr/>
        </p:nvPicPr>
        <p:blipFill rotWithShape="1">
          <a:blip r:embed="rId3">
            <a:alphaModFix/>
          </a:blip>
          <a:srcRect l="4625" t="7757"/>
          <a:stretch/>
        </p:blipFill>
        <p:spPr>
          <a:xfrm>
            <a:off x="79017" y="5965102"/>
            <a:ext cx="1609725" cy="843459"/>
          </a:xfrm>
          <a:prstGeom prst="rect">
            <a:avLst/>
          </a:prstGeom>
          <a:noFill/>
          <a:ln>
            <a:noFill/>
          </a:ln>
        </p:spPr>
      </p:pic>
      <p:sp>
        <p:nvSpPr>
          <p:cNvPr id="146" name="Google Shape;146;p18"/>
          <p:cNvSpPr txBox="1"/>
          <p:nvPr/>
        </p:nvSpPr>
        <p:spPr>
          <a:xfrm>
            <a:off x="1033325" y="1509375"/>
            <a:ext cx="16512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RF Synthesizer</a:t>
            </a:r>
            <a:endParaRPr sz="1600">
              <a:solidFill>
                <a:schemeClr val="dk1"/>
              </a:solidFill>
              <a:latin typeface="Helvetica Neue"/>
              <a:ea typeface="Helvetica Neue"/>
              <a:cs typeface="Helvetica Neue"/>
              <a:sym typeface="Helvetica Neue"/>
            </a:endParaRPr>
          </a:p>
        </p:txBody>
      </p:sp>
      <p:sp>
        <p:nvSpPr>
          <p:cNvPr id="147" name="Google Shape;147;p18"/>
          <p:cNvSpPr txBox="1"/>
          <p:nvPr/>
        </p:nvSpPr>
        <p:spPr>
          <a:xfrm>
            <a:off x="871175" y="2874138"/>
            <a:ext cx="19755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RF Power Amplifier</a:t>
            </a:r>
            <a:endParaRPr sz="1600">
              <a:solidFill>
                <a:schemeClr val="dk1"/>
              </a:solidFill>
              <a:latin typeface="Helvetica Neue"/>
              <a:ea typeface="Helvetica Neue"/>
              <a:cs typeface="Helvetica Neue"/>
              <a:sym typeface="Helvetica Neue"/>
            </a:endParaRPr>
          </a:p>
        </p:txBody>
      </p:sp>
      <p:sp>
        <p:nvSpPr>
          <p:cNvPr id="148" name="Google Shape;148;p18"/>
          <p:cNvSpPr txBox="1"/>
          <p:nvPr/>
        </p:nvSpPr>
        <p:spPr>
          <a:xfrm>
            <a:off x="1311875" y="4238900"/>
            <a:ext cx="10941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Duplexer</a:t>
            </a:r>
            <a:endParaRPr sz="1600">
              <a:solidFill>
                <a:schemeClr val="dk1"/>
              </a:solidFill>
              <a:latin typeface="Helvetica Neue"/>
              <a:ea typeface="Helvetica Neue"/>
              <a:cs typeface="Helvetica Neue"/>
              <a:sym typeface="Helvetica Neue"/>
            </a:endParaRPr>
          </a:p>
        </p:txBody>
      </p:sp>
      <p:sp>
        <p:nvSpPr>
          <p:cNvPr id="149" name="Google Shape;149;p18"/>
          <p:cNvSpPr txBox="1"/>
          <p:nvPr/>
        </p:nvSpPr>
        <p:spPr>
          <a:xfrm>
            <a:off x="3799475" y="4238900"/>
            <a:ext cx="13569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Probe Coil</a:t>
            </a:r>
            <a:endParaRPr sz="1600">
              <a:solidFill>
                <a:schemeClr val="dk1"/>
              </a:solidFill>
              <a:latin typeface="Helvetica Neue"/>
              <a:ea typeface="Helvetica Neue"/>
              <a:cs typeface="Helvetica Neue"/>
              <a:sym typeface="Helvetica Neue"/>
            </a:endParaRPr>
          </a:p>
        </p:txBody>
      </p:sp>
      <p:sp>
        <p:nvSpPr>
          <p:cNvPr id="150" name="Google Shape;150;p18"/>
          <p:cNvSpPr txBox="1"/>
          <p:nvPr/>
        </p:nvSpPr>
        <p:spPr>
          <a:xfrm>
            <a:off x="3607175" y="2874138"/>
            <a:ext cx="17415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Pre-Amplifier</a:t>
            </a:r>
            <a:endParaRPr sz="1600">
              <a:solidFill>
                <a:schemeClr val="dk1"/>
              </a:solidFill>
              <a:latin typeface="Helvetica Neue"/>
              <a:ea typeface="Helvetica Neue"/>
              <a:cs typeface="Helvetica Neue"/>
              <a:sym typeface="Helvetica Neue"/>
            </a:endParaRPr>
          </a:p>
        </p:txBody>
      </p:sp>
      <p:sp>
        <p:nvSpPr>
          <p:cNvPr id="151" name="Google Shape;151;p18"/>
          <p:cNvSpPr txBox="1"/>
          <p:nvPr/>
        </p:nvSpPr>
        <p:spPr>
          <a:xfrm>
            <a:off x="3607175" y="1509388"/>
            <a:ext cx="17415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Receiver Chain</a:t>
            </a:r>
            <a:endParaRPr sz="1600">
              <a:solidFill>
                <a:schemeClr val="dk1"/>
              </a:solidFill>
              <a:latin typeface="Helvetica Neue"/>
              <a:ea typeface="Helvetica Neue"/>
              <a:cs typeface="Helvetica Neue"/>
              <a:sym typeface="Helvetica Neue"/>
            </a:endParaRPr>
          </a:p>
        </p:txBody>
      </p:sp>
      <p:grpSp>
        <p:nvGrpSpPr>
          <p:cNvPr id="152" name="Google Shape;152;p18"/>
          <p:cNvGrpSpPr/>
          <p:nvPr/>
        </p:nvGrpSpPr>
        <p:grpSpPr>
          <a:xfrm>
            <a:off x="2780788" y="1381588"/>
            <a:ext cx="5936100" cy="1347300"/>
            <a:chOff x="3358188" y="1236325"/>
            <a:chExt cx="5936100" cy="1347300"/>
          </a:xfrm>
        </p:grpSpPr>
        <p:sp>
          <p:nvSpPr>
            <p:cNvPr id="153" name="Google Shape;153;p18"/>
            <p:cNvSpPr/>
            <p:nvPr/>
          </p:nvSpPr>
          <p:spPr>
            <a:xfrm>
              <a:off x="3358188" y="1236325"/>
              <a:ext cx="5936100" cy="13473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4" name="Google Shape;154;p18"/>
            <p:cNvSpPr txBox="1"/>
            <p:nvPr/>
          </p:nvSpPr>
          <p:spPr>
            <a:xfrm>
              <a:off x="3408738" y="1402075"/>
              <a:ext cx="5835000" cy="10158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Generate precise Radio Frequency (RF) waveform at the Larmor frequency</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Defines pulse shape, phase and duration</a:t>
              </a:r>
              <a:endParaRPr sz="1800">
                <a:solidFill>
                  <a:schemeClr val="dk1"/>
                </a:solidFill>
                <a:latin typeface="Helvetica Neue"/>
                <a:ea typeface="Helvetica Neue"/>
                <a:cs typeface="Helvetica Neue"/>
                <a:sym typeface="Helvetica Neue"/>
              </a:endParaRPr>
            </a:p>
          </p:txBody>
        </p:sp>
      </p:grpSp>
      <p:cxnSp>
        <p:nvCxnSpPr>
          <p:cNvPr id="155" name="Google Shape;155;p18"/>
          <p:cNvCxnSpPr>
            <a:stCxn id="146" idx="2"/>
            <a:endCxn id="147" idx="0"/>
          </p:cNvCxnSpPr>
          <p:nvPr/>
        </p:nvCxnSpPr>
        <p:spPr>
          <a:xfrm>
            <a:off x="1858925" y="1940475"/>
            <a:ext cx="0" cy="933600"/>
          </a:xfrm>
          <a:prstGeom prst="straightConnector1">
            <a:avLst/>
          </a:prstGeom>
          <a:noFill/>
          <a:ln w="9525" cap="flat" cmpd="sng">
            <a:solidFill>
              <a:schemeClr val="dk2"/>
            </a:solidFill>
            <a:prstDash val="solid"/>
            <a:round/>
            <a:headEnd type="none" w="med" len="med"/>
            <a:tailEnd type="triangle" w="med" len="med"/>
          </a:ln>
        </p:spPr>
      </p:cxnSp>
      <p:grpSp>
        <p:nvGrpSpPr>
          <p:cNvPr id="156" name="Google Shape;156;p18"/>
          <p:cNvGrpSpPr/>
          <p:nvPr/>
        </p:nvGrpSpPr>
        <p:grpSpPr>
          <a:xfrm>
            <a:off x="2927650" y="2487320"/>
            <a:ext cx="5936100" cy="1081747"/>
            <a:chOff x="3358188" y="1236325"/>
            <a:chExt cx="5936100" cy="1347300"/>
          </a:xfrm>
        </p:grpSpPr>
        <p:sp>
          <p:nvSpPr>
            <p:cNvPr id="157" name="Google Shape;157;p18"/>
            <p:cNvSpPr/>
            <p:nvPr/>
          </p:nvSpPr>
          <p:spPr>
            <a:xfrm>
              <a:off x="3358188" y="1236325"/>
              <a:ext cx="5936100" cy="13473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8" name="Google Shape;158;p18"/>
            <p:cNvSpPr txBox="1"/>
            <p:nvPr/>
          </p:nvSpPr>
          <p:spPr>
            <a:xfrm>
              <a:off x="3408738" y="1402075"/>
              <a:ext cx="5835000" cy="9201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Boosts RF pulse power (watts → kilowatts)</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Provide enough energy to tilt nuclear spins</a:t>
              </a:r>
              <a:endParaRPr sz="1800">
                <a:solidFill>
                  <a:schemeClr val="dk1"/>
                </a:solidFill>
                <a:latin typeface="Helvetica Neue"/>
                <a:ea typeface="Helvetica Neue"/>
                <a:cs typeface="Helvetica Neue"/>
                <a:sym typeface="Helvetica Neue"/>
              </a:endParaRPr>
            </a:p>
          </p:txBody>
        </p:sp>
      </p:grpSp>
      <p:cxnSp>
        <p:nvCxnSpPr>
          <p:cNvPr id="159" name="Google Shape;159;p18"/>
          <p:cNvCxnSpPr/>
          <p:nvPr/>
        </p:nvCxnSpPr>
        <p:spPr>
          <a:xfrm>
            <a:off x="1839125" y="3305250"/>
            <a:ext cx="0" cy="933600"/>
          </a:xfrm>
          <a:prstGeom prst="straightConnector1">
            <a:avLst/>
          </a:prstGeom>
          <a:noFill/>
          <a:ln w="9525" cap="flat" cmpd="sng">
            <a:solidFill>
              <a:schemeClr val="dk2"/>
            </a:solidFill>
            <a:prstDash val="solid"/>
            <a:round/>
            <a:headEnd type="none" w="med" len="med"/>
            <a:tailEnd type="triangle" w="med" len="med"/>
          </a:ln>
        </p:spPr>
      </p:cxnSp>
      <p:grpSp>
        <p:nvGrpSpPr>
          <p:cNvPr id="160" name="Google Shape;160;p18"/>
          <p:cNvGrpSpPr/>
          <p:nvPr/>
        </p:nvGrpSpPr>
        <p:grpSpPr>
          <a:xfrm>
            <a:off x="2780800" y="3892177"/>
            <a:ext cx="5936100" cy="1588056"/>
            <a:chOff x="3358188" y="1236334"/>
            <a:chExt cx="5936100" cy="1977900"/>
          </a:xfrm>
        </p:grpSpPr>
        <p:sp>
          <p:nvSpPr>
            <p:cNvPr id="161" name="Google Shape;161;p18"/>
            <p:cNvSpPr/>
            <p:nvPr/>
          </p:nvSpPr>
          <p:spPr>
            <a:xfrm>
              <a:off x="3358188" y="1236334"/>
              <a:ext cx="5936100" cy="1977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2" name="Google Shape;162;p18"/>
            <p:cNvSpPr txBox="1"/>
            <p:nvPr/>
          </p:nvSpPr>
          <p:spPr>
            <a:xfrm>
              <a:off x="3408738" y="1402075"/>
              <a:ext cx="5835000" cy="16104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Routs RF power to the probe during transmission</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Immediately switches off to protect receiver after pulse</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Direct weak FID signal from probe to the pre-amp</a:t>
              </a:r>
              <a:endParaRPr sz="1800">
                <a:solidFill>
                  <a:schemeClr val="dk1"/>
                </a:solidFill>
                <a:latin typeface="Helvetica Neue"/>
                <a:ea typeface="Helvetica Neue"/>
                <a:cs typeface="Helvetica Neue"/>
                <a:sym typeface="Helvetica Neue"/>
              </a:endParaRPr>
            </a:p>
          </p:txBody>
        </p:sp>
      </p:grpSp>
      <p:cxnSp>
        <p:nvCxnSpPr>
          <p:cNvPr id="163" name="Google Shape;163;p18"/>
          <p:cNvCxnSpPr>
            <a:stCxn id="148" idx="3"/>
          </p:cNvCxnSpPr>
          <p:nvPr/>
        </p:nvCxnSpPr>
        <p:spPr>
          <a:xfrm rot="10800000" flipH="1">
            <a:off x="2405975" y="4446950"/>
            <a:ext cx="1392900" cy="7500"/>
          </a:xfrm>
          <a:prstGeom prst="straightConnector1">
            <a:avLst/>
          </a:prstGeom>
          <a:noFill/>
          <a:ln w="9525" cap="flat" cmpd="sng">
            <a:solidFill>
              <a:schemeClr val="dk2"/>
            </a:solidFill>
            <a:prstDash val="solid"/>
            <a:round/>
            <a:headEnd type="none" w="med" len="med"/>
            <a:tailEnd type="triangle" w="med" len="med"/>
          </a:ln>
        </p:spPr>
      </p:cxnSp>
      <p:grpSp>
        <p:nvGrpSpPr>
          <p:cNvPr id="164" name="Google Shape;164;p18"/>
          <p:cNvGrpSpPr/>
          <p:nvPr/>
        </p:nvGrpSpPr>
        <p:grpSpPr>
          <a:xfrm>
            <a:off x="5891175" y="3069074"/>
            <a:ext cx="5936100" cy="2114357"/>
            <a:chOff x="3358188" y="1236330"/>
            <a:chExt cx="5936100" cy="2633400"/>
          </a:xfrm>
        </p:grpSpPr>
        <p:sp>
          <p:nvSpPr>
            <p:cNvPr id="165" name="Google Shape;165;p18"/>
            <p:cNvSpPr/>
            <p:nvPr/>
          </p:nvSpPr>
          <p:spPr>
            <a:xfrm>
              <a:off x="3358188" y="1236330"/>
              <a:ext cx="5936100" cy="2633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6" name="Google Shape;166;p18"/>
            <p:cNvSpPr txBox="1"/>
            <p:nvPr/>
          </p:nvSpPr>
          <p:spPr>
            <a:xfrm>
              <a:off x="3408738" y="1402075"/>
              <a:ext cx="5835000" cy="23004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During transmission: excite nuclei in the magnetic field</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During receiving: detect the FID (tiny voltage from precessing spins)</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Probe tuning and matching to optimise sensitivity (this part is done before running the sample)</a:t>
              </a:r>
              <a:endParaRPr sz="1800">
                <a:solidFill>
                  <a:schemeClr val="dk1"/>
                </a:solidFill>
                <a:latin typeface="Helvetica Neue"/>
                <a:ea typeface="Helvetica Neue"/>
                <a:cs typeface="Helvetica Neue"/>
                <a:sym typeface="Helvetica Neue"/>
              </a:endParaRPr>
            </a:p>
          </p:txBody>
        </p:sp>
      </p:grpSp>
      <p:cxnSp>
        <p:nvCxnSpPr>
          <p:cNvPr id="167" name="Google Shape;167;p18"/>
          <p:cNvCxnSpPr/>
          <p:nvPr/>
        </p:nvCxnSpPr>
        <p:spPr>
          <a:xfrm rot="10800000">
            <a:off x="4447225" y="3352925"/>
            <a:ext cx="20100" cy="881400"/>
          </a:xfrm>
          <a:prstGeom prst="straightConnector1">
            <a:avLst/>
          </a:prstGeom>
          <a:noFill/>
          <a:ln w="9525" cap="flat" cmpd="sng">
            <a:solidFill>
              <a:schemeClr val="dk2"/>
            </a:solidFill>
            <a:prstDash val="solid"/>
            <a:round/>
            <a:headEnd type="none" w="med" len="med"/>
            <a:tailEnd type="triangle" w="med" len="med"/>
          </a:ln>
        </p:spPr>
      </p:cxnSp>
      <p:grpSp>
        <p:nvGrpSpPr>
          <p:cNvPr id="168" name="Google Shape;168;p18"/>
          <p:cNvGrpSpPr/>
          <p:nvPr/>
        </p:nvGrpSpPr>
        <p:grpSpPr>
          <a:xfrm>
            <a:off x="5891175" y="2234223"/>
            <a:ext cx="5936100" cy="1587940"/>
            <a:chOff x="3358188" y="1236330"/>
            <a:chExt cx="5936100" cy="2633400"/>
          </a:xfrm>
        </p:grpSpPr>
        <p:sp>
          <p:nvSpPr>
            <p:cNvPr id="169" name="Google Shape;169;p18"/>
            <p:cNvSpPr/>
            <p:nvPr/>
          </p:nvSpPr>
          <p:spPr>
            <a:xfrm>
              <a:off x="3358188" y="1236330"/>
              <a:ext cx="5936100" cy="2633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0" name="Google Shape;170;p18"/>
            <p:cNvSpPr txBox="1"/>
            <p:nvPr/>
          </p:nvSpPr>
          <p:spPr>
            <a:xfrm>
              <a:off x="3408738" y="1402075"/>
              <a:ext cx="5835000" cy="21441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First stage of signal amplification</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very low-noise design to keep low signal-to-noise ratio (SNR)</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Located close to the probe to minimize signal loss</a:t>
              </a:r>
              <a:endParaRPr sz="1800">
                <a:solidFill>
                  <a:schemeClr val="dk1"/>
                </a:solidFill>
                <a:latin typeface="Helvetica Neue"/>
                <a:ea typeface="Helvetica Neue"/>
                <a:cs typeface="Helvetica Neue"/>
                <a:sym typeface="Helvetica Neue"/>
              </a:endParaRPr>
            </a:p>
          </p:txBody>
        </p:sp>
      </p:grpSp>
      <p:cxnSp>
        <p:nvCxnSpPr>
          <p:cNvPr id="171" name="Google Shape;171;p18"/>
          <p:cNvCxnSpPr/>
          <p:nvPr/>
        </p:nvCxnSpPr>
        <p:spPr>
          <a:xfrm rot="10800000">
            <a:off x="4457275" y="1940500"/>
            <a:ext cx="0" cy="764100"/>
          </a:xfrm>
          <a:prstGeom prst="straightConnector1">
            <a:avLst/>
          </a:prstGeom>
          <a:noFill/>
          <a:ln w="9525" cap="flat" cmpd="sng">
            <a:solidFill>
              <a:schemeClr val="dk2"/>
            </a:solidFill>
            <a:prstDash val="solid"/>
            <a:round/>
            <a:headEnd type="none" w="med" len="med"/>
            <a:tailEnd type="triangle" w="med" len="med"/>
          </a:ln>
        </p:spPr>
      </p:cxnSp>
      <p:grpSp>
        <p:nvGrpSpPr>
          <p:cNvPr id="172" name="Google Shape;172;p18"/>
          <p:cNvGrpSpPr/>
          <p:nvPr/>
        </p:nvGrpSpPr>
        <p:grpSpPr>
          <a:xfrm>
            <a:off x="5891175" y="930973"/>
            <a:ext cx="5936100" cy="1587940"/>
            <a:chOff x="3358188" y="1236330"/>
            <a:chExt cx="5936100" cy="2633400"/>
          </a:xfrm>
        </p:grpSpPr>
        <p:sp>
          <p:nvSpPr>
            <p:cNvPr id="173" name="Google Shape;173;p18"/>
            <p:cNvSpPr/>
            <p:nvPr/>
          </p:nvSpPr>
          <p:spPr>
            <a:xfrm>
              <a:off x="3358188" y="1236330"/>
              <a:ext cx="5936100" cy="2633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4" name="Google Shape;174;p18"/>
            <p:cNvSpPr txBox="1"/>
            <p:nvPr/>
          </p:nvSpPr>
          <p:spPr>
            <a:xfrm>
              <a:off x="3408738" y="1402075"/>
              <a:ext cx="5835000" cy="21441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Frequency conversion: down-mixes RG signal to lower frequency</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Filtering to remove out-of-band noise and artifacts</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Signal is conditioned for digitization</a:t>
              </a:r>
              <a:endParaRPr sz="1800">
                <a:solidFill>
                  <a:schemeClr val="dk1"/>
                </a:solidFill>
                <a:latin typeface="Helvetica Neue"/>
                <a:ea typeface="Helvetica Neue"/>
                <a:cs typeface="Helvetica Neue"/>
                <a:sym typeface="Helvetica Neue"/>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5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56"/>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5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6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4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60"/>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149"/>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6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164"/>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16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50"/>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6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168"/>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151"/>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71"/>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7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172"/>
                                        </p:tgtEl>
                                        <p:attrNameLst>
                                          <p:attrName>style.visibility</p:attrName>
                                        </p:attrNameLst>
                                      </p:cBhvr>
                                      <p:to>
                                        <p:strVal val="hidden"/>
                                      </p:to>
                                    </p:set>
                                  </p:childTnLst>
                                </p:cTn>
                              </p:par>
                              <p:par>
                                <p:cTn id="58" presetID="1" presetClass="entr" presetSubtype="0" fill="hold" nodeType="withEffect">
                                  <p:stCondLst>
                                    <p:cond delay="0"/>
                                  </p:stCondLst>
                                  <p:childTnLst>
                                    <p:set>
                                      <p:cBhvr>
                                        <p:cTn id="59"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9"/>
          <p:cNvSpPr txBox="1">
            <a:spLocks noGrp="1"/>
          </p:cNvSpPr>
          <p:nvPr>
            <p:ph type="title"/>
          </p:nvPr>
        </p:nvSpPr>
        <p:spPr>
          <a:xfrm>
            <a:off x="838200" y="365125"/>
            <a:ext cx="5452500" cy="871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400">
                <a:latin typeface="Helvetica Neue"/>
                <a:ea typeface="Helvetica Neue"/>
                <a:cs typeface="Helvetica Neue"/>
                <a:sym typeface="Helvetica Neue"/>
              </a:rPr>
              <a:t>NMR Data Acquisition Basics</a:t>
            </a:r>
            <a:endParaRPr sz="2400">
              <a:latin typeface="Helvetica Neue"/>
              <a:ea typeface="Helvetica Neue"/>
              <a:cs typeface="Helvetica Neue"/>
              <a:sym typeface="Helvetica Neue"/>
            </a:endParaRPr>
          </a:p>
        </p:txBody>
      </p:sp>
      <p:pic>
        <p:nvPicPr>
          <p:cNvPr id="181" name="Google Shape;181;p19" descr="Shape&#10;&#10;Description automatically generated with medium confidence"/>
          <p:cNvPicPr preferRelativeResize="0"/>
          <p:nvPr/>
        </p:nvPicPr>
        <p:blipFill rotWithShape="1">
          <a:blip r:embed="rId3">
            <a:alphaModFix/>
          </a:blip>
          <a:srcRect l="4625" t="7757"/>
          <a:stretch/>
        </p:blipFill>
        <p:spPr>
          <a:xfrm>
            <a:off x="79017" y="5965102"/>
            <a:ext cx="1609725" cy="843459"/>
          </a:xfrm>
          <a:prstGeom prst="rect">
            <a:avLst/>
          </a:prstGeom>
          <a:noFill/>
          <a:ln>
            <a:noFill/>
          </a:ln>
        </p:spPr>
      </p:pic>
      <p:sp>
        <p:nvSpPr>
          <p:cNvPr id="182" name="Google Shape;182;p19"/>
          <p:cNvSpPr txBox="1"/>
          <p:nvPr/>
        </p:nvSpPr>
        <p:spPr>
          <a:xfrm>
            <a:off x="1033325" y="1509375"/>
            <a:ext cx="16512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RF Synthesizer</a:t>
            </a:r>
            <a:endParaRPr sz="1600">
              <a:solidFill>
                <a:schemeClr val="dk1"/>
              </a:solidFill>
              <a:latin typeface="Helvetica Neue"/>
              <a:ea typeface="Helvetica Neue"/>
              <a:cs typeface="Helvetica Neue"/>
              <a:sym typeface="Helvetica Neue"/>
            </a:endParaRPr>
          </a:p>
        </p:txBody>
      </p:sp>
      <p:sp>
        <p:nvSpPr>
          <p:cNvPr id="183" name="Google Shape;183;p19"/>
          <p:cNvSpPr txBox="1"/>
          <p:nvPr/>
        </p:nvSpPr>
        <p:spPr>
          <a:xfrm>
            <a:off x="871175" y="2874138"/>
            <a:ext cx="19755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RF Power Amplifier</a:t>
            </a:r>
            <a:endParaRPr sz="1600">
              <a:solidFill>
                <a:schemeClr val="dk1"/>
              </a:solidFill>
              <a:latin typeface="Helvetica Neue"/>
              <a:ea typeface="Helvetica Neue"/>
              <a:cs typeface="Helvetica Neue"/>
              <a:sym typeface="Helvetica Neue"/>
            </a:endParaRPr>
          </a:p>
        </p:txBody>
      </p:sp>
      <p:sp>
        <p:nvSpPr>
          <p:cNvPr id="184" name="Google Shape;184;p19"/>
          <p:cNvSpPr txBox="1"/>
          <p:nvPr/>
        </p:nvSpPr>
        <p:spPr>
          <a:xfrm>
            <a:off x="1311875" y="4238900"/>
            <a:ext cx="10941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Duplexer</a:t>
            </a:r>
            <a:endParaRPr sz="1600">
              <a:solidFill>
                <a:schemeClr val="dk1"/>
              </a:solidFill>
              <a:latin typeface="Helvetica Neue"/>
              <a:ea typeface="Helvetica Neue"/>
              <a:cs typeface="Helvetica Neue"/>
              <a:sym typeface="Helvetica Neue"/>
            </a:endParaRPr>
          </a:p>
        </p:txBody>
      </p:sp>
      <p:sp>
        <p:nvSpPr>
          <p:cNvPr id="185" name="Google Shape;185;p19"/>
          <p:cNvSpPr txBox="1"/>
          <p:nvPr/>
        </p:nvSpPr>
        <p:spPr>
          <a:xfrm>
            <a:off x="3799475" y="4238900"/>
            <a:ext cx="13569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Probe Coil</a:t>
            </a:r>
            <a:endParaRPr sz="1600">
              <a:solidFill>
                <a:schemeClr val="dk1"/>
              </a:solidFill>
              <a:latin typeface="Helvetica Neue"/>
              <a:ea typeface="Helvetica Neue"/>
              <a:cs typeface="Helvetica Neue"/>
              <a:sym typeface="Helvetica Neue"/>
            </a:endParaRPr>
          </a:p>
        </p:txBody>
      </p:sp>
      <p:sp>
        <p:nvSpPr>
          <p:cNvPr id="186" name="Google Shape;186;p19"/>
          <p:cNvSpPr txBox="1"/>
          <p:nvPr/>
        </p:nvSpPr>
        <p:spPr>
          <a:xfrm>
            <a:off x="3607175" y="2874138"/>
            <a:ext cx="17415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Pre-Amplifier</a:t>
            </a:r>
            <a:endParaRPr sz="1600">
              <a:solidFill>
                <a:schemeClr val="dk1"/>
              </a:solidFill>
              <a:latin typeface="Helvetica Neue"/>
              <a:ea typeface="Helvetica Neue"/>
              <a:cs typeface="Helvetica Neue"/>
              <a:sym typeface="Helvetica Neue"/>
            </a:endParaRPr>
          </a:p>
        </p:txBody>
      </p:sp>
      <p:sp>
        <p:nvSpPr>
          <p:cNvPr id="187" name="Google Shape;187;p19"/>
          <p:cNvSpPr txBox="1"/>
          <p:nvPr/>
        </p:nvSpPr>
        <p:spPr>
          <a:xfrm>
            <a:off x="3607175" y="1509388"/>
            <a:ext cx="17415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Receiver Chain</a:t>
            </a:r>
            <a:endParaRPr sz="1600">
              <a:solidFill>
                <a:schemeClr val="dk1"/>
              </a:solidFill>
              <a:latin typeface="Helvetica Neue"/>
              <a:ea typeface="Helvetica Neue"/>
              <a:cs typeface="Helvetica Neue"/>
              <a:sym typeface="Helvetica Neue"/>
            </a:endParaRPr>
          </a:p>
        </p:txBody>
      </p:sp>
      <p:sp>
        <p:nvSpPr>
          <p:cNvPr id="188" name="Google Shape;188;p19"/>
          <p:cNvSpPr txBox="1"/>
          <p:nvPr/>
        </p:nvSpPr>
        <p:spPr>
          <a:xfrm>
            <a:off x="6211475" y="2738210"/>
            <a:ext cx="1741500" cy="67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Analog to Digital converter (ADC)</a:t>
            </a:r>
            <a:endParaRPr sz="1600">
              <a:solidFill>
                <a:schemeClr val="dk1"/>
              </a:solidFill>
              <a:latin typeface="Helvetica Neue"/>
              <a:ea typeface="Helvetica Neue"/>
              <a:cs typeface="Helvetica Neue"/>
              <a:sym typeface="Helvetica Neue"/>
            </a:endParaRPr>
          </a:p>
        </p:txBody>
      </p:sp>
      <p:sp>
        <p:nvSpPr>
          <p:cNvPr id="189" name="Google Shape;189;p19"/>
          <p:cNvSpPr txBox="1"/>
          <p:nvPr/>
        </p:nvSpPr>
        <p:spPr>
          <a:xfrm>
            <a:off x="6665525" y="4103505"/>
            <a:ext cx="9117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Consol</a:t>
            </a:r>
            <a:endParaRPr sz="1600">
              <a:solidFill>
                <a:schemeClr val="dk1"/>
              </a:solidFill>
              <a:latin typeface="Helvetica Neue"/>
              <a:ea typeface="Helvetica Neue"/>
              <a:cs typeface="Helvetica Neue"/>
              <a:sym typeface="Helvetica Neue"/>
            </a:endParaRPr>
          </a:p>
        </p:txBody>
      </p:sp>
      <p:sp>
        <p:nvSpPr>
          <p:cNvPr id="190" name="Google Shape;190;p19"/>
          <p:cNvSpPr txBox="1"/>
          <p:nvPr/>
        </p:nvSpPr>
        <p:spPr>
          <a:xfrm>
            <a:off x="6204575" y="5183425"/>
            <a:ext cx="1833600" cy="43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NMR Spectrum</a:t>
            </a:r>
            <a:endParaRPr sz="1600">
              <a:solidFill>
                <a:schemeClr val="dk1"/>
              </a:solidFill>
              <a:latin typeface="Helvetica Neue"/>
              <a:ea typeface="Helvetica Neue"/>
              <a:cs typeface="Helvetica Neue"/>
              <a:sym typeface="Helvetica Neue"/>
            </a:endParaRPr>
          </a:p>
        </p:txBody>
      </p:sp>
      <p:cxnSp>
        <p:nvCxnSpPr>
          <p:cNvPr id="191" name="Google Shape;191;p19"/>
          <p:cNvCxnSpPr>
            <a:stCxn id="182" idx="2"/>
            <a:endCxn id="183" idx="0"/>
          </p:cNvCxnSpPr>
          <p:nvPr/>
        </p:nvCxnSpPr>
        <p:spPr>
          <a:xfrm>
            <a:off x="1858925" y="1940475"/>
            <a:ext cx="0" cy="933600"/>
          </a:xfrm>
          <a:prstGeom prst="straightConnector1">
            <a:avLst/>
          </a:prstGeom>
          <a:noFill/>
          <a:ln w="9525" cap="flat" cmpd="sng">
            <a:solidFill>
              <a:schemeClr val="dk2"/>
            </a:solidFill>
            <a:prstDash val="solid"/>
            <a:round/>
            <a:headEnd type="none" w="med" len="med"/>
            <a:tailEnd type="triangle" w="med" len="med"/>
          </a:ln>
        </p:spPr>
      </p:cxnSp>
      <p:cxnSp>
        <p:nvCxnSpPr>
          <p:cNvPr id="192" name="Google Shape;192;p19"/>
          <p:cNvCxnSpPr/>
          <p:nvPr/>
        </p:nvCxnSpPr>
        <p:spPr>
          <a:xfrm>
            <a:off x="1839125" y="3305250"/>
            <a:ext cx="0" cy="933600"/>
          </a:xfrm>
          <a:prstGeom prst="straightConnector1">
            <a:avLst/>
          </a:prstGeom>
          <a:noFill/>
          <a:ln w="9525" cap="flat" cmpd="sng">
            <a:solidFill>
              <a:schemeClr val="dk2"/>
            </a:solidFill>
            <a:prstDash val="solid"/>
            <a:round/>
            <a:headEnd type="none" w="med" len="med"/>
            <a:tailEnd type="triangle" w="med" len="med"/>
          </a:ln>
        </p:spPr>
      </p:cxnSp>
      <p:cxnSp>
        <p:nvCxnSpPr>
          <p:cNvPr id="193" name="Google Shape;193;p19"/>
          <p:cNvCxnSpPr>
            <a:stCxn id="184" idx="3"/>
          </p:cNvCxnSpPr>
          <p:nvPr/>
        </p:nvCxnSpPr>
        <p:spPr>
          <a:xfrm rot="10800000" flipH="1">
            <a:off x="2405975" y="4446950"/>
            <a:ext cx="1392900" cy="7500"/>
          </a:xfrm>
          <a:prstGeom prst="straightConnector1">
            <a:avLst/>
          </a:prstGeom>
          <a:noFill/>
          <a:ln w="9525" cap="flat" cmpd="sng">
            <a:solidFill>
              <a:schemeClr val="dk2"/>
            </a:solidFill>
            <a:prstDash val="solid"/>
            <a:round/>
            <a:headEnd type="none" w="med" len="med"/>
            <a:tailEnd type="triangle" w="med" len="med"/>
          </a:ln>
        </p:spPr>
      </p:cxnSp>
      <p:cxnSp>
        <p:nvCxnSpPr>
          <p:cNvPr id="194" name="Google Shape;194;p19"/>
          <p:cNvCxnSpPr/>
          <p:nvPr/>
        </p:nvCxnSpPr>
        <p:spPr>
          <a:xfrm rot="10800000">
            <a:off x="4447225" y="3352925"/>
            <a:ext cx="20100" cy="881400"/>
          </a:xfrm>
          <a:prstGeom prst="straightConnector1">
            <a:avLst/>
          </a:prstGeom>
          <a:noFill/>
          <a:ln w="9525" cap="flat" cmpd="sng">
            <a:solidFill>
              <a:schemeClr val="dk2"/>
            </a:solidFill>
            <a:prstDash val="solid"/>
            <a:round/>
            <a:headEnd type="none" w="med" len="med"/>
            <a:tailEnd type="triangle" w="med" len="med"/>
          </a:ln>
        </p:spPr>
      </p:cxnSp>
      <p:cxnSp>
        <p:nvCxnSpPr>
          <p:cNvPr id="195" name="Google Shape;195;p19"/>
          <p:cNvCxnSpPr/>
          <p:nvPr/>
        </p:nvCxnSpPr>
        <p:spPr>
          <a:xfrm rot="10800000">
            <a:off x="4457275" y="1940500"/>
            <a:ext cx="0" cy="764100"/>
          </a:xfrm>
          <a:prstGeom prst="straightConnector1">
            <a:avLst/>
          </a:prstGeom>
          <a:noFill/>
          <a:ln w="9525" cap="flat" cmpd="sng">
            <a:solidFill>
              <a:schemeClr val="dk2"/>
            </a:solidFill>
            <a:prstDash val="solid"/>
            <a:round/>
            <a:headEnd type="none" w="med" len="med"/>
            <a:tailEnd type="triangle" w="med" len="med"/>
          </a:ln>
        </p:spPr>
      </p:cxnSp>
      <p:cxnSp>
        <p:nvCxnSpPr>
          <p:cNvPr id="196" name="Google Shape;196;p19"/>
          <p:cNvCxnSpPr/>
          <p:nvPr/>
        </p:nvCxnSpPr>
        <p:spPr>
          <a:xfrm>
            <a:off x="5400275" y="1710197"/>
            <a:ext cx="759600" cy="3600"/>
          </a:xfrm>
          <a:prstGeom prst="straightConnector1">
            <a:avLst/>
          </a:prstGeom>
          <a:noFill/>
          <a:ln w="9525" cap="flat" cmpd="sng">
            <a:solidFill>
              <a:schemeClr val="dk2"/>
            </a:solidFill>
            <a:prstDash val="solid"/>
            <a:round/>
            <a:headEnd type="none" w="med" len="med"/>
            <a:tailEnd type="triangle" w="med" len="med"/>
          </a:ln>
        </p:spPr>
      </p:cxnSp>
      <p:grpSp>
        <p:nvGrpSpPr>
          <p:cNvPr id="197" name="Google Shape;197;p19"/>
          <p:cNvGrpSpPr/>
          <p:nvPr/>
        </p:nvGrpSpPr>
        <p:grpSpPr>
          <a:xfrm>
            <a:off x="8256538" y="365138"/>
            <a:ext cx="3722528" cy="2339320"/>
            <a:chOff x="3358178" y="1236324"/>
            <a:chExt cx="5936100" cy="3616200"/>
          </a:xfrm>
        </p:grpSpPr>
        <p:sp>
          <p:nvSpPr>
            <p:cNvPr id="198" name="Google Shape;198;p19"/>
            <p:cNvSpPr/>
            <p:nvPr/>
          </p:nvSpPr>
          <p:spPr>
            <a:xfrm>
              <a:off x="3358178" y="1236324"/>
              <a:ext cx="5936100" cy="36162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99" name="Google Shape;199;p19"/>
            <p:cNvSpPr txBox="1"/>
            <p:nvPr/>
          </p:nvSpPr>
          <p:spPr>
            <a:xfrm>
              <a:off x="3408738" y="1402075"/>
              <a:ext cx="5835000" cy="32835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User-adjustable amplification before digitization</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To Protect Analog-to-Digital Converter (ADC) from clipping</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Optimise the ADC dynamic range usage</a:t>
              </a:r>
              <a:endParaRPr sz="1800">
                <a:solidFill>
                  <a:schemeClr val="dk1"/>
                </a:solidFill>
                <a:latin typeface="Helvetica Neue"/>
                <a:ea typeface="Helvetica Neue"/>
                <a:cs typeface="Helvetica Neue"/>
                <a:sym typeface="Helvetica Neue"/>
              </a:endParaRPr>
            </a:p>
          </p:txBody>
        </p:sp>
      </p:grpSp>
      <p:sp>
        <p:nvSpPr>
          <p:cNvPr id="200" name="Google Shape;200;p19"/>
          <p:cNvSpPr txBox="1"/>
          <p:nvPr/>
        </p:nvSpPr>
        <p:spPr>
          <a:xfrm>
            <a:off x="6201795" y="1373910"/>
            <a:ext cx="1741500" cy="67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Receiver Gain (RG)</a:t>
            </a:r>
            <a:endParaRPr sz="1600">
              <a:solidFill>
                <a:schemeClr val="dk1"/>
              </a:solidFill>
              <a:latin typeface="Helvetica Neue"/>
              <a:ea typeface="Helvetica Neue"/>
              <a:cs typeface="Helvetica Neue"/>
              <a:sym typeface="Helvetica Neue"/>
            </a:endParaRPr>
          </a:p>
        </p:txBody>
      </p:sp>
      <p:pic>
        <p:nvPicPr>
          <p:cNvPr id="201" name="Google Shape;201;p19" title="Screenshot 2025-09-04 at 4.13.40 PM.png"/>
          <p:cNvPicPr preferRelativeResize="0"/>
          <p:nvPr/>
        </p:nvPicPr>
        <p:blipFill>
          <a:blip r:embed="rId4">
            <a:alphaModFix/>
          </a:blip>
          <a:stretch>
            <a:fillRect/>
          </a:stretch>
        </p:blipFill>
        <p:spPr>
          <a:xfrm>
            <a:off x="2923336" y="2025589"/>
            <a:ext cx="2761113" cy="4586923"/>
          </a:xfrm>
          <a:prstGeom prst="rect">
            <a:avLst/>
          </a:prstGeom>
          <a:noFill/>
          <a:ln w="9525" cap="flat" cmpd="sng">
            <a:solidFill>
              <a:schemeClr val="dk1"/>
            </a:solidFill>
            <a:prstDash val="solid"/>
            <a:round/>
            <a:headEnd type="none" w="sm" len="sm"/>
            <a:tailEnd type="none" w="sm" len="sm"/>
          </a:ln>
        </p:spPr>
      </p:pic>
      <p:cxnSp>
        <p:nvCxnSpPr>
          <p:cNvPr id="202" name="Google Shape;202;p19"/>
          <p:cNvCxnSpPr>
            <a:stCxn id="200" idx="2"/>
            <a:endCxn id="188" idx="0"/>
          </p:cNvCxnSpPr>
          <p:nvPr/>
        </p:nvCxnSpPr>
        <p:spPr>
          <a:xfrm>
            <a:off x="7072545" y="2051010"/>
            <a:ext cx="9600" cy="687300"/>
          </a:xfrm>
          <a:prstGeom prst="straightConnector1">
            <a:avLst/>
          </a:prstGeom>
          <a:noFill/>
          <a:ln w="9525" cap="flat" cmpd="sng">
            <a:solidFill>
              <a:schemeClr val="dk2"/>
            </a:solidFill>
            <a:prstDash val="solid"/>
            <a:round/>
            <a:headEnd type="none" w="med" len="med"/>
            <a:tailEnd type="triangle" w="med" len="med"/>
          </a:ln>
        </p:spPr>
      </p:cxnSp>
      <p:cxnSp>
        <p:nvCxnSpPr>
          <p:cNvPr id="203" name="Google Shape;203;p19"/>
          <p:cNvCxnSpPr/>
          <p:nvPr/>
        </p:nvCxnSpPr>
        <p:spPr>
          <a:xfrm>
            <a:off x="7075420" y="3428410"/>
            <a:ext cx="9600" cy="687300"/>
          </a:xfrm>
          <a:prstGeom prst="straightConnector1">
            <a:avLst/>
          </a:prstGeom>
          <a:noFill/>
          <a:ln w="9525" cap="flat" cmpd="sng">
            <a:solidFill>
              <a:schemeClr val="dk2"/>
            </a:solidFill>
            <a:prstDash val="solid"/>
            <a:round/>
            <a:headEnd type="none" w="med" len="med"/>
            <a:tailEnd type="triangle" w="med" len="med"/>
          </a:ln>
        </p:spPr>
      </p:cxnSp>
      <p:cxnSp>
        <p:nvCxnSpPr>
          <p:cNvPr id="204" name="Google Shape;204;p19"/>
          <p:cNvCxnSpPr/>
          <p:nvPr/>
        </p:nvCxnSpPr>
        <p:spPr>
          <a:xfrm>
            <a:off x="7061375" y="4534610"/>
            <a:ext cx="9600" cy="687300"/>
          </a:xfrm>
          <a:prstGeom prst="straightConnector1">
            <a:avLst/>
          </a:prstGeom>
          <a:noFill/>
          <a:ln w="9525" cap="flat" cmpd="sng">
            <a:solidFill>
              <a:schemeClr val="dk2"/>
            </a:solidFill>
            <a:prstDash val="solid"/>
            <a:round/>
            <a:headEnd type="none" w="med" len="med"/>
            <a:tailEnd type="triangle" w="med" len="med"/>
          </a:ln>
        </p:spPr>
      </p:cxnSp>
      <p:grpSp>
        <p:nvGrpSpPr>
          <p:cNvPr id="205" name="Google Shape;205;p19"/>
          <p:cNvGrpSpPr/>
          <p:nvPr/>
        </p:nvGrpSpPr>
        <p:grpSpPr>
          <a:xfrm>
            <a:off x="8256550" y="3689414"/>
            <a:ext cx="3722528" cy="1259269"/>
            <a:chOff x="3358175" y="1236345"/>
            <a:chExt cx="5936100" cy="5589300"/>
          </a:xfrm>
        </p:grpSpPr>
        <p:sp>
          <p:nvSpPr>
            <p:cNvPr id="206" name="Google Shape;206;p19"/>
            <p:cNvSpPr/>
            <p:nvPr/>
          </p:nvSpPr>
          <p:spPr>
            <a:xfrm>
              <a:off x="3358175" y="1236345"/>
              <a:ext cx="5936100" cy="55893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07" name="Google Shape;207;p19"/>
            <p:cNvSpPr txBox="1"/>
            <p:nvPr/>
          </p:nvSpPr>
          <p:spPr>
            <a:xfrm>
              <a:off x="3408738" y="1719828"/>
              <a:ext cx="5835000" cy="45090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Store raw FID data</a:t>
              </a:r>
              <a:endParaRPr sz="1800">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Perform digital signal processing (FT, Phase etc.,)</a:t>
              </a:r>
              <a:endParaRPr sz="1800">
                <a:solidFill>
                  <a:schemeClr val="dk1"/>
                </a:solidFill>
                <a:latin typeface="Helvetica Neue"/>
                <a:ea typeface="Helvetica Neue"/>
                <a:cs typeface="Helvetica Neue"/>
                <a:sym typeface="Helvetica Neue"/>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838200" y="365125"/>
            <a:ext cx="105156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Steps Before FT: Window function </a:t>
            </a:r>
            <a:endParaRPr sz="3600">
              <a:latin typeface="Arial"/>
              <a:ea typeface="Arial"/>
              <a:cs typeface="Arial"/>
              <a:sym typeface="Arial"/>
            </a:endParaRPr>
          </a:p>
        </p:txBody>
      </p:sp>
      <p:pic>
        <p:nvPicPr>
          <p:cNvPr id="214" name="Google Shape;214;p20" descr="Shape&#10;&#10;Description automatically generated with medium confidence"/>
          <p:cNvPicPr preferRelativeResize="0"/>
          <p:nvPr/>
        </p:nvPicPr>
        <p:blipFill rotWithShape="1">
          <a:blip r:embed="rId3">
            <a:alphaModFix/>
          </a:blip>
          <a:srcRect l="4625" t="7757"/>
          <a:stretch/>
        </p:blipFill>
        <p:spPr>
          <a:xfrm>
            <a:off x="-8" y="6014552"/>
            <a:ext cx="1609725" cy="843459"/>
          </a:xfrm>
          <a:prstGeom prst="rect">
            <a:avLst/>
          </a:prstGeom>
          <a:noFill/>
          <a:ln>
            <a:noFill/>
          </a:ln>
        </p:spPr>
      </p:pic>
      <p:pic>
        <p:nvPicPr>
          <p:cNvPr id="215" name="Google Shape;215;p20"/>
          <p:cNvPicPr preferRelativeResize="0"/>
          <p:nvPr/>
        </p:nvPicPr>
        <p:blipFill>
          <a:blip r:embed="rId4">
            <a:alphaModFix/>
          </a:blip>
          <a:stretch>
            <a:fillRect/>
          </a:stretch>
        </p:blipFill>
        <p:spPr>
          <a:xfrm>
            <a:off x="1528325" y="3252801"/>
            <a:ext cx="4749526" cy="3331351"/>
          </a:xfrm>
          <a:prstGeom prst="rect">
            <a:avLst/>
          </a:prstGeom>
          <a:noFill/>
          <a:ln>
            <a:noFill/>
          </a:ln>
        </p:spPr>
      </p:pic>
      <p:sp>
        <p:nvSpPr>
          <p:cNvPr id="216" name="Google Shape;216;p20"/>
          <p:cNvSpPr txBox="1">
            <a:spLocks noGrp="1"/>
          </p:cNvSpPr>
          <p:nvPr>
            <p:ph type="body" idx="1"/>
          </p:nvPr>
        </p:nvSpPr>
        <p:spPr>
          <a:xfrm>
            <a:off x="838200" y="1245925"/>
            <a:ext cx="5203200" cy="26481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a:latin typeface="Arial"/>
                <a:ea typeface="Arial"/>
                <a:cs typeface="Arial"/>
                <a:sym typeface="Arial"/>
              </a:rPr>
              <a:t>A </a:t>
            </a:r>
            <a:r>
              <a:rPr lang="en-US" sz="1800" b="1">
                <a:latin typeface="Arial"/>
                <a:ea typeface="Arial"/>
                <a:cs typeface="Arial"/>
                <a:sym typeface="Arial"/>
              </a:rPr>
              <a:t>window function</a:t>
            </a:r>
            <a:r>
              <a:rPr lang="en-US" sz="1800">
                <a:latin typeface="Arial"/>
                <a:ea typeface="Arial"/>
                <a:cs typeface="Arial"/>
                <a:sym typeface="Arial"/>
              </a:rPr>
              <a:t> is used to smooth the FID to remove the sudden cutoff at the end of the FID so that the data drops to or close to zero intensity before ZF. </a:t>
            </a:r>
            <a:endParaRPr sz="1800">
              <a:latin typeface="Arial"/>
              <a:ea typeface="Arial"/>
              <a:cs typeface="Arial"/>
              <a:sym typeface="Arial"/>
            </a:endParaRPr>
          </a:p>
          <a:p>
            <a:pPr marL="457200" lvl="0" indent="-342900" algn="l" rtl="0">
              <a:spcBef>
                <a:spcPts val="1000"/>
              </a:spcBef>
              <a:spcAft>
                <a:spcPts val="0"/>
              </a:spcAft>
              <a:buSzPts val="1800"/>
              <a:buChar char="•"/>
            </a:pPr>
            <a:r>
              <a:rPr lang="en-US" sz="1800">
                <a:latin typeface="Arial"/>
                <a:ea typeface="Arial"/>
                <a:cs typeface="Arial"/>
                <a:sym typeface="Arial"/>
              </a:rPr>
              <a:t>Without the window function, the sharp ending of the signal causes base oscillation called truncation artifacts.</a:t>
            </a:r>
            <a:endParaRPr sz="1400">
              <a:latin typeface="Arial"/>
              <a:ea typeface="Arial"/>
              <a:cs typeface="Arial"/>
              <a:sym typeface="Arial"/>
            </a:endParaRPr>
          </a:p>
          <a:p>
            <a:pPr marL="0" lvl="0" indent="0" algn="l" rtl="0">
              <a:spcBef>
                <a:spcPts val="1000"/>
              </a:spcBef>
              <a:spcAft>
                <a:spcPts val="0"/>
              </a:spcAft>
              <a:buNone/>
            </a:pPr>
            <a:endParaRPr sz="1800" b="1">
              <a:latin typeface="Arial"/>
              <a:ea typeface="Arial"/>
              <a:cs typeface="Arial"/>
              <a:sym typeface="Arial"/>
            </a:endParaRPr>
          </a:p>
        </p:txBody>
      </p:sp>
      <p:pic>
        <p:nvPicPr>
          <p:cNvPr id="217" name="Google Shape;217;p20" title="Screenshot 2025-09-09 at 4.35.41 PM.png"/>
          <p:cNvPicPr preferRelativeResize="0"/>
          <p:nvPr/>
        </p:nvPicPr>
        <p:blipFill>
          <a:blip r:embed="rId5">
            <a:alphaModFix/>
          </a:blip>
          <a:stretch>
            <a:fillRect/>
          </a:stretch>
        </p:blipFill>
        <p:spPr>
          <a:xfrm>
            <a:off x="6533125" y="1245925"/>
            <a:ext cx="4820675" cy="51203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1"/>
          <p:cNvSpPr txBox="1">
            <a:spLocks noGrp="1"/>
          </p:cNvSpPr>
          <p:nvPr>
            <p:ph type="title"/>
          </p:nvPr>
        </p:nvSpPr>
        <p:spPr>
          <a:xfrm>
            <a:off x="838200" y="365125"/>
            <a:ext cx="105156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Steps Before FT: Zero filling</a:t>
            </a:r>
            <a:endParaRPr sz="3600">
              <a:latin typeface="Arial"/>
              <a:ea typeface="Arial"/>
              <a:cs typeface="Arial"/>
              <a:sym typeface="Arial"/>
            </a:endParaRPr>
          </a:p>
        </p:txBody>
      </p:sp>
      <p:sp>
        <p:nvSpPr>
          <p:cNvPr id="224" name="Google Shape;224;p21"/>
          <p:cNvSpPr txBox="1">
            <a:spLocks noGrp="1"/>
          </p:cNvSpPr>
          <p:nvPr>
            <p:ph type="body" idx="1"/>
          </p:nvPr>
        </p:nvSpPr>
        <p:spPr>
          <a:xfrm>
            <a:off x="838200" y="1253400"/>
            <a:ext cx="10113000" cy="29481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b="1">
                <a:latin typeface="Arial"/>
                <a:ea typeface="Arial"/>
                <a:cs typeface="Arial"/>
                <a:sym typeface="Arial"/>
              </a:rPr>
              <a:t>Zero filling </a:t>
            </a:r>
            <a:r>
              <a:rPr lang="en-US" sz="1800">
                <a:latin typeface="Arial"/>
                <a:ea typeface="Arial"/>
                <a:cs typeface="Arial"/>
                <a:sym typeface="Arial"/>
              </a:rPr>
              <a:t>(ZF, appending zero-value data points to the FID) is almost always done before FT to increase digital resolution of the FT spectrum. </a:t>
            </a:r>
            <a:endParaRPr sz="1800">
              <a:latin typeface="Arial"/>
              <a:ea typeface="Arial"/>
              <a:cs typeface="Arial"/>
              <a:sym typeface="Arial"/>
            </a:endParaRPr>
          </a:p>
          <a:p>
            <a:pPr marL="457200" lvl="0" indent="-342900" algn="l" rtl="0">
              <a:spcBef>
                <a:spcPts val="1000"/>
              </a:spcBef>
              <a:spcAft>
                <a:spcPts val="0"/>
              </a:spcAft>
              <a:buSzPts val="1800"/>
              <a:buFont typeface="Arial"/>
              <a:buChar char="•"/>
            </a:pPr>
            <a:r>
              <a:rPr lang="en-US" sz="1800">
                <a:latin typeface="Arial"/>
                <a:ea typeface="Arial"/>
                <a:cs typeface="Arial"/>
                <a:sym typeface="Arial"/>
              </a:rPr>
              <a:t>Typical acquisition time of an FID for a small molecule is ~ 5X of the longest T2 among the spins. Often, 2-3 secs is adequate. </a:t>
            </a:r>
            <a:endParaRPr sz="1800">
              <a:latin typeface="Arial"/>
              <a:ea typeface="Arial"/>
              <a:cs typeface="Arial"/>
              <a:sym typeface="Arial"/>
            </a:endParaRPr>
          </a:p>
          <a:p>
            <a:pPr marL="457200" lvl="0" indent="-342900" algn="l" rtl="0">
              <a:spcBef>
                <a:spcPts val="0"/>
              </a:spcBef>
              <a:spcAft>
                <a:spcPts val="0"/>
              </a:spcAft>
              <a:buSzPts val="1800"/>
              <a:buFont typeface="Arial"/>
              <a:buChar char="•"/>
            </a:pPr>
            <a:r>
              <a:rPr lang="en-US" sz="1800">
                <a:latin typeface="Arial"/>
                <a:ea typeface="Arial"/>
                <a:cs typeface="Arial"/>
                <a:sym typeface="Arial"/>
              </a:rPr>
              <a:t>ZF is often applied to at least double the original FID data size. </a:t>
            </a:r>
            <a:endParaRPr sz="1800">
              <a:latin typeface="Arial"/>
              <a:ea typeface="Arial"/>
              <a:cs typeface="Arial"/>
              <a:sym typeface="Arial"/>
            </a:endParaRPr>
          </a:p>
          <a:p>
            <a:pPr marL="457200" lvl="0" indent="-342900" algn="l" rtl="0">
              <a:spcBef>
                <a:spcPts val="0"/>
              </a:spcBef>
              <a:spcAft>
                <a:spcPts val="0"/>
              </a:spcAft>
              <a:buSzPts val="1800"/>
              <a:buFont typeface="Arial"/>
              <a:buChar char="•"/>
            </a:pPr>
            <a:r>
              <a:rPr lang="en-US" sz="1800">
                <a:latin typeface="Arial"/>
                <a:ea typeface="Arial"/>
                <a:cs typeface="Arial"/>
                <a:sym typeface="Arial"/>
              </a:rPr>
              <a:t>Further zeros appended often only increase the smoothness of the spectrum without further gain in resolution.</a:t>
            </a:r>
            <a:endParaRPr sz="1800">
              <a:latin typeface="Arial"/>
              <a:ea typeface="Arial"/>
              <a:cs typeface="Arial"/>
              <a:sym typeface="Arial"/>
            </a:endParaRPr>
          </a:p>
        </p:txBody>
      </p:sp>
      <p:pic>
        <p:nvPicPr>
          <p:cNvPr id="225" name="Google Shape;225;p21" descr="Shape&#10;&#10;Description automatically generated with medium confidence"/>
          <p:cNvPicPr preferRelativeResize="0"/>
          <p:nvPr/>
        </p:nvPicPr>
        <p:blipFill rotWithShape="1">
          <a:blip r:embed="rId3">
            <a:alphaModFix/>
          </a:blip>
          <a:srcRect l="4625" t="7757"/>
          <a:stretch/>
        </p:blipFill>
        <p:spPr>
          <a:xfrm>
            <a:off x="-8" y="6014552"/>
            <a:ext cx="1609725" cy="843459"/>
          </a:xfrm>
          <a:prstGeom prst="rect">
            <a:avLst/>
          </a:prstGeom>
          <a:noFill/>
          <a:ln>
            <a:noFill/>
          </a:ln>
        </p:spPr>
      </p:pic>
      <p:pic>
        <p:nvPicPr>
          <p:cNvPr id="226" name="Google Shape;226;p21" title="Screenshot 2025-09-09 at 4.30.35 PM.png"/>
          <p:cNvPicPr preferRelativeResize="0"/>
          <p:nvPr/>
        </p:nvPicPr>
        <p:blipFill>
          <a:blip r:embed="rId4">
            <a:alphaModFix/>
          </a:blip>
          <a:stretch>
            <a:fillRect/>
          </a:stretch>
        </p:blipFill>
        <p:spPr>
          <a:xfrm>
            <a:off x="2003800" y="3279900"/>
            <a:ext cx="7605525" cy="3256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2"/>
          <p:cNvSpPr txBox="1">
            <a:spLocks noGrp="1"/>
          </p:cNvSpPr>
          <p:nvPr>
            <p:ph type="title"/>
          </p:nvPr>
        </p:nvSpPr>
        <p:spPr>
          <a:xfrm>
            <a:off x="838200" y="365125"/>
            <a:ext cx="105156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Common NMR Artifacts and Errors</a:t>
            </a:r>
            <a:endParaRPr sz="3600">
              <a:latin typeface="Arial"/>
              <a:ea typeface="Arial"/>
              <a:cs typeface="Arial"/>
              <a:sym typeface="Arial"/>
            </a:endParaRPr>
          </a:p>
        </p:txBody>
      </p:sp>
      <p:sp>
        <p:nvSpPr>
          <p:cNvPr id="233" name="Google Shape;233;p22"/>
          <p:cNvSpPr txBox="1">
            <a:spLocks noGrp="1"/>
          </p:cNvSpPr>
          <p:nvPr>
            <p:ph type="body" idx="1"/>
          </p:nvPr>
        </p:nvSpPr>
        <p:spPr>
          <a:xfrm>
            <a:off x="838200" y="1358496"/>
            <a:ext cx="4299900" cy="2463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a:latin typeface="Arial"/>
                <a:ea typeface="Arial"/>
                <a:cs typeface="Arial"/>
                <a:sym typeface="Arial"/>
              </a:rPr>
              <a:t>  * Baseline distortions</a:t>
            </a:r>
            <a:endParaRPr sz="1800">
              <a:latin typeface="Arial"/>
              <a:ea typeface="Arial"/>
              <a:cs typeface="Arial"/>
              <a:sym typeface="Arial"/>
            </a:endParaRPr>
          </a:p>
          <a:p>
            <a:pPr marL="0" lvl="0" indent="0" algn="l" rtl="0">
              <a:spcBef>
                <a:spcPts val="1000"/>
              </a:spcBef>
              <a:spcAft>
                <a:spcPts val="0"/>
              </a:spcAft>
              <a:buNone/>
            </a:pPr>
            <a:r>
              <a:rPr lang="en-US" sz="1800">
                <a:latin typeface="Arial"/>
                <a:ea typeface="Arial"/>
                <a:cs typeface="Arial"/>
                <a:sym typeface="Arial"/>
              </a:rPr>
              <a:t>  * Phase errors</a:t>
            </a:r>
            <a:endParaRPr sz="1800">
              <a:latin typeface="Arial"/>
              <a:ea typeface="Arial"/>
              <a:cs typeface="Arial"/>
              <a:sym typeface="Arial"/>
            </a:endParaRPr>
          </a:p>
          <a:p>
            <a:pPr marL="0" lvl="0" indent="0" algn="l" rtl="0">
              <a:spcBef>
                <a:spcPts val="1000"/>
              </a:spcBef>
              <a:spcAft>
                <a:spcPts val="0"/>
              </a:spcAft>
              <a:buNone/>
            </a:pPr>
            <a:r>
              <a:rPr lang="en-US" sz="1800">
                <a:latin typeface="Arial"/>
                <a:ea typeface="Arial"/>
                <a:cs typeface="Arial"/>
                <a:sym typeface="Arial"/>
              </a:rPr>
              <a:t>  * Water suppression artifacts</a:t>
            </a:r>
            <a:endParaRPr sz="1800">
              <a:latin typeface="Arial"/>
              <a:ea typeface="Arial"/>
              <a:cs typeface="Arial"/>
              <a:sym typeface="Arial"/>
            </a:endParaRPr>
          </a:p>
          <a:p>
            <a:pPr marL="0" lvl="0" indent="0" algn="l" rtl="0">
              <a:spcBef>
                <a:spcPts val="1000"/>
              </a:spcBef>
              <a:spcAft>
                <a:spcPts val="0"/>
              </a:spcAft>
              <a:buNone/>
            </a:pPr>
            <a:r>
              <a:rPr lang="en-US" sz="1800">
                <a:latin typeface="Arial"/>
                <a:ea typeface="Arial"/>
                <a:cs typeface="Arial"/>
                <a:sym typeface="Arial"/>
              </a:rPr>
              <a:t>  * Aliasing/folding</a:t>
            </a:r>
            <a:endParaRPr sz="1800">
              <a:latin typeface="Arial"/>
              <a:ea typeface="Arial"/>
              <a:cs typeface="Arial"/>
              <a:sym typeface="Arial"/>
            </a:endParaRPr>
          </a:p>
          <a:p>
            <a:pPr marL="0" lvl="0" indent="0" algn="l" rtl="0">
              <a:spcBef>
                <a:spcPts val="1000"/>
              </a:spcBef>
              <a:spcAft>
                <a:spcPts val="0"/>
              </a:spcAft>
              <a:buNone/>
            </a:pPr>
            <a:r>
              <a:rPr lang="en-US" sz="1800">
                <a:latin typeface="Arial"/>
                <a:ea typeface="Arial"/>
                <a:cs typeface="Arial"/>
                <a:sym typeface="Arial"/>
              </a:rPr>
              <a:t>  * Spinning sidebands</a:t>
            </a:r>
            <a:endParaRPr sz="1800">
              <a:latin typeface="Arial"/>
              <a:ea typeface="Arial"/>
              <a:cs typeface="Arial"/>
              <a:sym typeface="Arial"/>
            </a:endParaRPr>
          </a:p>
          <a:p>
            <a:pPr marL="0" lvl="0" indent="0" algn="l" rtl="0">
              <a:spcBef>
                <a:spcPts val="1000"/>
              </a:spcBef>
              <a:spcAft>
                <a:spcPts val="0"/>
              </a:spcAft>
              <a:buNone/>
            </a:pPr>
            <a:r>
              <a:rPr lang="en-US" sz="1800">
                <a:latin typeface="Arial"/>
                <a:ea typeface="Arial"/>
                <a:cs typeface="Arial"/>
                <a:sym typeface="Arial"/>
              </a:rPr>
              <a:t>  * Poor shimming / line broadening</a:t>
            </a:r>
            <a:endParaRPr sz="1800">
              <a:latin typeface="Arial"/>
              <a:ea typeface="Arial"/>
              <a:cs typeface="Arial"/>
              <a:sym typeface="Arial"/>
            </a:endParaRPr>
          </a:p>
        </p:txBody>
      </p:sp>
      <p:pic>
        <p:nvPicPr>
          <p:cNvPr id="234" name="Google Shape;234;p22" descr="Shape&#10;&#10;Description automatically generated with medium confidence"/>
          <p:cNvPicPr preferRelativeResize="0"/>
          <p:nvPr/>
        </p:nvPicPr>
        <p:blipFill rotWithShape="1">
          <a:blip r:embed="rId3">
            <a:alphaModFix/>
          </a:blip>
          <a:srcRect l="4625" t="7757"/>
          <a:stretch/>
        </p:blipFill>
        <p:spPr>
          <a:xfrm>
            <a:off x="-8" y="6014552"/>
            <a:ext cx="1609725" cy="843459"/>
          </a:xfrm>
          <a:prstGeom prst="rect">
            <a:avLst/>
          </a:prstGeom>
          <a:noFill/>
          <a:ln>
            <a:noFill/>
          </a:ln>
        </p:spPr>
      </p:pic>
      <p:pic>
        <p:nvPicPr>
          <p:cNvPr id="235" name="Google Shape;235;p22" title="Screenshot 2025-09-09 at 2.56.12 PM.png"/>
          <p:cNvPicPr preferRelativeResize="0"/>
          <p:nvPr/>
        </p:nvPicPr>
        <p:blipFill>
          <a:blip r:embed="rId4">
            <a:alphaModFix/>
          </a:blip>
          <a:stretch>
            <a:fillRect/>
          </a:stretch>
        </p:blipFill>
        <p:spPr>
          <a:xfrm>
            <a:off x="4128875" y="1108125"/>
            <a:ext cx="4851825" cy="2183000"/>
          </a:xfrm>
          <a:prstGeom prst="rect">
            <a:avLst/>
          </a:prstGeom>
          <a:noFill/>
          <a:ln>
            <a:noFill/>
          </a:ln>
        </p:spPr>
      </p:pic>
      <p:sp>
        <p:nvSpPr>
          <p:cNvPr id="236" name="Google Shape;236;p22"/>
          <p:cNvSpPr txBox="1"/>
          <p:nvPr/>
        </p:nvSpPr>
        <p:spPr>
          <a:xfrm>
            <a:off x="9187900" y="6002425"/>
            <a:ext cx="2051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a:solidFill>
                  <a:schemeClr val="dk1"/>
                </a:solidFill>
              </a:rPr>
              <a:t>Emwas et al (2018)</a:t>
            </a:r>
            <a:endParaRPr sz="1100">
              <a:solidFill>
                <a:schemeClr val="dk1"/>
              </a:solidFill>
            </a:endParaRPr>
          </a:p>
        </p:txBody>
      </p:sp>
      <p:pic>
        <p:nvPicPr>
          <p:cNvPr id="237" name="Google Shape;237;p22" descr="Figure"/>
          <p:cNvPicPr preferRelativeResize="0"/>
          <p:nvPr/>
        </p:nvPicPr>
        <p:blipFill rotWithShape="1">
          <a:blip r:embed="rId5">
            <a:alphaModFix/>
          </a:blip>
          <a:srcRect/>
          <a:stretch/>
        </p:blipFill>
        <p:spPr>
          <a:xfrm>
            <a:off x="9187899" y="315726"/>
            <a:ext cx="2768777" cy="2875249"/>
          </a:xfrm>
          <a:prstGeom prst="rect">
            <a:avLst/>
          </a:prstGeom>
          <a:noFill/>
          <a:ln>
            <a:noFill/>
          </a:ln>
        </p:spPr>
      </p:pic>
      <p:pic>
        <p:nvPicPr>
          <p:cNvPr id="238" name="Google Shape;238;p22" title="Screenshot 2025-09-09 at 2.55.57 PM.png"/>
          <p:cNvPicPr preferRelativeResize="0"/>
          <p:nvPr/>
        </p:nvPicPr>
        <p:blipFill>
          <a:blip r:embed="rId6">
            <a:alphaModFix/>
          </a:blip>
          <a:stretch>
            <a:fillRect/>
          </a:stretch>
        </p:blipFill>
        <p:spPr>
          <a:xfrm>
            <a:off x="6534675" y="3611300"/>
            <a:ext cx="4960624" cy="2289000"/>
          </a:xfrm>
          <a:prstGeom prst="rect">
            <a:avLst/>
          </a:prstGeom>
          <a:noFill/>
          <a:ln>
            <a:noFill/>
          </a:ln>
        </p:spPr>
      </p:pic>
      <p:grpSp>
        <p:nvGrpSpPr>
          <p:cNvPr id="239" name="Google Shape;239;p22"/>
          <p:cNvGrpSpPr/>
          <p:nvPr/>
        </p:nvGrpSpPr>
        <p:grpSpPr>
          <a:xfrm>
            <a:off x="1121191" y="3658529"/>
            <a:ext cx="4815234" cy="2194545"/>
            <a:chOff x="7045091" y="90754"/>
            <a:chExt cx="4815234" cy="2194545"/>
          </a:xfrm>
        </p:grpSpPr>
        <p:pic>
          <p:nvPicPr>
            <p:cNvPr id="240" name="Google Shape;240;p22" descr="Figure 1"/>
            <p:cNvPicPr preferRelativeResize="0"/>
            <p:nvPr/>
          </p:nvPicPr>
          <p:blipFill rotWithShape="1">
            <a:blip r:embed="rId7">
              <a:alphaModFix/>
            </a:blip>
            <a:srcRect t="61596" b="10161"/>
            <a:stretch/>
          </p:blipFill>
          <p:spPr>
            <a:xfrm>
              <a:off x="7508240" y="1342501"/>
              <a:ext cx="4352085" cy="942798"/>
            </a:xfrm>
            <a:prstGeom prst="rect">
              <a:avLst/>
            </a:prstGeom>
            <a:noFill/>
            <a:ln>
              <a:noFill/>
            </a:ln>
          </p:spPr>
        </p:pic>
        <p:pic>
          <p:nvPicPr>
            <p:cNvPr id="241" name="Google Shape;241;p22" descr="Figure 1"/>
            <p:cNvPicPr preferRelativeResize="0"/>
            <p:nvPr/>
          </p:nvPicPr>
          <p:blipFill rotWithShape="1">
            <a:blip r:embed="rId7">
              <a:alphaModFix/>
            </a:blip>
            <a:srcRect b="65511"/>
            <a:stretch/>
          </p:blipFill>
          <p:spPr>
            <a:xfrm>
              <a:off x="7508240" y="90754"/>
              <a:ext cx="4352085" cy="1151305"/>
            </a:xfrm>
            <a:prstGeom prst="rect">
              <a:avLst/>
            </a:prstGeom>
            <a:noFill/>
            <a:ln>
              <a:noFill/>
            </a:ln>
          </p:spPr>
        </p:pic>
        <p:sp>
          <p:nvSpPr>
            <p:cNvPr id="242" name="Google Shape;242;p22"/>
            <p:cNvSpPr txBox="1"/>
            <p:nvPr/>
          </p:nvSpPr>
          <p:spPr>
            <a:xfrm>
              <a:off x="8810485" y="1027906"/>
              <a:ext cx="1747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aseline="-25000">
                  <a:solidFill>
                    <a:schemeClr val="dk1"/>
                  </a:solidFill>
                  <a:latin typeface="Helvetica Neue"/>
                  <a:ea typeface="Helvetica Neue"/>
                  <a:cs typeface="Helvetica Neue"/>
                  <a:sym typeface="Helvetica Neue"/>
                </a:rPr>
                <a:t>More sensitive to shifts</a:t>
              </a:r>
              <a:endParaRPr/>
            </a:p>
          </p:txBody>
        </p:sp>
        <p:sp>
          <p:nvSpPr>
            <p:cNvPr id="243" name="Google Shape;243;p22"/>
            <p:cNvSpPr txBox="1"/>
            <p:nvPr/>
          </p:nvSpPr>
          <p:spPr>
            <a:xfrm>
              <a:off x="8690167" y="1370495"/>
              <a:ext cx="1079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aseline="-25000">
                  <a:solidFill>
                    <a:schemeClr val="dk1"/>
                  </a:solidFill>
                  <a:latin typeface="Helvetica Neue"/>
                  <a:ea typeface="Helvetica Neue"/>
                  <a:cs typeface="Helvetica Neue"/>
                  <a:sym typeface="Helvetica Neue"/>
                </a:rPr>
                <a:t>More overlap</a:t>
              </a:r>
              <a:endParaRPr/>
            </a:p>
          </p:txBody>
        </p:sp>
        <p:sp>
          <p:nvSpPr>
            <p:cNvPr id="244" name="Google Shape;244;p22"/>
            <p:cNvSpPr txBox="1"/>
            <p:nvPr/>
          </p:nvSpPr>
          <p:spPr>
            <a:xfrm>
              <a:off x="8674363" y="284168"/>
              <a:ext cx="1053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aseline="-25000">
                  <a:solidFill>
                    <a:schemeClr val="dk1"/>
                  </a:solidFill>
                  <a:latin typeface="Helvetica Neue"/>
                  <a:ea typeface="Helvetica Neue"/>
                  <a:cs typeface="Helvetica Neue"/>
                  <a:sym typeface="Helvetica Neue"/>
                </a:rPr>
                <a:t>Less overlap</a:t>
              </a:r>
              <a:endParaRPr/>
            </a:p>
          </p:txBody>
        </p:sp>
        <p:sp>
          <p:nvSpPr>
            <p:cNvPr id="245" name="Google Shape;245;p22"/>
            <p:cNvSpPr txBox="1"/>
            <p:nvPr/>
          </p:nvSpPr>
          <p:spPr>
            <a:xfrm rot="-5400000">
              <a:off x="6589241" y="1235021"/>
              <a:ext cx="1281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aseline="-25000">
                  <a:solidFill>
                    <a:schemeClr val="dk1"/>
                  </a:solidFill>
                  <a:latin typeface="Helvetica Neue"/>
                  <a:ea typeface="Helvetica Neue"/>
                  <a:cs typeface="Helvetica Neue"/>
                  <a:sym typeface="Helvetica Neue"/>
                </a:rPr>
                <a:t>Line broadening</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3"/>
          <p:cNvSpPr txBox="1">
            <a:spLocks noGrp="1"/>
          </p:cNvSpPr>
          <p:nvPr>
            <p:ph type="title"/>
          </p:nvPr>
        </p:nvSpPr>
        <p:spPr>
          <a:xfrm>
            <a:off x="838200" y="365125"/>
            <a:ext cx="105156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Truncation Artifacts from Digital Overflow</a:t>
            </a:r>
            <a:endParaRPr sz="3600">
              <a:latin typeface="Arial"/>
              <a:ea typeface="Arial"/>
              <a:cs typeface="Arial"/>
              <a:sym typeface="Arial"/>
            </a:endParaRPr>
          </a:p>
        </p:txBody>
      </p:sp>
      <p:sp>
        <p:nvSpPr>
          <p:cNvPr id="252" name="Google Shape;252;p23"/>
          <p:cNvSpPr txBox="1">
            <a:spLocks noGrp="1"/>
          </p:cNvSpPr>
          <p:nvPr>
            <p:ph type="body" idx="1"/>
          </p:nvPr>
        </p:nvSpPr>
        <p:spPr>
          <a:xfrm>
            <a:off x="838200" y="1825625"/>
            <a:ext cx="6794100" cy="763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a:latin typeface="Arial"/>
                <a:ea typeface="Arial"/>
                <a:cs typeface="Arial"/>
                <a:sym typeface="Arial"/>
              </a:rPr>
              <a:t>Main Cause: setting receiver gain too high</a:t>
            </a:r>
            <a:endParaRPr sz="1800">
              <a:latin typeface="Arial"/>
              <a:ea typeface="Arial"/>
              <a:cs typeface="Arial"/>
              <a:sym typeface="Arial"/>
            </a:endParaRPr>
          </a:p>
        </p:txBody>
      </p:sp>
      <p:pic>
        <p:nvPicPr>
          <p:cNvPr id="253" name="Google Shape;253;p23" descr="Shape&#10;&#10;Description automatically generated with medium confidence"/>
          <p:cNvPicPr preferRelativeResize="0"/>
          <p:nvPr/>
        </p:nvPicPr>
        <p:blipFill rotWithShape="1">
          <a:blip r:embed="rId3">
            <a:alphaModFix/>
          </a:blip>
          <a:srcRect l="4625" t="7757"/>
          <a:stretch/>
        </p:blipFill>
        <p:spPr>
          <a:xfrm>
            <a:off x="-8" y="6014552"/>
            <a:ext cx="1609725" cy="843459"/>
          </a:xfrm>
          <a:prstGeom prst="rect">
            <a:avLst/>
          </a:prstGeom>
          <a:noFill/>
          <a:ln>
            <a:noFill/>
          </a:ln>
        </p:spPr>
      </p:pic>
      <p:pic>
        <p:nvPicPr>
          <p:cNvPr id="254" name="Google Shape;254;p23" title="Screenshot 2025-09-09 at 4.05.19 PM.png"/>
          <p:cNvPicPr preferRelativeResize="0"/>
          <p:nvPr/>
        </p:nvPicPr>
        <p:blipFill>
          <a:blip r:embed="rId4">
            <a:alphaModFix/>
          </a:blip>
          <a:stretch>
            <a:fillRect/>
          </a:stretch>
        </p:blipFill>
        <p:spPr>
          <a:xfrm>
            <a:off x="7674146" y="3983146"/>
            <a:ext cx="3988743" cy="2874844"/>
          </a:xfrm>
          <a:prstGeom prst="rect">
            <a:avLst/>
          </a:prstGeom>
          <a:noFill/>
          <a:ln>
            <a:noFill/>
          </a:ln>
        </p:spPr>
      </p:pic>
      <p:pic>
        <p:nvPicPr>
          <p:cNvPr id="255" name="Google Shape;255;p23" title="Screenshot 2025-09-09 at 4.05.33 PM.png"/>
          <p:cNvPicPr preferRelativeResize="0"/>
          <p:nvPr/>
        </p:nvPicPr>
        <p:blipFill>
          <a:blip r:embed="rId5">
            <a:alphaModFix/>
          </a:blip>
          <a:stretch>
            <a:fillRect/>
          </a:stretch>
        </p:blipFill>
        <p:spPr>
          <a:xfrm>
            <a:off x="7632180" y="1108300"/>
            <a:ext cx="4072696" cy="2874844"/>
          </a:xfrm>
          <a:prstGeom prst="rect">
            <a:avLst/>
          </a:prstGeom>
          <a:noFill/>
          <a:ln>
            <a:noFill/>
          </a:ln>
        </p:spPr>
      </p:pic>
      <p:pic>
        <p:nvPicPr>
          <p:cNvPr id="256" name="Google Shape;256;p23"/>
          <p:cNvPicPr preferRelativeResize="0"/>
          <p:nvPr/>
        </p:nvPicPr>
        <p:blipFill>
          <a:blip r:embed="rId6">
            <a:alphaModFix/>
          </a:blip>
          <a:stretch>
            <a:fillRect/>
          </a:stretch>
        </p:blipFill>
        <p:spPr>
          <a:xfrm>
            <a:off x="152400" y="2741225"/>
            <a:ext cx="7327379" cy="29710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Signal Folding</a:t>
            </a:r>
            <a:endParaRPr sz="3600">
              <a:latin typeface="Arial"/>
              <a:ea typeface="Arial"/>
              <a:cs typeface="Arial"/>
              <a:sym typeface="Arial"/>
            </a:endParaRPr>
          </a:p>
        </p:txBody>
      </p:sp>
      <p:sp>
        <p:nvSpPr>
          <p:cNvPr id="263" name="Google Shape;263;p24"/>
          <p:cNvSpPr txBox="1">
            <a:spLocks noGrp="1"/>
          </p:cNvSpPr>
          <p:nvPr>
            <p:ph type="body" idx="1"/>
          </p:nvPr>
        </p:nvSpPr>
        <p:spPr>
          <a:xfrm>
            <a:off x="838200" y="1495261"/>
            <a:ext cx="54414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a:t>Nyquist theorem:</a:t>
            </a:r>
            <a:endParaRPr b="1"/>
          </a:p>
          <a:p>
            <a:pPr marL="457200" lvl="0" indent="-317500" algn="l" rtl="0">
              <a:lnSpc>
                <a:spcPct val="115000"/>
              </a:lnSpc>
              <a:spcBef>
                <a:spcPts val="1200"/>
              </a:spcBef>
              <a:spcAft>
                <a:spcPts val="0"/>
              </a:spcAft>
              <a:buSzPts val="1400"/>
              <a:buChar char="●"/>
            </a:pPr>
            <a:r>
              <a:rPr lang="en-US" sz="1400">
                <a:latin typeface="Arial"/>
                <a:ea typeface="Arial"/>
                <a:cs typeface="Arial"/>
                <a:sym typeface="Arial"/>
              </a:rPr>
              <a:t>sampling rate (Δ) must be at least </a:t>
            </a:r>
            <a:r>
              <a:rPr lang="en-US" sz="1400" b="1">
                <a:latin typeface="Arial"/>
                <a:ea typeface="Arial"/>
                <a:cs typeface="Arial"/>
                <a:sym typeface="Arial"/>
              </a:rPr>
              <a:t>twice as fast as the highest frequency (Nyquist frequency, </a:t>
            </a:r>
            <a:r>
              <a:rPr lang="en-US" sz="1400" i="1">
                <a:latin typeface="Arial"/>
                <a:ea typeface="Arial"/>
                <a:cs typeface="Arial"/>
                <a:sym typeface="Arial"/>
              </a:rPr>
              <a:t>f</a:t>
            </a:r>
            <a:r>
              <a:rPr lang="en-US" sz="1400" baseline="-25000">
                <a:latin typeface="Arial"/>
                <a:ea typeface="Arial"/>
                <a:cs typeface="Arial"/>
                <a:sym typeface="Arial"/>
              </a:rPr>
              <a:t>max</a:t>
            </a:r>
            <a:r>
              <a:rPr lang="en-US" sz="1400" b="1">
                <a:latin typeface="Arial"/>
                <a:ea typeface="Arial"/>
                <a:cs typeface="Arial"/>
                <a:sym typeface="Arial"/>
              </a:rPr>
              <a:t> ) present</a:t>
            </a:r>
            <a:r>
              <a:rPr lang="en-US" sz="1400">
                <a:latin typeface="Arial"/>
                <a:ea typeface="Arial"/>
                <a:cs typeface="Arial"/>
                <a:sym typeface="Arial"/>
              </a:rPr>
              <a:t> in that signal</a:t>
            </a:r>
            <a:endParaRPr sz="1400">
              <a:latin typeface="Arial"/>
              <a:ea typeface="Arial"/>
              <a:cs typeface="Arial"/>
              <a:sym typeface="Arial"/>
            </a:endParaRPr>
          </a:p>
          <a:p>
            <a:pPr marL="457200" lvl="0" indent="0" algn="l" rtl="0">
              <a:lnSpc>
                <a:spcPct val="115000"/>
              </a:lnSpc>
              <a:spcBef>
                <a:spcPts val="1200"/>
              </a:spcBef>
              <a:spcAft>
                <a:spcPts val="0"/>
              </a:spcAft>
              <a:buNone/>
            </a:pPr>
            <a:endParaRPr sz="1400">
              <a:latin typeface="Arial"/>
              <a:ea typeface="Arial"/>
              <a:cs typeface="Arial"/>
              <a:sym typeface="Arial"/>
            </a:endParaRPr>
          </a:p>
          <a:p>
            <a:pPr marL="457200" lvl="0" indent="0" algn="ctr" rtl="0">
              <a:lnSpc>
                <a:spcPct val="115000"/>
              </a:lnSpc>
              <a:spcBef>
                <a:spcPts val="1200"/>
              </a:spcBef>
              <a:spcAft>
                <a:spcPts val="0"/>
              </a:spcAft>
              <a:buNone/>
            </a:pPr>
            <a:r>
              <a:rPr lang="en-US" sz="1400" i="1">
                <a:latin typeface="Arial"/>
                <a:ea typeface="Arial"/>
                <a:cs typeface="Arial"/>
                <a:sym typeface="Arial"/>
              </a:rPr>
              <a:t>f</a:t>
            </a:r>
            <a:r>
              <a:rPr lang="en-US" sz="1400" baseline="-25000">
                <a:latin typeface="Arial"/>
                <a:ea typeface="Arial"/>
                <a:cs typeface="Arial"/>
                <a:sym typeface="Arial"/>
              </a:rPr>
              <a:t>max </a:t>
            </a:r>
            <a:r>
              <a:rPr lang="en-US" sz="1400">
                <a:latin typeface="Arial"/>
                <a:ea typeface="Arial"/>
                <a:cs typeface="Arial"/>
                <a:sym typeface="Arial"/>
              </a:rPr>
              <a:t>= 1/2Δ</a:t>
            </a:r>
            <a:endParaRPr sz="1400">
              <a:latin typeface="Arial"/>
              <a:ea typeface="Arial"/>
              <a:cs typeface="Arial"/>
              <a:sym typeface="Arial"/>
            </a:endParaRPr>
          </a:p>
          <a:p>
            <a:pPr marL="457200" lvl="0" indent="0" algn="ctr" rtl="0">
              <a:lnSpc>
                <a:spcPct val="115000"/>
              </a:lnSpc>
              <a:spcBef>
                <a:spcPts val="1200"/>
              </a:spcBef>
              <a:spcAft>
                <a:spcPts val="0"/>
              </a:spcAft>
              <a:buNone/>
            </a:pPr>
            <a:r>
              <a:rPr lang="en-US" sz="1400">
                <a:latin typeface="Arial"/>
                <a:ea typeface="Arial"/>
                <a:cs typeface="Arial"/>
                <a:sym typeface="Arial"/>
              </a:rPr>
              <a:t>Δ = 1/2</a:t>
            </a:r>
            <a:r>
              <a:rPr lang="en-US" sz="1400" i="1">
                <a:latin typeface="Arial"/>
                <a:ea typeface="Arial"/>
                <a:cs typeface="Arial"/>
                <a:sym typeface="Arial"/>
              </a:rPr>
              <a:t>f</a:t>
            </a:r>
            <a:r>
              <a:rPr lang="en-US" sz="1400" baseline="-25000">
                <a:latin typeface="Arial"/>
                <a:ea typeface="Arial"/>
                <a:cs typeface="Arial"/>
                <a:sym typeface="Arial"/>
              </a:rPr>
              <a:t>max</a:t>
            </a:r>
            <a:endParaRPr sz="1400">
              <a:latin typeface="Arial"/>
              <a:ea typeface="Arial"/>
              <a:cs typeface="Arial"/>
              <a:sym typeface="Arial"/>
            </a:endParaRPr>
          </a:p>
          <a:p>
            <a:pPr marL="457200" lvl="0" indent="0" algn="l" rtl="0">
              <a:lnSpc>
                <a:spcPct val="115000"/>
              </a:lnSpc>
              <a:spcBef>
                <a:spcPts val="1200"/>
              </a:spcBef>
              <a:spcAft>
                <a:spcPts val="0"/>
              </a:spcAft>
              <a:buNone/>
            </a:pPr>
            <a:endParaRPr sz="1400">
              <a:latin typeface="Arial"/>
              <a:ea typeface="Arial"/>
              <a:cs typeface="Arial"/>
              <a:sym typeface="Arial"/>
            </a:endParaRPr>
          </a:p>
          <a:p>
            <a:pPr marL="0" lvl="0" indent="0" algn="l" rtl="0">
              <a:lnSpc>
                <a:spcPct val="115000"/>
              </a:lnSpc>
              <a:spcBef>
                <a:spcPts val="1200"/>
              </a:spcBef>
              <a:spcAft>
                <a:spcPts val="0"/>
              </a:spcAft>
              <a:buNone/>
            </a:pPr>
            <a:r>
              <a:rPr lang="en-US" sz="1400">
                <a:latin typeface="Arial"/>
                <a:ea typeface="Arial"/>
                <a:cs typeface="Arial"/>
                <a:sym typeface="Arial"/>
              </a:rPr>
              <a:t>sampling rate is also known as </a:t>
            </a:r>
            <a:r>
              <a:rPr lang="en-US" sz="1400" i="1">
                <a:latin typeface="Arial"/>
                <a:ea typeface="Arial"/>
                <a:cs typeface="Arial"/>
                <a:sym typeface="Arial"/>
              </a:rPr>
              <a:t>dwell time</a:t>
            </a:r>
            <a:endParaRPr sz="1400" i="1">
              <a:latin typeface="Arial"/>
              <a:ea typeface="Arial"/>
              <a:cs typeface="Arial"/>
              <a:sym typeface="Arial"/>
            </a:endParaRPr>
          </a:p>
          <a:p>
            <a:pPr marL="0" lvl="0" indent="0" algn="l" rtl="0">
              <a:lnSpc>
                <a:spcPct val="115000"/>
              </a:lnSpc>
              <a:spcBef>
                <a:spcPts val="1200"/>
              </a:spcBef>
              <a:spcAft>
                <a:spcPts val="1200"/>
              </a:spcAft>
              <a:buNone/>
            </a:pPr>
            <a:r>
              <a:rPr lang="en-US" sz="1400">
                <a:latin typeface="Arial"/>
                <a:ea typeface="Arial"/>
                <a:cs typeface="Arial"/>
                <a:sym typeface="Arial"/>
              </a:rPr>
              <a:t>when sampling rate is too slow, the signal frequency that is higher than your nyquist limit get folded back into the spectrum at lower frequency (Fig. 5.8) → </a:t>
            </a:r>
            <a:r>
              <a:rPr lang="en-US" sz="1400" b="1">
                <a:latin typeface="Arial"/>
                <a:ea typeface="Arial"/>
                <a:cs typeface="Arial"/>
                <a:sym typeface="Arial"/>
              </a:rPr>
              <a:t>folding</a:t>
            </a:r>
            <a:endParaRPr sz="1400" b="1">
              <a:latin typeface="Arial"/>
              <a:ea typeface="Arial"/>
              <a:cs typeface="Arial"/>
              <a:sym typeface="Arial"/>
            </a:endParaRPr>
          </a:p>
        </p:txBody>
      </p:sp>
      <p:pic>
        <p:nvPicPr>
          <p:cNvPr id="264" name="Google Shape;264;p24" title="Screenshot 2025-09-09 at 4.44.55 PM.png"/>
          <p:cNvPicPr preferRelativeResize="0"/>
          <p:nvPr/>
        </p:nvPicPr>
        <p:blipFill>
          <a:blip r:embed="rId3">
            <a:alphaModFix/>
          </a:blip>
          <a:stretch>
            <a:fillRect/>
          </a:stretch>
        </p:blipFill>
        <p:spPr>
          <a:xfrm>
            <a:off x="6353863" y="1289936"/>
            <a:ext cx="2390775" cy="4457700"/>
          </a:xfrm>
          <a:prstGeom prst="rect">
            <a:avLst/>
          </a:prstGeom>
          <a:noFill/>
          <a:ln>
            <a:noFill/>
          </a:ln>
        </p:spPr>
      </p:pic>
      <p:pic>
        <p:nvPicPr>
          <p:cNvPr id="265" name="Google Shape;265;p24" title="Screenshot 2025-09-09 at 4.45.23 PM.png"/>
          <p:cNvPicPr preferRelativeResize="0"/>
          <p:nvPr/>
        </p:nvPicPr>
        <p:blipFill>
          <a:blip r:embed="rId4">
            <a:alphaModFix/>
          </a:blip>
          <a:stretch>
            <a:fillRect/>
          </a:stretch>
        </p:blipFill>
        <p:spPr>
          <a:xfrm>
            <a:off x="8963026" y="1289936"/>
            <a:ext cx="2390775" cy="4129520"/>
          </a:xfrm>
          <a:prstGeom prst="rect">
            <a:avLst/>
          </a:prstGeom>
          <a:noFill/>
          <a:ln>
            <a:noFill/>
          </a:ln>
        </p:spPr>
      </p:pic>
      <p:pic>
        <p:nvPicPr>
          <p:cNvPr id="266" name="Google Shape;266;p24"/>
          <p:cNvPicPr preferRelativeResize="0"/>
          <p:nvPr/>
        </p:nvPicPr>
        <p:blipFill>
          <a:blip r:embed="rId5">
            <a:alphaModFix/>
          </a:blip>
          <a:stretch>
            <a:fillRect/>
          </a:stretch>
        </p:blipFill>
        <p:spPr>
          <a:xfrm>
            <a:off x="1" y="5657700"/>
            <a:ext cx="2275174" cy="120028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Sampling rate and Resolution</a:t>
            </a:r>
            <a:endParaRPr>
              <a:latin typeface="Arial"/>
              <a:ea typeface="Arial"/>
              <a:cs typeface="Arial"/>
              <a:sym typeface="Arial"/>
            </a:endParaRPr>
          </a:p>
        </p:txBody>
      </p:sp>
      <p:pic>
        <p:nvPicPr>
          <p:cNvPr id="273" name="Google Shape;273;p25" title="Screenshot 2025-09-10 at 3.20.48 PM.png"/>
          <p:cNvPicPr preferRelativeResize="0"/>
          <p:nvPr/>
        </p:nvPicPr>
        <p:blipFill>
          <a:blip r:embed="rId3">
            <a:alphaModFix/>
          </a:blip>
          <a:stretch>
            <a:fillRect/>
          </a:stretch>
        </p:blipFill>
        <p:spPr>
          <a:xfrm>
            <a:off x="1556300" y="1825625"/>
            <a:ext cx="9292499" cy="1717850"/>
          </a:xfrm>
          <a:prstGeom prst="rect">
            <a:avLst/>
          </a:prstGeom>
          <a:noFill/>
          <a:ln>
            <a:noFill/>
          </a:ln>
        </p:spPr>
      </p:pic>
      <p:pic>
        <p:nvPicPr>
          <p:cNvPr id="274" name="Google Shape;274;p25" title="Screenshot 2025-09-10 at 3.21.06 PM.png"/>
          <p:cNvPicPr preferRelativeResize="0"/>
          <p:nvPr/>
        </p:nvPicPr>
        <p:blipFill rotWithShape="1">
          <a:blip r:embed="rId4">
            <a:alphaModFix/>
          </a:blip>
          <a:srcRect r="16156"/>
          <a:stretch/>
        </p:blipFill>
        <p:spPr>
          <a:xfrm>
            <a:off x="1556300" y="3693904"/>
            <a:ext cx="9176273" cy="2008250"/>
          </a:xfrm>
          <a:prstGeom prst="rect">
            <a:avLst/>
          </a:prstGeom>
          <a:noFill/>
          <a:ln>
            <a:noFill/>
          </a:ln>
        </p:spPr>
      </p:pic>
      <p:pic>
        <p:nvPicPr>
          <p:cNvPr id="275" name="Google Shape;275;p25"/>
          <p:cNvPicPr preferRelativeResize="0"/>
          <p:nvPr/>
        </p:nvPicPr>
        <p:blipFill>
          <a:blip r:embed="rId5">
            <a:alphaModFix/>
          </a:blip>
          <a:stretch>
            <a:fillRect/>
          </a:stretch>
        </p:blipFill>
        <p:spPr>
          <a:xfrm>
            <a:off x="1" y="5657700"/>
            <a:ext cx="2275174" cy="120028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6"/>
          <p:cNvSpPr txBox="1">
            <a:spLocks noGrp="1"/>
          </p:cNvSpPr>
          <p:nvPr>
            <p:ph type="title"/>
          </p:nvPr>
        </p:nvSpPr>
        <p:spPr>
          <a:xfrm>
            <a:off x="838200" y="365125"/>
            <a:ext cx="53421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Spinning sideband</a:t>
            </a:r>
            <a:endParaRPr sz="3600">
              <a:latin typeface="Arial"/>
              <a:ea typeface="Arial"/>
              <a:cs typeface="Arial"/>
              <a:sym typeface="Arial"/>
            </a:endParaRPr>
          </a:p>
        </p:txBody>
      </p:sp>
      <p:grpSp>
        <p:nvGrpSpPr>
          <p:cNvPr id="282" name="Google Shape;282;p26"/>
          <p:cNvGrpSpPr/>
          <p:nvPr/>
        </p:nvGrpSpPr>
        <p:grpSpPr>
          <a:xfrm>
            <a:off x="789863" y="1564586"/>
            <a:ext cx="5438775" cy="4262500"/>
            <a:chOff x="6482625" y="1914325"/>
            <a:chExt cx="5438775" cy="4262500"/>
          </a:xfrm>
        </p:grpSpPr>
        <p:pic>
          <p:nvPicPr>
            <p:cNvPr id="283" name="Google Shape;283;p26" title="Screenshot 2025-09-09 at 4.41.51 PM.png"/>
            <p:cNvPicPr preferRelativeResize="0"/>
            <p:nvPr/>
          </p:nvPicPr>
          <p:blipFill>
            <a:blip r:embed="rId3">
              <a:alphaModFix/>
            </a:blip>
            <a:stretch>
              <a:fillRect/>
            </a:stretch>
          </p:blipFill>
          <p:spPr>
            <a:xfrm>
              <a:off x="6482625" y="2852600"/>
              <a:ext cx="5438775" cy="3324225"/>
            </a:xfrm>
            <a:prstGeom prst="rect">
              <a:avLst/>
            </a:prstGeom>
            <a:noFill/>
            <a:ln>
              <a:noFill/>
            </a:ln>
          </p:spPr>
        </p:pic>
        <p:sp>
          <p:nvSpPr>
            <p:cNvPr id="284" name="Google Shape;284;p26"/>
            <p:cNvSpPr txBox="1"/>
            <p:nvPr/>
          </p:nvSpPr>
          <p:spPr>
            <a:xfrm>
              <a:off x="6559800" y="3930475"/>
              <a:ext cx="154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rPr>
                <a:t>AQ  = 4 sec</a:t>
              </a:r>
              <a:endParaRPr sz="1800">
                <a:solidFill>
                  <a:schemeClr val="dk1"/>
                </a:solidFill>
              </a:endParaRPr>
            </a:p>
          </p:txBody>
        </p:sp>
        <p:sp>
          <p:nvSpPr>
            <p:cNvPr id="285" name="Google Shape;285;p26"/>
            <p:cNvSpPr txBox="1"/>
            <p:nvPr/>
          </p:nvSpPr>
          <p:spPr>
            <a:xfrm>
              <a:off x="8331838" y="3930475"/>
              <a:ext cx="154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rPr>
                <a:t>AQ  = 2 sec</a:t>
              </a:r>
              <a:endParaRPr sz="1800">
                <a:solidFill>
                  <a:schemeClr val="dk1"/>
                </a:solidFill>
              </a:endParaRPr>
            </a:p>
          </p:txBody>
        </p:sp>
        <p:sp>
          <p:nvSpPr>
            <p:cNvPr id="286" name="Google Shape;286;p26"/>
            <p:cNvSpPr txBox="1"/>
            <p:nvPr/>
          </p:nvSpPr>
          <p:spPr>
            <a:xfrm>
              <a:off x="10103875" y="3930475"/>
              <a:ext cx="154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rPr>
                <a:t>AQ  = 1 sec</a:t>
              </a:r>
              <a:endParaRPr sz="1800">
                <a:solidFill>
                  <a:schemeClr val="dk1"/>
                </a:solidFill>
              </a:endParaRPr>
            </a:p>
          </p:txBody>
        </p:sp>
        <p:sp>
          <p:nvSpPr>
            <p:cNvPr id="287" name="Google Shape;287;p26"/>
            <p:cNvSpPr txBox="1"/>
            <p:nvPr/>
          </p:nvSpPr>
          <p:spPr>
            <a:xfrm>
              <a:off x="6559800" y="1914325"/>
              <a:ext cx="1545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rPr>
                <a:t>Appropriate acquisition time</a:t>
              </a:r>
              <a:endParaRPr sz="1800">
                <a:solidFill>
                  <a:schemeClr val="dk1"/>
                </a:solidFill>
              </a:endParaRPr>
            </a:p>
          </p:txBody>
        </p:sp>
        <p:sp>
          <p:nvSpPr>
            <p:cNvPr id="288" name="Google Shape;288;p26"/>
            <p:cNvSpPr txBox="1"/>
            <p:nvPr/>
          </p:nvSpPr>
          <p:spPr>
            <a:xfrm>
              <a:off x="9976675" y="2052775"/>
              <a:ext cx="17994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rPr>
                <a:t>Acquisition time is too short</a:t>
              </a:r>
              <a:endParaRPr sz="1800">
                <a:solidFill>
                  <a:schemeClr val="dk1"/>
                </a:solidFill>
              </a:endParaRPr>
            </a:p>
          </p:txBody>
        </p:sp>
        <p:cxnSp>
          <p:nvCxnSpPr>
            <p:cNvPr id="289" name="Google Shape;289;p26"/>
            <p:cNvCxnSpPr>
              <a:stCxn id="287" idx="3"/>
              <a:endCxn id="288" idx="1"/>
            </p:cNvCxnSpPr>
            <p:nvPr/>
          </p:nvCxnSpPr>
          <p:spPr>
            <a:xfrm>
              <a:off x="8104800" y="2422225"/>
              <a:ext cx="1872000" cy="0"/>
            </a:xfrm>
            <a:prstGeom prst="straightConnector1">
              <a:avLst/>
            </a:prstGeom>
            <a:noFill/>
            <a:ln w="9525" cap="flat" cmpd="sng">
              <a:solidFill>
                <a:schemeClr val="dk2"/>
              </a:solidFill>
              <a:prstDash val="solid"/>
              <a:round/>
              <a:headEnd type="none" w="med" len="med"/>
              <a:tailEnd type="triangle" w="med" len="med"/>
            </a:ln>
          </p:spPr>
        </p:cxnSp>
      </p:grpSp>
      <p:sp>
        <p:nvSpPr>
          <p:cNvPr id="290" name="Google Shape;290;p26"/>
          <p:cNvSpPr txBox="1">
            <a:spLocks noGrp="1"/>
          </p:cNvSpPr>
          <p:nvPr>
            <p:ph type="title"/>
          </p:nvPr>
        </p:nvSpPr>
        <p:spPr>
          <a:xfrm>
            <a:off x="6650075" y="365125"/>
            <a:ext cx="52743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Shimming and spectra shape</a:t>
            </a:r>
            <a:endParaRPr sz="3600">
              <a:latin typeface="Arial"/>
              <a:ea typeface="Arial"/>
              <a:cs typeface="Arial"/>
              <a:sym typeface="Arial"/>
            </a:endParaRPr>
          </a:p>
        </p:txBody>
      </p:sp>
      <p:pic>
        <p:nvPicPr>
          <p:cNvPr id="291" name="Google Shape;291;p26"/>
          <p:cNvPicPr preferRelativeResize="0"/>
          <p:nvPr/>
        </p:nvPicPr>
        <p:blipFill>
          <a:blip r:embed="rId4">
            <a:alphaModFix/>
          </a:blip>
          <a:stretch>
            <a:fillRect/>
          </a:stretch>
        </p:blipFill>
        <p:spPr>
          <a:xfrm>
            <a:off x="6402773" y="2866935"/>
            <a:ext cx="4951025" cy="2847025"/>
          </a:xfrm>
          <a:prstGeom prst="rect">
            <a:avLst/>
          </a:prstGeom>
          <a:noFill/>
          <a:ln>
            <a:noFill/>
          </a:ln>
        </p:spPr>
      </p:pic>
      <p:pic>
        <p:nvPicPr>
          <p:cNvPr id="292" name="Google Shape;292;p26"/>
          <p:cNvPicPr preferRelativeResize="0"/>
          <p:nvPr/>
        </p:nvPicPr>
        <p:blipFill>
          <a:blip r:embed="rId5">
            <a:alphaModFix/>
          </a:blip>
          <a:stretch>
            <a:fillRect/>
          </a:stretch>
        </p:blipFill>
        <p:spPr>
          <a:xfrm>
            <a:off x="1" y="5657700"/>
            <a:ext cx="2275174" cy="12002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7"/>
          <p:cNvSpPr txBox="1">
            <a:spLocks noGrp="1"/>
          </p:cNvSpPr>
          <p:nvPr>
            <p:ph type="title"/>
          </p:nvPr>
        </p:nvSpPr>
        <p:spPr>
          <a:xfrm>
            <a:off x="838200" y="365125"/>
            <a:ext cx="52644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Arial"/>
                <a:ea typeface="Arial"/>
                <a:cs typeface="Arial"/>
                <a:sym typeface="Arial"/>
              </a:rPr>
              <a:t>Phase Correction</a:t>
            </a:r>
            <a:endParaRPr sz="3600">
              <a:latin typeface="Arial"/>
              <a:ea typeface="Arial"/>
              <a:cs typeface="Arial"/>
              <a:sym typeface="Arial"/>
            </a:endParaRPr>
          </a:p>
        </p:txBody>
      </p:sp>
      <p:pic>
        <p:nvPicPr>
          <p:cNvPr id="299" name="Google Shape;299;p27"/>
          <p:cNvPicPr preferRelativeResize="0"/>
          <p:nvPr/>
        </p:nvPicPr>
        <p:blipFill>
          <a:blip r:embed="rId3">
            <a:alphaModFix/>
          </a:blip>
          <a:stretch>
            <a:fillRect/>
          </a:stretch>
        </p:blipFill>
        <p:spPr>
          <a:xfrm>
            <a:off x="838200" y="1331158"/>
            <a:ext cx="5090850" cy="3163349"/>
          </a:xfrm>
          <a:prstGeom prst="rect">
            <a:avLst/>
          </a:prstGeom>
          <a:noFill/>
          <a:ln>
            <a:noFill/>
          </a:ln>
        </p:spPr>
      </p:pic>
      <p:pic>
        <p:nvPicPr>
          <p:cNvPr id="300" name="Google Shape;300;p27"/>
          <p:cNvPicPr preferRelativeResize="0"/>
          <p:nvPr/>
        </p:nvPicPr>
        <p:blipFill>
          <a:blip r:embed="rId4">
            <a:alphaModFix/>
          </a:blip>
          <a:stretch>
            <a:fillRect/>
          </a:stretch>
        </p:blipFill>
        <p:spPr>
          <a:xfrm>
            <a:off x="6102600" y="1130375"/>
            <a:ext cx="5441200" cy="3364125"/>
          </a:xfrm>
          <a:prstGeom prst="rect">
            <a:avLst/>
          </a:prstGeom>
          <a:noFill/>
          <a:ln>
            <a:noFill/>
          </a:ln>
        </p:spPr>
      </p:pic>
      <p:pic>
        <p:nvPicPr>
          <p:cNvPr id="301" name="Google Shape;301;p27"/>
          <p:cNvPicPr preferRelativeResize="0"/>
          <p:nvPr/>
        </p:nvPicPr>
        <p:blipFill>
          <a:blip r:embed="rId5">
            <a:alphaModFix/>
          </a:blip>
          <a:stretch>
            <a:fillRect/>
          </a:stretch>
        </p:blipFill>
        <p:spPr>
          <a:xfrm>
            <a:off x="1" y="5657700"/>
            <a:ext cx="2275174" cy="120028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8"/>
          <p:cNvSpPr txBox="1">
            <a:spLocks noGrp="1"/>
          </p:cNvSpPr>
          <p:nvPr>
            <p:ph type="title"/>
          </p:nvPr>
        </p:nvSpPr>
        <p:spPr>
          <a:xfrm>
            <a:off x="838200" y="365125"/>
            <a:ext cx="5264400" cy="1325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30555"/>
              <a:buFont typeface="Arial"/>
              <a:buNone/>
            </a:pPr>
            <a:r>
              <a:rPr lang="en-US" sz="3600">
                <a:latin typeface="Arial"/>
                <a:ea typeface="Arial"/>
                <a:cs typeface="Arial"/>
                <a:sym typeface="Arial"/>
              </a:rPr>
              <a:t>Water suppression failure</a:t>
            </a:r>
            <a:endParaRPr sz="3600">
              <a:latin typeface="Arial"/>
              <a:ea typeface="Arial"/>
              <a:cs typeface="Arial"/>
              <a:sym typeface="Arial"/>
            </a:endParaRPr>
          </a:p>
          <a:p>
            <a:pPr marL="0" lvl="0" indent="0" algn="l" rtl="0">
              <a:spcBef>
                <a:spcPts val="0"/>
              </a:spcBef>
              <a:spcAft>
                <a:spcPts val="0"/>
              </a:spcAft>
              <a:buNone/>
            </a:pPr>
            <a:endParaRPr sz="3600">
              <a:latin typeface="Arial"/>
              <a:ea typeface="Arial"/>
              <a:cs typeface="Arial"/>
              <a:sym typeface="Arial"/>
            </a:endParaRPr>
          </a:p>
        </p:txBody>
      </p:sp>
      <p:pic>
        <p:nvPicPr>
          <p:cNvPr id="308" name="Google Shape;308;p28"/>
          <p:cNvPicPr preferRelativeResize="0"/>
          <p:nvPr/>
        </p:nvPicPr>
        <p:blipFill>
          <a:blip r:embed="rId3">
            <a:alphaModFix/>
          </a:blip>
          <a:stretch>
            <a:fillRect/>
          </a:stretch>
        </p:blipFill>
        <p:spPr>
          <a:xfrm>
            <a:off x="1" y="5657700"/>
            <a:ext cx="2275174" cy="1200289"/>
          </a:xfrm>
          <a:prstGeom prst="rect">
            <a:avLst/>
          </a:prstGeom>
          <a:noFill/>
          <a:ln>
            <a:noFill/>
          </a:ln>
        </p:spPr>
      </p:pic>
      <p:pic>
        <p:nvPicPr>
          <p:cNvPr id="309" name="Google Shape;309;p28"/>
          <p:cNvPicPr preferRelativeResize="0"/>
          <p:nvPr/>
        </p:nvPicPr>
        <p:blipFill>
          <a:blip r:embed="rId4">
            <a:alphaModFix/>
          </a:blip>
          <a:stretch>
            <a:fillRect/>
          </a:stretch>
        </p:blipFill>
        <p:spPr>
          <a:xfrm>
            <a:off x="838200" y="1246475"/>
            <a:ext cx="5821766" cy="3043798"/>
          </a:xfrm>
          <a:prstGeom prst="rect">
            <a:avLst/>
          </a:prstGeom>
          <a:noFill/>
          <a:ln>
            <a:noFill/>
          </a:ln>
        </p:spPr>
      </p:pic>
      <p:sp>
        <p:nvSpPr>
          <p:cNvPr id="310" name="Google Shape;310;p28"/>
          <p:cNvSpPr txBox="1"/>
          <p:nvPr/>
        </p:nvSpPr>
        <p:spPr>
          <a:xfrm>
            <a:off x="7561021" y="1246484"/>
            <a:ext cx="3404700" cy="2425800"/>
          </a:xfrm>
          <a:prstGeom prst="rect">
            <a:avLst/>
          </a:prstGeom>
          <a:noFill/>
          <a:ln>
            <a:noFill/>
          </a:ln>
        </p:spPr>
        <p:txBody>
          <a:bodyPr spcFirstLastPara="1" wrap="square" lIns="125175" tIns="125175" rIns="125175" bIns="125175" anchor="t" anchorCtr="0">
            <a:spAutoFit/>
          </a:bodyPr>
          <a:lstStyle/>
          <a:p>
            <a:pPr marL="0" lvl="0" indent="0" algn="l" rtl="0">
              <a:spcBef>
                <a:spcPts val="0"/>
              </a:spcBef>
              <a:spcAft>
                <a:spcPts val="0"/>
              </a:spcAft>
              <a:buNone/>
            </a:pPr>
            <a:r>
              <a:rPr lang="en-US" sz="2016"/>
              <a:t>Possible cause:</a:t>
            </a:r>
            <a:endParaRPr sz="2016"/>
          </a:p>
          <a:p>
            <a:pPr marL="0" lvl="0" indent="0" algn="l" rtl="0">
              <a:spcBef>
                <a:spcPts val="0"/>
              </a:spcBef>
              <a:spcAft>
                <a:spcPts val="0"/>
              </a:spcAft>
              <a:buNone/>
            </a:pPr>
            <a:r>
              <a:rPr lang="en-US" sz="2016"/>
              <a:t>Low sample volume?</a:t>
            </a:r>
            <a:endParaRPr sz="2016"/>
          </a:p>
          <a:p>
            <a:pPr marL="0" lvl="0" indent="0" algn="l" rtl="0">
              <a:spcBef>
                <a:spcPts val="0"/>
              </a:spcBef>
              <a:spcAft>
                <a:spcPts val="0"/>
              </a:spcAft>
              <a:buNone/>
            </a:pPr>
            <a:r>
              <a:rPr lang="en-US" sz="2016"/>
              <a:t>Wrong solvent (matrix)?</a:t>
            </a:r>
            <a:endParaRPr sz="2016"/>
          </a:p>
          <a:p>
            <a:pPr marL="0" lvl="0" indent="0" algn="l" rtl="0">
              <a:spcBef>
                <a:spcPts val="0"/>
              </a:spcBef>
              <a:spcAft>
                <a:spcPts val="0"/>
              </a:spcAft>
              <a:buNone/>
            </a:pPr>
            <a:r>
              <a:rPr lang="en-US" sz="2016"/>
              <a:t>Bad shim?</a:t>
            </a:r>
            <a:endParaRPr sz="2016"/>
          </a:p>
          <a:p>
            <a:pPr marL="0" lvl="0" indent="0" algn="l" rtl="0">
              <a:spcBef>
                <a:spcPts val="0"/>
              </a:spcBef>
              <a:spcAft>
                <a:spcPts val="0"/>
              </a:spcAft>
              <a:buNone/>
            </a:pPr>
            <a:r>
              <a:rPr lang="en-US" sz="2016"/>
              <a:t>forgot to mix it well? </a:t>
            </a:r>
            <a:endParaRPr sz="2016"/>
          </a:p>
          <a:p>
            <a:pPr marL="0" lvl="0" indent="0" algn="l" rtl="0">
              <a:spcBef>
                <a:spcPts val="0"/>
              </a:spcBef>
              <a:spcAft>
                <a:spcPts val="0"/>
              </a:spcAft>
              <a:buNone/>
            </a:pPr>
            <a:r>
              <a:rPr lang="en-US" sz="2016"/>
              <a:t>Floating sentiment ?</a:t>
            </a:r>
            <a:endParaRPr sz="2016"/>
          </a:p>
          <a:p>
            <a:pPr marL="0" lvl="0" indent="0" algn="l" rtl="0">
              <a:spcBef>
                <a:spcPts val="0"/>
              </a:spcBef>
              <a:spcAft>
                <a:spcPts val="0"/>
              </a:spcAft>
              <a:buNone/>
            </a:pPr>
            <a:r>
              <a:rPr lang="en-US" sz="2016"/>
              <a:t>Air bubbles in the tube?</a:t>
            </a:r>
            <a:endParaRPr sz="2016"/>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9"/>
          <p:cNvSpPr txBox="1">
            <a:spLocks noGrp="1"/>
          </p:cNvSpPr>
          <p:nvPr>
            <p:ph type="title"/>
          </p:nvPr>
        </p:nvSpPr>
        <p:spPr>
          <a:xfrm>
            <a:off x="6417600" y="794370"/>
            <a:ext cx="5651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Helvetica Neue"/>
                <a:ea typeface="Helvetica Neue"/>
                <a:cs typeface="Helvetica Neue"/>
                <a:sym typeface="Helvetica Neue"/>
              </a:rPr>
              <a:t>Experimental Failures</a:t>
            </a:r>
            <a:endParaRPr>
              <a:latin typeface="Helvetica Neue"/>
              <a:ea typeface="Helvetica Neue"/>
              <a:cs typeface="Helvetica Neue"/>
              <a:sym typeface="Helvetica Neue"/>
            </a:endParaRPr>
          </a:p>
        </p:txBody>
      </p:sp>
      <p:sp>
        <p:nvSpPr>
          <p:cNvPr id="317" name="Google Shape;317;p29"/>
          <p:cNvSpPr txBox="1">
            <a:spLocks noGrp="1"/>
          </p:cNvSpPr>
          <p:nvPr>
            <p:ph type="body" idx="1"/>
          </p:nvPr>
        </p:nvSpPr>
        <p:spPr>
          <a:xfrm>
            <a:off x="6601650" y="1940238"/>
            <a:ext cx="5283600" cy="4351200"/>
          </a:xfrm>
          <a:prstGeom prst="rect">
            <a:avLst/>
          </a:prstGeom>
        </p:spPr>
        <p:txBody>
          <a:bodyPr spcFirstLastPara="1" wrap="square" lIns="91425" tIns="45700" rIns="91425" bIns="45700" anchor="t" anchorCtr="0">
            <a:normAutofit/>
          </a:bodyPr>
          <a:lstStyle/>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Poor shimming → broad, unresolved peaks</a:t>
            </a:r>
            <a:br>
              <a:rPr lang="en-US" sz="2200">
                <a:latin typeface="Helvetica Neue"/>
                <a:ea typeface="Helvetica Neue"/>
                <a:cs typeface="Helvetica Neue"/>
                <a:sym typeface="Helvetica Neue"/>
              </a:rPr>
            </a:br>
            <a:r>
              <a:rPr lang="en-US" sz="2200">
                <a:latin typeface="Helvetica Neue"/>
                <a:ea typeface="Helvetica Neue"/>
                <a:cs typeface="Helvetica Neue"/>
                <a:sym typeface="Helvetica Neue"/>
              </a:rPr>
              <a:t>Pulse miscalibration → distorted multiplets, weak signals</a:t>
            </a:r>
            <a:br>
              <a:rPr lang="en-US" sz="2200">
                <a:latin typeface="Helvetica Neue"/>
                <a:ea typeface="Helvetica Neue"/>
                <a:cs typeface="Helvetica Neue"/>
                <a:sym typeface="Helvetica Neue"/>
              </a:rPr>
            </a:br>
            <a:r>
              <a:rPr lang="en-US" sz="2200">
                <a:latin typeface="Helvetica Neue"/>
                <a:ea typeface="Helvetica Neue"/>
                <a:cs typeface="Helvetica Neue"/>
                <a:sym typeface="Helvetica Neue"/>
              </a:rPr>
              <a:t>Receiver gain issues → saturation or low sensitivity</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Temperature instability → shifting chemical shifts, broadening</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Magnet drift → peak wandering, poor reproducibility</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Short relaxation delays → quantification errors</a:t>
            </a:r>
            <a:endParaRPr sz="2200">
              <a:latin typeface="Helvetica Neue"/>
              <a:ea typeface="Helvetica Neue"/>
              <a:cs typeface="Helvetica Neue"/>
              <a:sym typeface="Helvetica Neue"/>
            </a:endParaRPr>
          </a:p>
        </p:txBody>
      </p:sp>
      <p:sp>
        <p:nvSpPr>
          <p:cNvPr id="318" name="Google Shape;318;p29"/>
          <p:cNvSpPr txBox="1">
            <a:spLocks noGrp="1"/>
          </p:cNvSpPr>
          <p:nvPr>
            <p:ph type="title"/>
          </p:nvPr>
        </p:nvSpPr>
        <p:spPr>
          <a:xfrm>
            <a:off x="523075" y="794370"/>
            <a:ext cx="5894700" cy="1325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latin typeface="Helvetica Neue"/>
                <a:ea typeface="Helvetica Neue"/>
                <a:cs typeface="Helvetica Neue"/>
                <a:sym typeface="Helvetica Neue"/>
              </a:rPr>
              <a:t>Artifacts (instrumental/Processing)</a:t>
            </a:r>
            <a:endParaRPr>
              <a:latin typeface="Helvetica Neue"/>
              <a:ea typeface="Helvetica Neue"/>
              <a:cs typeface="Helvetica Neue"/>
              <a:sym typeface="Helvetica Neue"/>
            </a:endParaRPr>
          </a:p>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19" name="Google Shape;319;p29"/>
          <p:cNvSpPr txBox="1">
            <a:spLocks noGrp="1"/>
          </p:cNvSpPr>
          <p:nvPr>
            <p:ph type="body" idx="1"/>
          </p:nvPr>
        </p:nvSpPr>
        <p:spPr>
          <a:xfrm>
            <a:off x="523075" y="1940238"/>
            <a:ext cx="5589300" cy="4351200"/>
          </a:xfrm>
          <a:prstGeom prst="rect">
            <a:avLst/>
          </a:prstGeom>
        </p:spPr>
        <p:txBody>
          <a:bodyPr spcFirstLastPara="1" wrap="square" lIns="91425" tIns="45700" rIns="91425" bIns="45700" anchor="t" anchorCtr="0">
            <a:noAutofit/>
          </a:bodyPr>
          <a:lstStyle/>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Baseline distortions → curved/sloping baseliane</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Phase errors → dispersive peak shapes</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Water suppression artifacts → residual water &amp; sidebands</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Aliasing / Folding → signals fold back into spectrum</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Spinning sidebands → peaks symmetric around intense resonance</a:t>
            </a:r>
            <a:endParaRPr sz="2200">
              <a:latin typeface="Helvetica Neue"/>
              <a:ea typeface="Helvetica Neue"/>
              <a:cs typeface="Helvetica Neue"/>
              <a:sym typeface="Helvetica Neue"/>
            </a:endParaRPr>
          </a:p>
          <a:p>
            <a:pPr marL="457200" lvl="0" indent="-368300" algn="l" rtl="0">
              <a:lnSpc>
                <a:spcPct val="100000"/>
              </a:lnSpc>
              <a:spcBef>
                <a:spcPts val="0"/>
              </a:spcBef>
              <a:spcAft>
                <a:spcPts val="0"/>
              </a:spcAft>
              <a:buSzPts val="2200"/>
              <a:buFont typeface="Helvetica Neue"/>
              <a:buChar char="•"/>
            </a:pPr>
            <a:r>
              <a:rPr lang="en-US" sz="2200">
                <a:latin typeface="Helvetica Neue"/>
                <a:ea typeface="Helvetica Neue"/>
                <a:cs typeface="Helvetica Neue"/>
                <a:sym typeface="Helvetica Neue"/>
              </a:rPr>
              <a:t>Striping in 2D → noise from electronics/sample instability</a:t>
            </a:r>
            <a:endParaRPr sz="2200">
              <a:latin typeface="Helvetica Neue"/>
              <a:ea typeface="Helvetica Neue"/>
              <a:cs typeface="Helvetica Neue"/>
              <a:sym typeface="Helvetica Neue"/>
            </a:endParaRPr>
          </a:p>
        </p:txBody>
      </p:sp>
      <p:sp>
        <p:nvSpPr>
          <p:cNvPr id="320" name="Google Shape;320;p29"/>
          <p:cNvSpPr txBox="1"/>
          <p:nvPr/>
        </p:nvSpPr>
        <p:spPr>
          <a:xfrm>
            <a:off x="5269400" y="368100"/>
            <a:ext cx="22086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a:solidFill>
                  <a:schemeClr val="dk1"/>
                </a:solidFill>
              </a:rPr>
              <a:t>Summary</a:t>
            </a:r>
            <a:endParaRPr sz="3100" b="1">
              <a:solidFill>
                <a:schemeClr val="dk1"/>
              </a:solidFill>
            </a:endParaRPr>
          </a:p>
        </p:txBody>
      </p:sp>
      <p:pic>
        <p:nvPicPr>
          <p:cNvPr id="321" name="Google Shape;321;p29"/>
          <p:cNvPicPr preferRelativeResize="0"/>
          <p:nvPr/>
        </p:nvPicPr>
        <p:blipFill>
          <a:blip r:embed="rId3">
            <a:alphaModFix/>
          </a:blip>
          <a:stretch>
            <a:fillRect/>
          </a:stretch>
        </p:blipFill>
        <p:spPr>
          <a:xfrm>
            <a:off x="1" y="5657700"/>
            <a:ext cx="2275174" cy="12002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What is in your NMR Data folder?</a:t>
            </a:r>
            <a:endParaRPr/>
          </a:p>
        </p:txBody>
      </p:sp>
      <p:sp>
        <p:nvSpPr>
          <p:cNvPr id="328" name="Google Shape;328;p3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329" name="Google Shape;329;p30"/>
          <p:cNvPicPr preferRelativeResize="0"/>
          <p:nvPr/>
        </p:nvPicPr>
        <p:blipFill rotWithShape="1">
          <a:blip r:embed="rId3">
            <a:alphaModFix/>
          </a:blip>
          <a:srcRect t="18975"/>
          <a:stretch/>
        </p:blipFill>
        <p:spPr>
          <a:xfrm>
            <a:off x="0" y="1301525"/>
            <a:ext cx="12192000" cy="55564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What is in your NMR Data folder?</a:t>
            </a:r>
            <a:endParaRPr/>
          </a:p>
        </p:txBody>
      </p:sp>
      <p:sp>
        <p:nvSpPr>
          <p:cNvPr id="336" name="Google Shape;336;p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337" name="Google Shape;337;p31"/>
          <p:cNvPicPr preferRelativeResize="0"/>
          <p:nvPr/>
        </p:nvPicPr>
        <p:blipFill rotWithShape="1">
          <a:blip r:embed="rId3">
            <a:alphaModFix/>
          </a:blip>
          <a:srcRect t="18005"/>
          <a:stretch/>
        </p:blipFill>
        <p:spPr>
          <a:xfrm>
            <a:off x="0" y="1234775"/>
            <a:ext cx="12192000" cy="5623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2"/>
          <p:cNvSpPr txBox="1">
            <a:spLocks noGrp="1"/>
          </p:cNvSpPr>
          <p:nvPr>
            <p:ph type="title"/>
          </p:nvPr>
        </p:nvSpPr>
        <p:spPr>
          <a:xfrm>
            <a:off x="831850" y="1709738"/>
            <a:ext cx="10515600" cy="2852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latin typeface="Arial"/>
                <a:ea typeface="Arial"/>
                <a:cs typeface="Arial"/>
                <a:sym typeface="Arial"/>
              </a:rPr>
              <a:t>Overview of NMR Spectra pre-processing steps</a:t>
            </a:r>
            <a:endParaRPr>
              <a:latin typeface="Arial"/>
              <a:ea typeface="Arial"/>
              <a:cs typeface="Arial"/>
              <a:sym typeface="Arial"/>
            </a:endParaRPr>
          </a:p>
          <a:p>
            <a:pPr marL="0" lvl="0" indent="0" algn="l" rtl="0">
              <a:spcBef>
                <a:spcPts val="0"/>
              </a:spcBef>
              <a:spcAft>
                <a:spcPts val="0"/>
              </a:spcAft>
              <a:buNone/>
            </a:pPr>
            <a:r>
              <a:rPr lang="en-US">
                <a:latin typeface="Arial"/>
                <a:ea typeface="Arial"/>
                <a:cs typeface="Arial"/>
                <a:sym typeface="Arial"/>
              </a:rPr>
              <a:t>(1D and CPMG)</a:t>
            </a:r>
            <a:endParaRPr>
              <a:latin typeface="Arial"/>
              <a:ea typeface="Arial"/>
              <a:cs typeface="Arial"/>
              <a:sym typeface="Arial"/>
            </a:endParaRPr>
          </a:p>
        </p:txBody>
      </p:sp>
      <p:sp>
        <p:nvSpPr>
          <p:cNvPr id="344" name="Google Shape;344;p32"/>
          <p:cNvSpPr txBox="1">
            <a:spLocks noGrp="1"/>
          </p:cNvSpPr>
          <p:nvPr>
            <p:ph type="body" idx="1"/>
          </p:nvPr>
        </p:nvSpPr>
        <p:spPr>
          <a:xfrm>
            <a:off x="831850" y="4589463"/>
            <a:ext cx="10515600" cy="1500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latin typeface="Arial"/>
              <a:ea typeface="Arial"/>
              <a:cs typeface="Arial"/>
              <a:sym typeface="Arial"/>
            </a:endParaRPr>
          </a:p>
          <a:p>
            <a:pPr marL="0" lvl="0" indent="0" algn="l" rtl="0">
              <a:spcBef>
                <a:spcPts val="1000"/>
              </a:spcBef>
              <a:spcAft>
                <a:spcPts val="0"/>
              </a:spcAft>
              <a:buNone/>
            </a:pPr>
            <a:endParaRPr>
              <a:latin typeface="Arial"/>
              <a:ea typeface="Arial"/>
              <a:cs typeface="Arial"/>
              <a:sym typeface="Arial"/>
            </a:endParaRPr>
          </a:p>
        </p:txBody>
      </p:sp>
      <p:pic>
        <p:nvPicPr>
          <p:cNvPr id="345" name="Google Shape;345;p32"/>
          <p:cNvPicPr preferRelativeResize="0"/>
          <p:nvPr/>
        </p:nvPicPr>
        <p:blipFill>
          <a:blip r:embed="rId3">
            <a:alphaModFix/>
          </a:blip>
          <a:stretch>
            <a:fillRect/>
          </a:stretch>
        </p:blipFill>
        <p:spPr>
          <a:xfrm>
            <a:off x="1" y="5657700"/>
            <a:ext cx="2275174" cy="12002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Overview of NMR Spectra pre-processing steps</a:t>
            </a:r>
            <a:endParaRPr>
              <a:latin typeface="Arial"/>
              <a:ea typeface="Arial"/>
              <a:cs typeface="Arial"/>
              <a:sym typeface="Arial"/>
            </a:endParaRPr>
          </a:p>
        </p:txBody>
      </p:sp>
      <p:sp>
        <p:nvSpPr>
          <p:cNvPr id="352" name="Google Shape;352;p33"/>
          <p:cNvSpPr txBox="1">
            <a:spLocks noGrp="1"/>
          </p:cNvSpPr>
          <p:nvPr>
            <p:ph type="body" idx="1"/>
          </p:nvPr>
        </p:nvSpPr>
        <p:spPr>
          <a:xfrm>
            <a:off x="2186700" y="1825625"/>
            <a:ext cx="9167100" cy="4351200"/>
          </a:xfrm>
          <a:prstGeom prst="rect">
            <a:avLst/>
          </a:prstGeom>
        </p:spPr>
        <p:txBody>
          <a:bodyPr spcFirstLastPara="1" wrap="square" lIns="91425" tIns="45700" rIns="91425" bIns="45700" anchor="t" anchorCtr="0">
            <a:normAutofit/>
          </a:bodyPr>
          <a:lstStyle/>
          <a:p>
            <a:pPr marL="457200" lvl="0" indent="-381000" algn="l" rtl="0">
              <a:spcBef>
                <a:spcPts val="1000"/>
              </a:spcBef>
              <a:spcAft>
                <a:spcPts val="0"/>
              </a:spcAft>
              <a:buSzPts val="2400"/>
              <a:buFont typeface="Arial"/>
              <a:buAutoNum type="arabicPeriod"/>
            </a:pPr>
            <a:r>
              <a:rPr lang="en-US" sz="2400">
                <a:latin typeface="Arial"/>
                <a:ea typeface="Arial"/>
                <a:cs typeface="Arial"/>
                <a:sym typeface="Arial"/>
              </a:rPr>
              <a:t>Apply ERETIC factor correction</a:t>
            </a:r>
            <a:endParaRPr sz="2400">
              <a:latin typeface="Arial"/>
              <a:ea typeface="Arial"/>
              <a:cs typeface="Arial"/>
              <a:sym typeface="Arial"/>
            </a:endParaRPr>
          </a:p>
          <a:p>
            <a:pPr marL="457200" lvl="0" indent="-381000" algn="l" rtl="0">
              <a:spcBef>
                <a:spcPts val="1000"/>
              </a:spcBef>
              <a:spcAft>
                <a:spcPts val="0"/>
              </a:spcAft>
              <a:buSzPts val="2400"/>
              <a:buFont typeface="Arial"/>
              <a:buAutoNum type="arabicPeriod"/>
            </a:pPr>
            <a:r>
              <a:rPr lang="en-US" sz="2400">
                <a:latin typeface="Arial"/>
                <a:ea typeface="Arial"/>
                <a:cs typeface="Arial"/>
                <a:sym typeface="Arial"/>
              </a:rPr>
              <a:t>Spectra Alignment/Calibration</a:t>
            </a:r>
            <a:endParaRPr sz="2400">
              <a:latin typeface="Arial"/>
              <a:ea typeface="Arial"/>
              <a:cs typeface="Arial"/>
              <a:sym typeface="Arial"/>
            </a:endParaRPr>
          </a:p>
          <a:p>
            <a:pPr marL="457200" lvl="0" indent="-381000" algn="l" rtl="0">
              <a:spcBef>
                <a:spcPts val="1000"/>
              </a:spcBef>
              <a:spcAft>
                <a:spcPts val="0"/>
              </a:spcAft>
              <a:buSzPts val="2400"/>
              <a:buFont typeface="Arial"/>
              <a:buAutoNum type="arabicPeriod"/>
            </a:pPr>
            <a:r>
              <a:rPr lang="en-US" sz="2400">
                <a:latin typeface="Arial"/>
                <a:ea typeface="Arial"/>
                <a:cs typeface="Arial"/>
                <a:sym typeface="Arial"/>
              </a:rPr>
              <a:t>Remove following ppm range</a:t>
            </a:r>
            <a:endParaRPr sz="2400">
              <a:latin typeface="Arial"/>
              <a:ea typeface="Arial"/>
              <a:cs typeface="Arial"/>
              <a:sym typeface="Arial"/>
            </a:endParaRPr>
          </a:p>
          <a:p>
            <a:pPr marL="914400" lvl="1" indent="-381000" algn="l" rtl="0">
              <a:spcBef>
                <a:spcPts val="1000"/>
              </a:spcBef>
              <a:spcAft>
                <a:spcPts val="0"/>
              </a:spcAft>
              <a:buSzPts val="2400"/>
              <a:buFont typeface="Arial"/>
              <a:buAutoNum type="alphaLcPeriod"/>
            </a:pPr>
            <a:r>
              <a:rPr lang="en-US">
                <a:latin typeface="Arial"/>
                <a:ea typeface="Arial"/>
                <a:cs typeface="Arial"/>
                <a:sym typeface="Arial"/>
              </a:rPr>
              <a:t>0.5 and higher field (TSP)</a:t>
            </a:r>
            <a:endParaRPr>
              <a:latin typeface="Arial"/>
              <a:ea typeface="Arial"/>
              <a:cs typeface="Arial"/>
              <a:sym typeface="Arial"/>
            </a:endParaRPr>
          </a:p>
          <a:p>
            <a:pPr marL="914400" lvl="1" indent="-381000" algn="l" rtl="0">
              <a:spcBef>
                <a:spcPts val="1000"/>
              </a:spcBef>
              <a:spcAft>
                <a:spcPts val="0"/>
              </a:spcAft>
              <a:buSzPts val="2400"/>
              <a:buFont typeface="Arial"/>
              <a:buAutoNum type="alphaLcPeriod"/>
            </a:pPr>
            <a:r>
              <a:rPr lang="en-US">
                <a:latin typeface="Arial"/>
                <a:ea typeface="Arial"/>
                <a:cs typeface="Arial"/>
                <a:sym typeface="Arial"/>
              </a:rPr>
              <a:t>4.6 ~ 5.0 residual water signals</a:t>
            </a:r>
            <a:endParaRPr>
              <a:latin typeface="Arial"/>
              <a:ea typeface="Arial"/>
              <a:cs typeface="Arial"/>
              <a:sym typeface="Arial"/>
            </a:endParaRPr>
          </a:p>
          <a:p>
            <a:pPr marL="914400" lvl="1" indent="-381000" algn="l" rtl="0">
              <a:spcBef>
                <a:spcPts val="1000"/>
              </a:spcBef>
              <a:spcAft>
                <a:spcPts val="0"/>
              </a:spcAft>
              <a:buSzPts val="2400"/>
              <a:buFont typeface="Arial"/>
              <a:buAutoNum type="alphaLcPeriod"/>
            </a:pPr>
            <a:r>
              <a:rPr lang="en-US">
                <a:latin typeface="Arial"/>
                <a:ea typeface="Arial"/>
                <a:cs typeface="Arial"/>
                <a:sym typeface="Arial"/>
              </a:rPr>
              <a:t>9.5 and lower field</a:t>
            </a:r>
            <a:endParaRPr>
              <a:latin typeface="Arial"/>
              <a:ea typeface="Arial"/>
              <a:cs typeface="Arial"/>
              <a:sym typeface="Arial"/>
            </a:endParaRPr>
          </a:p>
          <a:p>
            <a:pPr marL="457200" lvl="0" indent="-381000" algn="l" rtl="0">
              <a:spcBef>
                <a:spcPts val="1000"/>
              </a:spcBef>
              <a:spcAft>
                <a:spcPts val="0"/>
              </a:spcAft>
              <a:buSzPts val="2400"/>
              <a:buFont typeface="Arial"/>
              <a:buAutoNum type="arabicPeriod"/>
            </a:pPr>
            <a:r>
              <a:rPr lang="en-US" sz="2400">
                <a:latin typeface="Arial"/>
                <a:ea typeface="Arial"/>
                <a:cs typeface="Arial"/>
                <a:sym typeface="Arial"/>
              </a:rPr>
              <a:t>Baseline correction</a:t>
            </a:r>
            <a:endParaRPr sz="2400">
              <a:latin typeface="Arial"/>
              <a:ea typeface="Arial"/>
              <a:cs typeface="Arial"/>
              <a:sym typeface="Arial"/>
            </a:endParaRPr>
          </a:p>
          <a:p>
            <a:pPr marL="457200" lvl="0" indent="-381000" algn="l" rtl="0">
              <a:spcBef>
                <a:spcPts val="1000"/>
              </a:spcBef>
              <a:spcAft>
                <a:spcPts val="0"/>
              </a:spcAft>
              <a:buSzPts val="2400"/>
              <a:buFont typeface="Arial"/>
              <a:buAutoNum type="arabicPeriod"/>
            </a:pPr>
            <a:r>
              <a:rPr lang="en-US" sz="2400">
                <a:latin typeface="Arial"/>
                <a:ea typeface="Arial"/>
                <a:cs typeface="Arial"/>
                <a:sym typeface="Arial"/>
              </a:rPr>
              <a:t>Normalization</a:t>
            </a:r>
            <a:endParaRPr sz="2400">
              <a:latin typeface="Arial"/>
              <a:ea typeface="Arial"/>
              <a:cs typeface="Arial"/>
              <a:sym typeface="Arial"/>
            </a:endParaRPr>
          </a:p>
        </p:txBody>
      </p:sp>
      <p:pic>
        <p:nvPicPr>
          <p:cNvPr id="353" name="Google Shape;353;p33"/>
          <p:cNvPicPr preferRelativeResize="0"/>
          <p:nvPr/>
        </p:nvPicPr>
        <p:blipFill>
          <a:blip r:embed="rId3">
            <a:alphaModFix/>
          </a:blip>
          <a:stretch>
            <a:fillRect/>
          </a:stretch>
        </p:blipFill>
        <p:spPr>
          <a:xfrm>
            <a:off x="1" y="5657700"/>
            <a:ext cx="2275174" cy="120028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ERETIC factor correction</a:t>
            </a:r>
            <a:endParaRPr/>
          </a:p>
        </p:txBody>
      </p:sp>
      <p:pic>
        <p:nvPicPr>
          <p:cNvPr id="360" name="Google Shape;360;p34"/>
          <p:cNvPicPr preferRelativeResize="0"/>
          <p:nvPr/>
        </p:nvPicPr>
        <p:blipFill>
          <a:blip r:embed="rId3">
            <a:alphaModFix/>
          </a:blip>
          <a:stretch>
            <a:fillRect/>
          </a:stretch>
        </p:blipFill>
        <p:spPr>
          <a:xfrm>
            <a:off x="1888957" y="1611986"/>
            <a:ext cx="7502826" cy="4883699"/>
          </a:xfrm>
          <a:prstGeom prst="rect">
            <a:avLst/>
          </a:prstGeom>
          <a:noFill/>
          <a:ln>
            <a:noFill/>
          </a:ln>
        </p:spPr>
      </p:pic>
      <p:pic>
        <p:nvPicPr>
          <p:cNvPr id="361" name="Google Shape;361;p34"/>
          <p:cNvPicPr preferRelativeResize="0"/>
          <p:nvPr/>
        </p:nvPicPr>
        <p:blipFill>
          <a:blip r:embed="rId4">
            <a:alphaModFix/>
          </a:blip>
          <a:stretch>
            <a:fillRect/>
          </a:stretch>
        </p:blipFill>
        <p:spPr>
          <a:xfrm>
            <a:off x="1" y="5657700"/>
            <a:ext cx="2275174" cy="1200289"/>
          </a:xfrm>
          <a:prstGeom prst="rect">
            <a:avLst/>
          </a:prstGeom>
          <a:noFill/>
          <a:ln>
            <a:noFill/>
          </a:ln>
        </p:spPr>
      </p:pic>
      <p:pic>
        <p:nvPicPr>
          <p:cNvPr id="362" name="Google Shape;362;p34"/>
          <p:cNvPicPr preferRelativeResize="0"/>
          <p:nvPr/>
        </p:nvPicPr>
        <p:blipFill>
          <a:blip r:embed="rId5">
            <a:alphaModFix/>
          </a:blip>
          <a:stretch>
            <a:fillRect/>
          </a:stretch>
        </p:blipFill>
        <p:spPr>
          <a:xfrm>
            <a:off x="4599037" y="6144649"/>
            <a:ext cx="8942624" cy="541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Spectra calibration/Alignment</a:t>
            </a:r>
            <a:endParaRPr>
              <a:latin typeface="Arial"/>
              <a:ea typeface="Arial"/>
              <a:cs typeface="Arial"/>
              <a:sym typeface="Arial"/>
            </a:endParaRPr>
          </a:p>
        </p:txBody>
      </p:sp>
      <p:pic>
        <p:nvPicPr>
          <p:cNvPr id="369" name="Google Shape;369;p35"/>
          <p:cNvPicPr preferRelativeResize="0"/>
          <p:nvPr/>
        </p:nvPicPr>
        <p:blipFill>
          <a:blip r:embed="rId3">
            <a:alphaModFix/>
          </a:blip>
          <a:stretch>
            <a:fillRect/>
          </a:stretch>
        </p:blipFill>
        <p:spPr>
          <a:xfrm>
            <a:off x="1" y="5657700"/>
            <a:ext cx="2275174" cy="1200289"/>
          </a:xfrm>
          <a:prstGeom prst="rect">
            <a:avLst/>
          </a:prstGeom>
          <a:noFill/>
          <a:ln>
            <a:noFill/>
          </a:ln>
        </p:spPr>
      </p:pic>
      <p:pic>
        <p:nvPicPr>
          <p:cNvPr id="370" name="Google Shape;370;p35"/>
          <p:cNvPicPr preferRelativeResize="0"/>
          <p:nvPr/>
        </p:nvPicPr>
        <p:blipFill>
          <a:blip r:embed="rId4">
            <a:alphaModFix/>
          </a:blip>
          <a:stretch>
            <a:fillRect/>
          </a:stretch>
        </p:blipFill>
        <p:spPr>
          <a:xfrm>
            <a:off x="152400" y="1494802"/>
            <a:ext cx="12191999" cy="4173196"/>
          </a:xfrm>
          <a:prstGeom prst="rect">
            <a:avLst/>
          </a:prstGeom>
          <a:noFill/>
          <a:ln>
            <a:noFill/>
          </a:ln>
        </p:spPr>
      </p:pic>
      <p:pic>
        <p:nvPicPr>
          <p:cNvPr id="371" name="Google Shape;371;p35"/>
          <p:cNvPicPr preferRelativeResize="0"/>
          <p:nvPr/>
        </p:nvPicPr>
        <p:blipFill>
          <a:blip r:embed="rId5">
            <a:alphaModFix/>
          </a:blip>
          <a:stretch>
            <a:fillRect/>
          </a:stretch>
        </p:blipFill>
        <p:spPr>
          <a:xfrm>
            <a:off x="1425550" y="1828750"/>
            <a:ext cx="9691901" cy="47228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Spectra calibration/Alignment</a:t>
            </a:r>
            <a:endParaRPr>
              <a:latin typeface="Arial"/>
              <a:ea typeface="Arial"/>
              <a:cs typeface="Arial"/>
              <a:sym typeface="Arial"/>
            </a:endParaRPr>
          </a:p>
        </p:txBody>
      </p:sp>
      <p:pic>
        <p:nvPicPr>
          <p:cNvPr id="378" name="Google Shape;378;p36"/>
          <p:cNvPicPr preferRelativeResize="0"/>
          <p:nvPr/>
        </p:nvPicPr>
        <p:blipFill>
          <a:blip r:embed="rId3">
            <a:alphaModFix/>
          </a:blip>
          <a:stretch>
            <a:fillRect/>
          </a:stretch>
        </p:blipFill>
        <p:spPr>
          <a:xfrm>
            <a:off x="1" y="5657700"/>
            <a:ext cx="2275174" cy="1200289"/>
          </a:xfrm>
          <a:prstGeom prst="rect">
            <a:avLst/>
          </a:prstGeom>
          <a:noFill/>
          <a:ln>
            <a:noFill/>
          </a:ln>
        </p:spPr>
      </p:pic>
      <p:pic>
        <p:nvPicPr>
          <p:cNvPr id="379" name="Google Shape;379;p36"/>
          <p:cNvPicPr preferRelativeResize="0"/>
          <p:nvPr/>
        </p:nvPicPr>
        <p:blipFill rotWithShape="1">
          <a:blip r:embed="rId4">
            <a:alphaModFix/>
          </a:blip>
          <a:srcRect r="1690"/>
          <a:stretch/>
        </p:blipFill>
        <p:spPr>
          <a:xfrm>
            <a:off x="123986" y="1636483"/>
            <a:ext cx="11985350" cy="40421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Helvetica Neue"/>
              <a:buNone/>
            </a:pPr>
            <a:r>
              <a:rPr lang="en-US" sz="2400">
                <a:latin typeface="Helvetica Neue"/>
                <a:ea typeface="Helvetica Neue"/>
                <a:cs typeface="Helvetica Neue"/>
                <a:sym typeface="Helvetica Neue"/>
              </a:rPr>
              <a:t>Alignment, or not?</a:t>
            </a:r>
            <a:endParaRPr/>
          </a:p>
        </p:txBody>
      </p:sp>
      <p:pic>
        <p:nvPicPr>
          <p:cNvPr id="385" name="Google Shape;385;p37"/>
          <p:cNvPicPr preferRelativeResize="0"/>
          <p:nvPr/>
        </p:nvPicPr>
        <p:blipFill rotWithShape="1">
          <a:blip r:embed="rId3">
            <a:alphaModFix/>
          </a:blip>
          <a:srcRect/>
          <a:stretch/>
        </p:blipFill>
        <p:spPr>
          <a:xfrm>
            <a:off x="723675" y="1414181"/>
            <a:ext cx="3073400" cy="4000501"/>
          </a:xfrm>
          <a:prstGeom prst="rect">
            <a:avLst/>
          </a:prstGeom>
          <a:noFill/>
          <a:ln>
            <a:noFill/>
          </a:ln>
        </p:spPr>
      </p:pic>
      <p:pic>
        <p:nvPicPr>
          <p:cNvPr id="386" name="Google Shape;386;p37"/>
          <p:cNvPicPr preferRelativeResize="0"/>
          <p:nvPr/>
        </p:nvPicPr>
        <p:blipFill rotWithShape="1">
          <a:blip r:embed="rId4">
            <a:alphaModFix/>
          </a:blip>
          <a:srcRect l="67315"/>
          <a:stretch/>
        </p:blipFill>
        <p:spPr>
          <a:xfrm>
            <a:off x="3996259" y="1579562"/>
            <a:ext cx="1599240" cy="3669739"/>
          </a:xfrm>
          <a:prstGeom prst="rect">
            <a:avLst/>
          </a:prstGeom>
          <a:noFill/>
          <a:ln>
            <a:noFill/>
          </a:ln>
        </p:spPr>
      </p:pic>
      <p:pic>
        <p:nvPicPr>
          <p:cNvPr id="387" name="Google Shape;387;p37"/>
          <p:cNvPicPr preferRelativeResize="0"/>
          <p:nvPr/>
        </p:nvPicPr>
        <p:blipFill rotWithShape="1">
          <a:blip r:embed="rId5">
            <a:alphaModFix/>
          </a:blip>
          <a:srcRect/>
          <a:stretch/>
        </p:blipFill>
        <p:spPr>
          <a:xfrm>
            <a:off x="5956300" y="1414181"/>
            <a:ext cx="5397499" cy="1778000"/>
          </a:xfrm>
          <a:prstGeom prst="rect">
            <a:avLst/>
          </a:prstGeom>
          <a:noFill/>
          <a:ln>
            <a:noFill/>
          </a:ln>
        </p:spPr>
      </p:pic>
      <p:sp>
        <p:nvSpPr>
          <p:cNvPr id="388" name="Google Shape;388;p37"/>
          <p:cNvSpPr txBox="1"/>
          <p:nvPr/>
        </p:nvSpPr>
        <p:spPr>
          <a:xfrm>
            <a:off x="5956300" y="3563356"/>
            <a:ext cx="5397600" cy="14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If you are certain about what you are aligning, then you may as well quantify it…</a:t>
            </a:r>
            <a:endParaRPr/>
          </a:p>
          <a:p>
            <a:pPr marL="0" marR="0" lvl="0" indent="0" algn="l" rtl="0">
              <a:spcBef>
                <a:spcPts val="0"/>
              </a:spcBef>
              <a:spcAft>
                <a:spcPts val="0"/>
              </a:spcAft>
              <a:buNone/>
            </a:pPr>
            <a:endParaRPr sz="18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But if you were to align this is the moment, before normalization</a:t>
            </a:r>
            <a:endParaRPr/>
          </a:p>
        </p:txBody>
      </p:sp>
      <p:sp>
        <p:nvSpPr>
          <p:cNvPr id="389" name="Google Shape;389;p37"/>
          <p:cNvSpPr txBox="1"/>
          <p:nvPr/>
        </p:nvSpPr>
        <p:spPr>
          <a:xfrm>
            <a:off x="3996250" y="398375"/>
            <a:ext cx="6158100" cy="1015800"/>
          </a:xfrm>
          <a:prstGeom prst="rect">
            <a:avLst/>
          </a:prstGeom>
          <a:noFill/>
          <a:ln>
            <a:noFill/>
          </a:ln>
        </p:spPr>
        <p:txBody>
          <a:bodyPr spcFirstLastPara="1" wrap="square" lIns="91425" tIns="91425" rIns="91425" bIns="91425" anchor="t" anchorCtr="0">
            <a:spAutoFit/>
          </a:bodyPr>
          <a:lstStyle/>
          <a:p>
            <a:pPr marL="285750" lvl="0" indent="-285750" algn="l" rtl="0">
              <a:spcBef>
                <a:spcPts val="0"/>
              </a:spcBef>
              <a:spcAft>
                <a:spcPts val="0"/>
              </a:spcAft>
              <a:buClr>
                <a:schemeClr val="dk1"/>
              </a:buClr>
              <a:buSzPts val="1800"/>
              <a:buChar char="•"/>
            </a:pPr>
            <a:r>
              <a:rPr lang="en-US" sz="1800">
                <a:solidFill>
                  <a:schemeClr val="dk1"/>
                </a:solidFill>
                <a:latin typeface="Helvetica Neue"/>
                <a:ea typeface="Helvetica Neue"/>
                <a:cs typeface="Helvetica Neue"/>
                <a:sym typeface="Helvetica Neue"/>
              </a:rPr>
              <a:t>Calibration is relative to the type of matrix to study and will impact the whole analysis</a:t>
            </a:r>
            <a:endParaRPr>
              <a:solidFill>
                <a:schemeClr val="dk1"/>
              </a:solidFill>
            </a:endParaRPr>
          </a:p>
          <a:p>
            <a:pPr marL="285750" lvl="0" indent="-285750" algn="l" rtl="0">
              <a:spcBef>
                <a:spcPts val="0"/>
              </a:spcBef>
              <a:spcAft>
                <a:spcPts val="0"/>
              </a:spcAft>
              <a:buClr>
                <a:schemeClr val="dk1"/>
              </a:buClr>
              <a:buSzPts val="1800"/>
              <a:buChar char="•"/>
            </a:pPr>
            <a:r>
              <a:rPr lang="en-US" sz="1800">
                <a:solidFill>
                  <a:schemeClr val="dk1"/>
                </a:solidFill>
                <a:latin typeface="Helvetica Neue"/>
                <a:ea typeface="Helvetica Neue"/>
                <a:cs typeface="Helvetica Neue"/>
                <a:sym typeface="Helvetica Neue"/>
              </a:rPr>
              <a:t>There is no “universal” calibration that fits all problems </a:t>
            </a:r>
            <a:endParaRPr>
              <a:solidFill>
                <a:schemeClr val="dk1"/>
              </a:solidFill>
            </a:endParaRPr>
          </a:p>
        </p:txBody>
      </p:sp>
      <p:pic>
        <p:nvPicPr>
          <p:cNvPr id="390" name="Google Shape;390;p37"/>
          <p:cNvPicPr preferRelativeResize="0"/>
          <p:nvPr/>
        </p:nvPicPr>
        <p:blipFill>
          <a:blip r:embed="rId6">
            <a:alphaModFix/>
          </a:blip>
          <a:stretch>
            <a:fillRect/>
          </a:stretch>
        </p:blipFill>
        <p:spPr>
          <a:xfrm>
            <a:off x="1" y="5657700"/>
            <a:ext cx="2275174" cy="120028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Remove water residuals and other regions with no signals</a:t>
            </a:r>
            <a:endParaRPr>
              <a:latin typeface="Arial"/>
              <a:ea typeface="Arial"/>
              <a:cs typeface="Arial"/>
              <a:sym typeface="Arial"/>
            </a:endParaRPr>
          </a:p>
        </p:txBody>
      </p:sp>
      <p:sp>
        <p:nvSpPr>
          <p:cNvPr id="397" name="Google Shape;397;p38"/>
          <p:cNvSpPr txBox="1">
            <a:spLocks noGrp="1"/>
          </p:cNvSpPr>
          <p:nvPr>
            <p:ph type="body" idx="1"/>
          </p:nvPr>
        </p:nvSpPr>
        <p:spPr>
          <a:xfrm>
            <a:off x="8431075" y="1825625"/>
            <a:ext cx="2922600" cy="4351200"/>
          </a:xfrm>
          <a:prstGeom prst="rect">
            <a:avLst/>
          </a:prstGeom>
        </p:spPr>
        <p:txBody>
          <a:bodyPr spcFirstLastPara="1" wrap="square" lIns="91425" tIns="45700" rIns="91425" bIns="45700" anchor="t" anchorCtr="0">
            <a:normAutofit/>
          </a:bodyPr>
          <a:lstStyle/>
          <a:p>
            <a:pPr marL="457200" lvl="0" indent="-304800" algn="l" rtl="0">
              <a:spcBef>
                <a:spcPts val="1000"/>
              </a:spcBef>
              <a:spcAft>
                <a:spcPts val="0"/>
              </a:spcAft>
              <a:buClr>
                <a:srgbClr val="0000FF"/>
              </a:buClr>
              <a:buSzPts val="1200"/>
              <a:buFont typeface="Arial"/>
              <a:buAutoNum type="arabicPeriod"/>
            </a:pPr>
            <a:r>
              <a:rPr lang="en-US" sz="2200">
                <a:solidFill>
                  <a:srgbClr val="0000FF"/>
                </a:solidFill>
                <a:latin typeface="Arial"/>
                <a:ea typeface="Arial"/>
                <a:cs typeface="Arial"/>
                <a:sym typeface="Arial"/>
              </a:rPr>
              <a:t>0.5 and higher field (TSP)</a:t>
            </a:r>
            <a:endParaRPr sz="2200">
              <a:solidFill>
                <a:srgbClr val="0000FF"/>
              </a:solidFill>
              <a:latin typeface="Arial"/>
              <a:ea typeface="Arial"/>
              <a:cs typeface="Arial"/>
              <a:sym typeface="Arial"/>
            </a:endParaRPr>
          </a:p>
          <a:p>
            <a:pPr marL="457200" lvl="0" indent="-304800" algn="l" rtl="0">
              <a:spcBef>
                <a:spcPts val="0"/>
              </a:spcBef>
              <a:spcAft>
                <a:spcPts val="0"/>
              </a:spcAft>
              <a:buClr>
                <a:srgbClr val="C00000"/>
              </a:buClr>
              <a:buSzPts val="1200"/>
              <a:buFont typeface="Arial"/>
              <a:buAutoNum type="arabicPeriod"/>
            </a:pPr>
            <a:r>
              <a:rPr lang="en-US" sz="2200">
                <a:solidFill>
                  <a:srgbClr val="C00000"/>
                </a:solidFill>
                <a:latin typeface="Arial"/>
                <a:ea typeface="Arial"/>
                <a:cs typeface="Arial"/>
                <a:sym typeface="Arial"/>
              </a:rPr>
              <a:t>4.6 ~ 5.0 residual water signals</a:t>
            </a:r>
            <a:endParaRPr sz="2200">
              <a:solidFill>
                <a:srgbClr val="C00000"/>
              </a:solidFill>
              <a:latin typeface="Arial"/>
              <a:ea typeface="Arial"/>
              <a:cs typeface="Arial"/>
              <a:sym typeface="Arial"/>
            </a:endParaRPr>
          </a:p>
          <a:p>
            <a:pPr marL="457200" lvl="0" indent="-304800" algn="l" rtl="0">
              <a:spcBef>
                <a:spcPts val="0"/>
              </a:spcBef>
              <a:spcAft>
                <a:spcPts val="0"/>
              </a:spcAft>
              <a:buClr>
                <a:srgbClr val="6AA84F"/>
              </a:buClr>
              <a:buSzPts val="1200"/>
              <a:buFont typeface="Arial"/>
              <a:buAutoNum type="arabicPeriod"/>
            </a:pPr>
            <a:r>
              <a:rPr lang="en-US" sz="2200">
                <a:solidFill>
                  <a:srgbClr val="6AA84F"/>
                </a:solidFill>
                <a:latin typeface="Arial"/>
                <a:ea typeface="Arial"/>
                <a:cs typeface="Arial"/>
                <a:sym typeface="Arial"/>
              </a:rPr>
              <a:t>9.5 and lower field</a:t>
            </a:r>
            <a:endParaRPr sz="2200">
              <a:solidFill>
                <a:srgbClr val="6AA84F"/>
              </a:solidFill>
              <a:latin typeface="Arial"/>
              <a:ea typeface="Arial"/>
              <a:cs typeface="Arial"/>
              <a:sym typeface="Arial"/>
            </a:endParaRPr>
          </a:p>
          <a:p>
            <a:pPr marL="0" lvl="0" indent="0" algn="l" rtl="0">
              <a:spcBef>
                <a:spcPts val="1000"/>
              </a:spcBef>
              <a:spcAft>
                <a:spcPts val="0"/>
              </a:spcAft>
              <a:buNone/>
            </a:pPr>
            <a:endParaRPr sz="2200">
              <a:latin typeface="Arial"/>
              <a:ea typeface="Arial"/>
              <a:cs typeface="Arial"/>
              <a:sym typeface="Arial"/>
            </a:endParaRPr>
          </a:p>
          <a:p>
            <a:pPr marL="0" lvl="0" indent="0" algn="l" rtl="0">
              <a:spcBef>
                <a:spcPts val="1000"/>
              </a:spcBef>
              <a:spcAft>
                <a:spcPts val="0"/>
              </a:spcAft>
              <a:buNone/>
            </a:pPr>
            <a:r>
              <a:rPr lang="en-US" sz="2200">
                <a:latin typeface="Arial"/>
                <a:ea typeface="Arial"/>
                <a:cs typeface="Arial"/>
                <a:sym typeface="Arial"/>
              </a:rPr>
              <a:t>Note: urea region (5.5 ~ 6.1 ppm) is often recommended to be removed as part of the pre-processing.</a:t>
            </a:r>
            <a:endParaRPr sz="2200">
              <a:latin typeface="Arial"/>
              <a:ea typeface="Arial"/>
              <a:cs typeface="Arial"/>
              <a:sym typeface="Arial"/>
            </a:endParaRPr>
          </a:p>
        </p:txBody>
      </p:sp>
      <p:pic>
        <p:nvPicPr>
          <p:cNvPr id="398" name="Google Shape;398;p38"/>
          <p:cNvPicPr preferRelativeResize="0"/>
          <p:nvPr/>
        </p:nvPicPr>
        <p:blipFill>
          <a:blip r:embed="rId3">
            <a:alphaModFix/>
          </a:blip>
          <a:stretch>
            <a:fillRect/>
          </a:stretch>
        </p:blipFill>
        <p:spPr>
          <a:xfrm>
            <a:off x="1" y="5657700"/>
            <a:ext cx="2275174" cy="1200289"/>
          </a:xfrm>
          <a:prstGeom prst="rect">
            <a:avLst/>
          </a:prstGeom>
          <a:noFill/>
          <a:ln>
            <a:noFill/>
          </a:ln>
        </p:spPr>
      </p:pic>
      <p:pic>
        <p:nvPicPr>
          <p:cNvPr id="399" name="Google Shape;399;p38"/>
          <p:cNvPicPr preferRelativeResize="0"/>
          <p:nvPr/>
        </p:nvPicPr>
        <p:blipFill>
          <a:blip r:embed="rId4">
            <a:alphaModFix/>
          </a:blip>
          <a:stretch>
            <a:fillRect/>
          </a:stretch>
        </p:blipFill>
        <p:spPr>
          <a:xfrm>
            <a:off x="538125" y="1843225"/>
            <a:ext cx="7361392" cy="3662075"/>
          </a:xfrm>
          <a:prstGeom prst="rect">
            <a:avLst/>
          </a:prstGeom>
          <a:noFill/>
          <a:ln>
            <a:noFill/>
          </a:ln>
        </p:spPr>
      </p:pic>
      <p:sp>
        <p:nvSpPr>
          <p:cNvPr id="400" name="Google Shape;400;p38"/>
          <p:cNvSpPr/>
          <p:nvPr/>
        </p:nvSpPr>
        <p:spPr>
          <a:xfrm>
            <a:off x="5868700" y="1956225"/>
            <a:ext cx="1804800" cy="2727600"/>
          </a:xfrm>
          <a:prstGeom prst="rect">
            <a:avLst/>
          </a:prstGeom>
          <a:noFill/>
          <a:ln w="19050" cap="flat" cmpd="sng">
            <a:solidFill>
              <a:srgbClr val="0000FF"/>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1" name="Google Shape;401;p38"/>
          <p:cNvSpPr/>
          <p:nvPr/>
        </p:nvSpPr>
        <p:spPr>
          <a:xfrm>
            <a:off x="4230200" y="1956225"/>
            <a:ext cx="247200" cy="27276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2" name="Google Shape;402;p38"/>
          <p:cNvSpPr/>
          <p:nvPr/>
        </p:nvSpPr>
        <p:spPr>
          <a:xfrm>
            <a:off x="1336300" y="1956225"/>
            <a:ext cx="1640400" cy="2727600"/>
          </a:xfrm>
          <a:prstGeom prst="rect">
            <a:avLst/>
          </a:prstGeom>
          <a:noFill/>
          <a:ln w="19050" cap="flat" cmpd="sng">
            <a:solidFill>
              <a:srgbClr val="6AA84F"/>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Baseline correction</a:t>
            </a:r>
            <a:endParaRPr>
              <a:latin typeface="Arial"/>
              <a:ea typeface="Arial"/>
              <a:cs typeface="Arial"/>
              <a:sym typeface="Arial"/>
            </a:endParaRPr>
          </a:p>
        </p:txBody>
      </p:sp>
      <p:pic>
        <p:nvPicPr>
          <p:cNvPr id="409" name="Google Shape;409;p39"/>
          <p:cNvPicPr preferRelativeResize="0"/>
          <p:nvPr/>
        </p:nvPicPr>
        <p:blipFill>
          <a:blip r:embed="rId3">
            <a:alphaModFix/>
          </a:blip>
          <a:stretch>
            <a:fillRect/>
          </a:stretch>
        </p:blipFill>
        <p:spPr>
          <a:xfrm>
            <a:off x="1" y="5657700"/>
            <a:ext cx="2275174" cy="1200289"/>
          </a:xfrm>
          <a:prstGeom prst="rect">
            <a:avLst/>
          </a:prstGeom>
          <a:noFill/>
          <a:ln>
            <a:noFill/>
          </a:ln>
        </p:spPr>
      </p:pic>
      <p:pic>
        <p:nvPicPr>
          <p:cNvPr id="410" name="Google Shape;410;p39"/>
          <p:cNvPicPr preferRelativeResize="0"/>
          <p:nvPr/>
        </p:nvPicPr>
        <p:blipFill>
          <a:blip r:embed="rId4">
            <a:alphaModFix/>
          </a:blip>
          <a:stretch>
            <a:fillRect/>
          </a:stretch>
        </p:blipFill>
        <p:spPr>
          <a:xfrm>
            <a:off x="923000" y="1690825"/>
            <a:ext cx="11007250" cy="4158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0"/>
          <p:cNvSpPr txBox="1"/>
          <p:nvPr/>
        </p:nvSpPr>
        <p:spPr>
          <a:xfrm>
            <a:off x="97762" y="6390706"/>
            <a:ext cx="60960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u="sng">
                <a:solidFill>
                  <a:schemeClr val="dk1"/>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https://doi.org/10.3109/00365513.2014.1003593</a:t>
            </a: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DOI:</a:t>
            </a:r>
            <a:r>
              <a:rPr lang="en-US" sz="1100" u="sng">
                <a:solidFill>
                  <a:schemeClr val="dk1"/>
                </a:solidFill>
                <a:latin typeface="Helvetica Neue"/>
                <a:ea typeface="Helvetica Neue"/>
                <a:cs typeface="Helvetica Neue"/>
                <a:sym typeface="Helvetica Neue"/>
                <a:hlinkClick r:id="rId4">
                  <a:extLst>
                    <a:ext uri="{A12FA001-AC4F-418D-AE19-62706E023703}">
                      <ahyp:hlinkClr xmlns:ahyp="http://schemas.microsoft.com/office/drawing/2018/hyperlinkcolor" val="tx"/>
                    </a:ext>
                  </a:extLst>
                </a:hlinkClick>
              </a:rPr>
              <a:t>10.1186/1471-2105-9-324</a:t>
            </a:r>
            <a:endParaRPr sz="1100">
              <a:solidFill>
                <a:schemeClr val="dk1"/>
              </a:solidFill>
              <a:latin typeface="Helvetica Neue"/>
              <a:ea typeface="Helvetica Neue"/>
              <a:cs typeface="Helvetica Neue"/>
              <a:sym typeface="Helvetica Neue"/>
            </a:endParaRPr>
          </a:p>
        </p:txBody>
      </p:sp>
      <p:sp>
        <p:nvSpPr>
          <p:cNvPr id="416" name="Google Shape;416;p40"/>
          <p:cNvSpPr txBox="1">
            <a:spLocks noGrp="1"/>
          </p:cNvSpPr>
          <p:nvPr>
            <p:ph type="title"/>
          </p:nvPr>
        </p:nvSpPr>
        <p:spPr>
          <a:xfrm>
            <a:off x="347400" y="192425"/>
            <a:ext cx="110064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Helvetica Neue"/>
              <a:buNone/>
            </a:pPr>
            <a:r>
              <a:rPr lang="en-US" sz="2400">
                <a:latin typeface="Helvetica Neue"/>
                <a:ea typeface="Helvetica Neue"/>
                <a:cs typeface="Helvetica Neue"/>
                <a:sym typeface="Helvetica Neue"/>
              </a:rPr>
              <a:t>Baseline correction depends on being able of distinguishing true signals from noise</a:t>
            </a:r>
            <a:endParaRPr/>
          </a:p>
        </p:txBody>
      </p:sp>
      <p:pic>
        <p:nvPicPr>
          <p:cNvPr id="417" name="Google Shape;417;p40" descr="Baseline correction by penalized parametric smoothing method. (A) Original 1D proton NMR spectrum of DSS reference with distorted baseline. (B) Detected baseline curve by penalized parametric smoothing method. (C) Corrected spectrum after baseline subtraction."/>
          <p:cNvPicPr preferRelativeResize="0"/>
          <p:nvPr/>
        </p:nvPicPr>
        <p:blipFill rotWithShape="1">
          <a:blip r:embed="rId5">
            <a:alphaModFix/>
          </a:blip>
          <a:srcRect/>
          <a:stretch/>
        </p:blipFill>
        <p:spPr>
          <a:xfrm>
            <a:off x="347400" y="1284081"/>
            <a:ext cx="2362912" cy="2855323"/>
          </a:xfrm>
          <a:prstGeom prst="rect">
            <a:avLst/>
          </a:prstGeom>
          <a:noFill/>
          <a:ln>
            <a:noFill/>
          </a:ln>
        </p:spPr>
      </p:pic>
      <p:pic>
        <p:nvPicPr>
          <p:cNvPr id="418" name="Google Shape;418;p40" descr="Baseline correction for metabolomics spectrum by penalized parametric smoothing method. (A) Original spectrum with distorted baseline. (B) Detected baseline curve by penalized parametric smoothing method. (C) Corrected spectrum after baseline subtraction."/>
          <p:cNvPicPr preferRelativeResize="0"/>
          <p:nvPr/>
        </p:nvPicPr>
        <p:blipFill rotWithShape="1">
          <a:blip r:embed="rId6">
            <a:alphaModFix/>
          </a:blip>
          <a:srcRect/>
          <a:stretch/>
        </p:blipFill>
        <p:spPr>
          <a:xfrm>
            <a:off x="2710312" y="1284081"/>
            <a:ext cx="2497084" cy="2855323"/>
          </a:xfrm>
          <a:prstGeom prst="rect">
            <a:avLst/>
          </a:prstGeom>
          <a:noFill/>
          <a:ln>
            <a:noFill/>
          </a:ln>
        </p:spPr>
      </p:pic>
      <p:pic>
        <p:nvPicPr>
          <p:cNvPr id="419" name="Google Shape;419;p40"/>
          <p:cNvPicPr preferRelativeResize="0"/>
          <p:nvPr/>
        </p:nvPicPr>
        <p:blipFill rotWithShape="1">
          <a:blip r:embed="rId7">
            <a:alphaModFix/>
          </a:blip>
          <a:srcRect/>
          <a:stretch/>
        </p:blipFill>
        <p:spPr>
          <a:xfrm>
            <a:off x="5497445" y="1099020"/>
            <a:ext cx="6347155" cy="5035243"/>
          </a:xfrm>
          <a:prstGeom prst="rect">
            <a:avLst/>
          </a:prstGeom>
          <a:noFill/>
          <a:ln>
            <a:noFill/>
          </a:ln>
        </p:spPr>
      </p:pic>
      <p:sp>
        <p:nvSpPr>
          <p:cNvPr id="420" name="Google Shape;420;p40"/>
          <p:cNvSpPr/>
          <p:nvPr/>
        </p:nvSpPr>
        <p:spPr>
          <a:xfrm>
            <a:off x="11051031" y="2315586"/>
            <a:ext cx="302700" cy="1037100"/>
          </a:xfrm>
          <a:prstGeom prst="ellipse">
            <a:avLst/>
          </a:prstGeom>
          <a:solidFill>
            <a:srgbClr val="FFFF00">
              <a:alpha val="5804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1" name="Google Shape;421;p40"/>
          <p:cNvSpPr/>
          <p:nvPr/>
        </p:nvSpPr>
        <p:spPr>
          <a:xfrm>
            <a:off x="10971890" y="5196384"/>
            <a:ext cx="302700" cy="1037100"/>
          </a:xfrm>
          <a:prstGeom prst="ellipse">
            <a:avLst/>
          </a:prstGeom>
          <a:solidFill>
            <a:srgbClr val="FFFF00">
              <a:alpha val="5804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2" name="Google Shape;422;p40"/>
          <p:cNvSpPr/>
          <p:nvPr/>
        </p:nvSpPr>
        <p:spPr>
          <a:xfrm rot="5400000">
            <a:off x="8811788" y="2652550"/>
            <a:ext cx="302700" cy="1037100"/>
          </a:xfrm>
          <a:prstGeom prst="ellipse">
            <a:avLst/>
          </a:prstGeom>
          <a:solidFill>
            <a:srgbClr val="FFFF00">
              <a:alpha val="5804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40"/>
          <p:cNvSpPr/>
          <p:nvPr/>
        </p:nvSpPr>
        <p:spPr>
          <a:xfrm rot="5400000">
            <a:off x="8811788" y="5327484"/>
            <a:ext cx="302700" cy="1037100"/>
          </a:xfrm>
          <a:prstGeom prst="ellipse">
            <a:avLst/>
          </a:prstGeom>
          <a:solidFill>
            <a:srgbClr val="FFFF00">
              <a:alpha val="5804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40"/>
          <p:cNvSpPr/>
          <p:nvPr/>
        </p:nvSpPr>
        <p:spPr>
          <a:xfrm>
            <a:off x="5207397" y="3811029"/>
            <a:ext cx="6691500" cy="2471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5" name="Google Shape;425;p40"/>
          <p:cNvSpPr txBox="1"/>
          <p:nvPr/>
        </p:nvSpPr>
        <p:spPr>
          <a:xfrm>
            <a:off x="422291" y="4446512"/>
            <a:ext cx="4215300" cy="14775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Time domain baseline correction to restore corrupt points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Frequency domain baseline correction to subtract from the spectra</a:t>
            </a:r>
            <a:endParaRPr/>
          </a:p>
        </p:txBody>
      </p:sp>
      <p:grpSp>
        <p:nvGrpSpPr>
          <p:cNvPr id="426" name="Google Shape;426;p40"/>
          <p:cNvGrpSpPr/>
          <p:nvPr/>
        </p:nvGrpSpPr>
        <p:grpSpPr>
          <a:xfrm>
            <a:off x="223414" y="1408688"/>
            <a:ext cx="11744968" cy="4231727"/>
            <a:chOff x="4584154" y="3706701"/>
            <a:chExt cx="7565197" cy="2725750"/>
          </a:xfrm>
        </p:grpSpPr>
        <p:pic>
          <p:nvPicPr>
            <p:cNvPr id="427" name="Google Shape;427;p40" descr="Chart&#10;&#10;Description automatically generated"/>
            <p:cNvPicPr preferRelativeResize="0"/>
            <p:nvPr/>
          </p:nvPicPr>
          <p:blipFill rotWithShape="1">
            <a:blip r:embed="rId8">
              <a:alphaModFix/>
            </a:blip>
            <a:srcRect/>
            <a:stretch/>
          </p:blipFill>
          <p:spPr>
            <a:xfrm>
              <a:off x="7881228" y="3706701"/>
              <a:ext cx="4268123" cy="2560872"/>
            </a:xfrm>
            <a:prstGeom prst="rect">
              <a:avLst/>
            </a:prstGeom>
            <a:noFill/>
            <a:ln>
              <a:noFill/>
            </a:ln>
          </p:spPr>
        </p:pic>
        <p:pic>
          <p:nvPicPr>
            <p:cNvPr id="428" name="Google Shape;428;p40" descr="Chart, scatter chart&#10;&#10;Description automatically generated"/>
            <p:cNvPicPr preferRelativeResize="0"/>
            <p:nvPr/>
          </p:nvPicPr>
          <p:blipFill rotWithShape="1">
            <a:blip r:embed="rId9">
              <a:alphaModFix/>
            </a:blip>
            <a:srcRect/>
            <a:stretch/>
          </p:blipFill>
          <p:spPr>
            <a:xfrm>
              <a:off x="4584154" y="4025094"/>
              <a:ext cx="3252046" cy="2407357"/>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24"/>
                                        </p:tgtEl>
                                      </p:cBhvr>
                                    </p:animEffect>
                                    <p:set>
                                      <p:cBhvr>
                                        <p:cTn id="7" dur="1" fill="hold">
                                          <p:stCondLst>
                                            <p:cond delay="500"/>
                                          </p:stCondLst>
                                        </p:cTn>
                                        <p:tgtEl>
                                          <p:spTgt spid="42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1"/>
          <p:cNvSpPr txBox="1">
            <a:spLocks noGrp="1"/>
          </p:cNvSpPr>
          <p:nvPr>
            <p:ph type="title"/>
          </p:nvPr>
        </p:nvSpPr>
        <p:spPr>
          <a:xfrm>
            <a:off x="347400" y="192419"/>
            <a:ext cx="7131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Helvetica Neue"/>
              <a:buNone/>
            </a:pPr>
            <a:r>
              <a:rPr lang="en-US" sz="2400" b="1">
                <a:latin typeface="Helvetica Neue"/>
                <a:ea typeface="Helvetica Neue"/>
                <a:cs typeface="Helvetica Neue"/>
                <a:sym typeface="Helvetica Neue"/>
              </a:rPr>
              <a:t>Normalization</a:t>
            </a:r>
            <a:r>
              <a:rPr lang="en-US" sz="2400">
                <a:latin typeface="Helvetica Neue"/>
                <a:ea typeface="Helvetica Neue"/>
                <a:cs typeface="Helvetica Neue"/>
                <a:sym typeface="Helvetica Neue"/>
              </a:rPr>
              <a:t> works against external or internal references and depends on the experimental design and type of data</a:t>
            </a:r>
            <a:endParaRPr/>
          </a:p>
        </p:txBody>
      </p:sp>
      <p:sp>
        <p:nvSpPr>
          <p:cNvPr id="434" name="Google Shape;434;p41"/>
          <p:cNvSpPr txBox="1"/>
          <p:nvPr/>
        </p:nvSpPr>
        <p:spPr>
          <a:xfrm>
            <a:off x="7478400" y="6581101"/>
            <a:ext cx="36360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Emwas et al., Metabolomics 2018 14(3) 1-23</a:t>
            </a:r>
            <a:endParaRPr/>
          </a:p>
        </p:txBody>
      </p:sp>
      <p:graphicFrame>
        <p:nvGraphicFramePr>
          <p:cNvPr id="435" name="Google Shape;435;p41"/>
          <p:cNvGraphicFramePr/>
          <p:nvPr/>
        </p:nvGraphicFramePr>
        <p:xfrm>
          <a:off x="347408" y="1517982"/>
          <a:ext cx="5652500" cy="5249400"/>
        </p:xfrm>
        <a:graphic>
          <a:graphicData uri="http://schemas.openxmlformats.org/drawingml/2006/table">
            <a:tbl>
              <a:tblPr>
                <a:noFill/>
                <a:tableStyleId>{EBD21FA1-A5D8-4325-A2E5-31A690B1F344}</a:tableStyleId>
              </a:tblPr>
              <a:tblGrid>
                <a:gridCol w="10542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2039725">
                  <a:extLst>
                    <a:ext uri="{9D8B030D-6E8A-4147-A177-3AD203B41FA5}">
                      <a16:colId xmlns:a16="http://schemas.microsoft.com/office/drawing/2014/main" val="20002"/>
                    </a:ext>
                  </a:extLst>
                </a:gridCol>
                <a:gridCol w="1369500">
                  <a:extLst>
                    <a:ext uri="{9D8B030D-6E8A-4147-A177-3AD203B41FA5}">
                      <a16:colId xmlns:a16="http://schemas.microsoft.com/office/drawing/2014/main" val="20003"/>
                    </a:ext>
                  </a:extLst>
                </a:gridCol>
                <a:gridCol w="806175">
                  <a:extLst>
                    <a:ext uri="{9D8B030D-6E8A-4147-A177-3AD203B41FA5}">
                      <a16:colId xmlns:a16="http://schemas.microsoft.com/office/drawing/2014/main" val="20004"/>
                    </a:ext>
                  </a:extLst>
                </a:gridCol>
              </a:tblGrid>
              <a:tr h="12707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Method</a:t>
                      </a:r>
                      <a:endParaRPr sz="700" b="1"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Abbr.</a:t>
                      </a:r>
                      <a:endParaRPr sz="700" b="1"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Description</a:t>
                      </a:r>
                      <a:endParaRPr sz="700" b="1"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Remarks</a:t>
                      </a:r>
                      <a:endParaRPr sz="700" b="1"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References</a:t>
                      </a:r>
                      <a:endParaRPr sz="700" b="1" i="0" u="none" strike="noStrike" cap="none">
                        <a:solidFill>
                          <a:srgbClr val="000000"/>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0"/>
                  </a:ext>
                </a:extLst>
              </a:tr>
              <a:tr h="496725">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3"/>
                        </a:rPr>
                        <a:t>Urine output (Elizabeth R. Lusczek et al., 2013b)</a:t>
                      </a:r>
                      <a:endParaRPr sz="700" i="0" u="sng" strike="noStrike" cap="none">
                        <a:solidFill>
                          <a:srgbClr val="0563C1"/>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UO</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Urine output is the volume of urine excreted per hour per kilogram of mass. Normalization is performed by multiplying raw metabolite concentrations by urine output</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Total urine output may be difficult to obtain</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4"/>
                        </a:rPr>
                        <a:t>Lusczek et al. (2013a)</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1"/>
                  </a:ext>
                </a:extLst>
              </a:tr>
              <a:tr h="322425">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Osmolality</a:t>
                      </a:r>
                      <a:endParaRPr sz="700" i="0" u="none" strike="noStrike" cap="none">
                        <a:solidFill>
                          <a:srgbClr val="000000"/>
                        </a:solidFill>
                        <a:latin typeface="Arial"/>
                        <a:ea typeface="Arial"/>
                        <a:cs typeface="Arial"/>
                        <a:sym typeface="Arial"/>
                      </a:endParaRPr>
                    </a:p>
                  </a:txBody>
                  <a:tcPr marL="5175" marR="5175" marT="5175" marB="0" anchor="b"/>
                </a:tc>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OSM</a:t>
                      </a:r>
                      <a:endParaRPr sz="700" i="0" u="none" strike="noStrike" cap="none">
                        <a:solidFill>
                          <a:srgbClr val="000000"/>
                        </a:solidFill>
                        <a:latin typeface="Arial"/>
                        <a:ea typeface="Arial"/>
                        <a:cs typeface="Arial"/>
                        <a:sym typeface="Arial"/>
                      </a:endParaRPr>
                    </a:p>
                  </a:txBody>
                  <a:tcPr marL="5175" marR="5175" marT="5175" marB="0" anchor="b"/>
                </a:tc>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Osmolality is the concentration of solute particles in the urine. Normalization is carried on by dividing concentration by the osmolality of each sample, returning</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reflects physiological metabolite-concentrating mechanisms in the kidneys</a:t>
                      </a:r>
                      <a:endParaRPr sz="700" i="0" u="none" strike="noStrike" cap="none">
                        <a:solidFill>
                          <a:srgbClr val="000000"/>
                        </a:solidFill>
                        <a:latin typeface="Arial"/>
                        <a:ea typeface="Arial"/>
                        <a:cs typeface="Arial"/>
                        <a:sym typeface="Arial"/>
                      </a:endParaRPr>
                    </a:p>
                  </a:txBody>
                  <a:tcPr marL="5175" marR="5175" marT="5175" marB="0" anchor="b"/>
                </a:tc>
                <a:tc rowSpan="2">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4"/>
                        </a:rPr>
                        <a:t>Lusczek et al. (2013a)</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2"/>
                  </a:ext>
                </a:extLst>
              </a:tr>
              <a:tr h="1626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Require intensive lab work</a:t>
                      </a:r>
                      <a:endParaRPr sz="700" i="0" u="none" strike="noStrike" cap="none">
                        <a:solidFill>
                          <a:srgbClr val="000000"/>
                        </a:solidFill>
                        <a:latin typeface="Arial"/>
                        <a:ea typeface="Arial"/>
                        <a:cs typeface="Arial"/>
                        <a:sym typeface="Arial"/>
                      </a:endParaRPr>
                    </a:p>
                  </a:txBody>
                  <a:tcPr marL="5175" marR="5175" marT="5175" marB="0" anchor="b"/>
                </a:tc>
                <a:tc vMerge="1">
                  <a:txBody>
                    <a:bodyPr/>
                    <a:lstStyle/>
                    <a:p>
                      <a:endParaRPr lang="en-US"/>
                    </a:p>
                  </a:txBody>
                  <a:tcPr/>
                </a:tc>
                <a:extLst>
                  <a:ext uri="{0D108BD9-81ED-4DB2-BD59-A6C34878D82A}">
                    <a16:rowId xmlns:a16="http://schemas.microsoft.com/office/drawing/2014/main" val="10003"/>
                  </a:ext>
                </a:extLst>
              </a:tr>
              <a:tr h="533450">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Normalization to an internal standard</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IS</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The concentration of each metabolite is divided by the concentration of an internal standard, usually creatinine</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Constant excretion of creatinine into urine (creatinine clearance) is assumed to be constant. Exact creatinine concentration may be difficult to estimate from NMR spectra</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5"/>
                        </a:rPr>
                        <a:t>Jatlow et al. (2003)</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4"/>
                  </a:ext>
                </a:extLst>
              </a:tr>
              <a:tr h="427950">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Constant sum (1)</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SC</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Metabolites concentration are divided by the sum of the concentration for all the measured metabolites</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Assumes that the concentration of each metabolite is increased by the same amount due to the increased concentration of the urine sample</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4"/>
                        </a:rPr>
                        <a:t>Lusczek et al. (2013a)</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5"/>
                  </a:ext>
                </a:extLst>
              </a:tr>
              <a:tr h="34907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Constant sum (2)</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SC-LUG</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Same as CS but lactate, glucose, and urea concentrations are excluded</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Implies that lactate, glucose, and urea concentrations are highly variable during the experiment</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4"/>
                        </a:rPr>
                        <a:t>Lusczek et al. (2013a)</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6"/>
                  </a:ext>
                </a:extLst>
              </a:tr>
              <a:tr h="34907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Total spectrum area</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TSA</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The (binned) spectra are summed over the entire spectral area excluding regions containing water and urea resonances</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See CS and CS-LUG</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4"/>
                        </a:rPr>
                        <a:t>Lusczek et al. (2013a)</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7"/>
                  </a:ext>
                </a:extLst>
              </a:tr>
              <a:tr h="77987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Probabilistic quotient normalization</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PQN</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starts with an integral normalization of each spectrum, followed by the calculation of a reference spectrum (median or baseline). For each variable of interest the quotient of a given test spectrum and the reference spectrum is calculated and the median of all quotients is estimated. All variables of the test spectrum are then divided by the median quotient</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assumes that biologically interesting concentration changes influence only parts of the NMR spectrum, while dilution effects will affect all metabolite signals. Choice of reference spectrum is arbitrary</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6"/>
                        </a:rPr>
                        <a:t>Dieterle et al. (2006)</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8"/>
                  </a:ext>
                </a:extLst>
              </a:tr>
              <a:tr h="427950">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Cyclic loess normalization</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Loess</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The log-transformed ratio of any two spectra is compared to their average feature by feature; then, a normalization curve is fitted using non-linear local regression (loess) and subtracted from the original values</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Assumes the presence of non-linear biases, such as intensity-depended biases, is assumed</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Dudoit et al. (2002; Cleveland and Devlin, 1988)</a:t>
                      </a:r>
                      <a:endParaRPr sz="700" i="0" u="none" strike="noStrike" cap="none">
                        <a:solidFill>
                          <a:srgbClr val="000000"/>
                        </a:solidFill>
                        <a:latin typeface="Arial"/>
                        <a:ea typeface="Arial"/>
                        <a:cs typeface="Arial"/>
                        <a:sym typeface="Arial"/>
                      </a:endParaRPr>
                    </a:p>
                  </a:txBody>
                  <a:tcPr marL="5175" marR="5175" marT="5175" marB="0" anchor="b"/>
                </a:tc>
                <a:extLst>
                  <a:ext uri="{0D108BD9-81ED-4DB2-BD59-A6C34878D82A}">
                    <a16:rowId xmlns:a16="http://schemas.microsoft.com/office/drawing/2014/main" val="10009"/>
                  </a:ext>
                </a:extLst>
              </a:tr>
              <a:tr h="77987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Contrast normalization</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Contrast</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By means of an orthonormal transformation the matrix into a transformed onto a contrast space. Normalizing curves are fitted similarly to those in Cyclic Loess Normalization, using a robust distance measure based on the Euclidean norm. The contrasts are evened out by a smooth transformation and data are mapped back to the original input space</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Cyclic loess normalization</a:t>
                      </a:r>
                      <a:endParaRPr sz="700" i="0" u="none" strike="noStrike" cap="none">
                        <a:solidFill>
                          <a:srgbClr val="000000"/>
                        </a:solidFill>
                        <a:latin typeface="Arial"/>
                        <a:ea typeface="Arial"/>
                        <a:cs typeface="Arial"/>
                        <a:sym typeface="Arial"/>
                      </a:endParaRPr>
                    </a:p>
                  </a:txBody>
                  <a:tcPr marL="5175" marR="5175" marT="517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7"/>
                        </a:rPr>
                        <a:t>Åstrand (2003)</a:t>
                      </a:r>
                      <a:endParaRPr sz="700" i="0" u="sng" strike="noStrike" cap="none">
                        <a:solidFill>
                          <a:srgbClr val="0563C1"/>
                        </a:solidFill>
                        <a:latin typeface="Arial"/>
                        <a:ea typeface="Arial"/>
                        <a:cs typeface="Arial"/>
                        <a:sym typeface="Arial"/>
                      </a:endParaRPr>
                    </a:p>
                  </a:txBody>
                  <a:tcPr marL="5175" marR="5175" marT="5175" marB="0" anchor="b"/>
                </a:tc>
                <a:extLst>
                  <a:ext uri="{0D108BD9-81ED-4DB2-BD59-A6C34878D82A}">
                    <a16:rowId xmlns:a16="http://schemas.microsoft.com/office/drawing/2014/main" val="10010"/>
                  </a:ext>
                </a:extLst>
              </a:tr>
            </a:tbl>
          </a:graphicData>
        </a:graphic>
      </p:graphicFrame>
      <p:graphicFrame>
        <p:nvGraphicFramePr>
          <p:cNvPr id="436" name="Google Shape;436;p41"/>
          <p:cNvGraphicFramePr/>
          <p:nvPr/>
        </p:nvGraphicFramePr>
        <p:xfrm>
          <a:off x="6188087" y="1517965"/>
          <a:ext cx="5579200" cy="4862950"/>
        </p:xfrm>
        <a:graphic>
          <a:graphicData uri="http://schemas.openxmlformats.org/drawingml/2006/table">
            <a:tbl>
              <a:tblPr>
                <a:noFill/>
                <a:tableStyleId>{EBD21FA1-A5D8-4325-A2E5-31A690B1F344}</a:tableStyleId>
              </a:tblPr>
              <a:tblGrid>
                <a:gridCol w="787925">
                  <a:extLst>
                    <a:ext uri="{9D8B030D-6E8A-4147-A177-3AD203B41FA5}">
                      <a16:colId xmlns:a16="http://schemas.microsoft.com/office/drawing/2014/main" val="20000"/>
                    </a:ext>
                  </a:extLst>
                </a:gridCol>
                <a:gridCol w="445150">
                  <a:extLst>
                    <a:ext uri="{9D8B030D-6E8A-4147-A177-3AD203B41FA5}">
                      <a16:colId xmlns:a16="http://schemas.microsoft.com/office/drawing/2014/main" val="20001"/>
                    </a:ext>
                  </a:extLst>
                </a:gridCol>
                <a:gridCol w="2244500">
                  <a:extLst>
                    <a:ext uri="{9D8B030D-6E8A-4147-A177-3AD203B41FA5}">
                      <a16:colId xmlns:a16="http://schemas.microsoft.com/office/drawing/2014/main" val="20002"/>
                    </a:ext>
                  </a:extLst>
                </a:gridCol>
                <a:gridCol w="1703975">
                  <a:extLst>
                    <a:ext uri="{9D8B030D-6E8A-4147-A177-3AD203B41FA5}">
                      <a16:colId xmlns:a16="http://schemas.microsoft.com/office/drawing/2014/main" val="20003"/>
                    </a:ext>
                  </a:extLst>
                </a:gridCol>
                <a:gridCol w="397650">
                  <a:extLst>
                    <a:ext uri="{9D8B030D-6E8A-4147-A177-3AD203B41FA5}">
                      <a16:colId xmlns:a16="http://schemas.microsoft.com/office/drawing/2014/main" val="20004"/>
                    </a:ext>
                  </a:extLst>
                </a:gridCol>
              </a:tblGrid>
              <a:tr h="42612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Quantile normalization</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Quantile</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All spectra are brought to an identical distribution of intensities across features (bins or metabolites). quantile</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After QN the vectors of feature intensities consist of the same set of values, however, these values are distributed differently among features</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8"/>
                        </a:rPr>
                        <a:t>Bolstad et al. (2003)</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0"/>
                  </a:ext>
                </a:extLst>
              </a:tr>
              <a:tr h="321150">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Linear baseline normalization</a:t>
                      </a:r>
                      <a:endParaRPr sz="700" i="0" u="none" strike="noStrike" cap="none">
                        <a:solidFill>
                          <a:srgbClr val="000000"/>
                        </a:solidFill>
                        <a:latin typeface="Arial"/>
                        <a:ea typeface="Arial"/>
                        <a:cs typeface="Arial"/>
                        <a:sym typeface="Arial"/>
                      </a:endParaRPr>
                    </a:p>
                  </a:txBody>
                  <a:tcPr marL="5525" marR="5525" marT="5525" marB="0" anchor="b"/>
                </a:tc>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Linear</a:t>
                      </a:r>
                      <a:endParaRPr sz="700" i="0" u="none" strike="noStrike" cap="none">
                        <a:solidFill>
                          <a:srgbClr val="000000"/>
                        </a:solidFill>
                        <a:latin typeface="Arial"/>
                        <a:ea typeface="Arial"/>
                        <a:cs typeface="Arial"/>
                        <a:sym typeface="Arial"/>
                      </a:endParaRPr>
                    </a:p>
                  </a:txBody>
                  <a:tcPr marL="5525" marR="5525" marT="5525" marB="0" anchor="b"/>
                </a:tc>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A scaling factor is used to map linearly from each spectrum to the baseline. The scaling factor is computed for each spectrum as the ratio of the mean intensity of the baseline to the mean intensity of the spectrum</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assumes a constant linear relationship between each feature of a given spectrum and the baseline</a:t>
                      </a:r>
                      <a:endParaRPr sz="700" i="0" u="none" strike="noStrike" cap="none">
                        <a:solidFill>
                          <a:srgbClr val="000000"/>
                        </a:solidFill>
                        <a:latin typeface="Arial"/>
                        <a:ea typeface="Arial"/>
                        <a:cs typeface="Arial"/>
                        <a:sym typeface="Arial"/>
                      </a:endParaRPr>
                    </a:p>
                  </a:txBody>
                  <a:tcPr marL="5525" marR="5525" marT="5525" marB="0" anchor="b"/>
                </a:tc>
                <a:tc rowSpan="2">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8"/>
                        </a:rPr>
                        <a:t>Bolstad et al. (2003)</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1"/>
                  </a:ext>
                </a:extLst>
              </a:tr>
              <a:tr h="32115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Baseline is arbitrary: it can be constructed by calculating the median of each feature over all spectra</a:t>
                      </a:r>
                      <a:endParaRPr sz="700" i="0" u="none" strike="noStrike" cap="none">
                        <a:solidFill>
                          <a:srgbClr val="000000"/>
                        </a:solidFill>
                        <a:latin typeface="Arial"/>
                        <a:ea typeface="Arial"/>
                        <a:cs typeface="Arial"/>
                        <a:sym typeface="Arial"/>
                      </a:endParaRPr>
                    </a:p>
                  </a:txBody>
                  <a:tcPr marL="5525" marR="5525" marT="5525" marB="0" anchor="b"/>
                </a:tc>
                <a:tc vMerge="1">
                  <a:txBody>
                    <a:bodyPr/>
                    <a:lstStyle/>
                    <a:p>
                      <a:endParaRPr lang="en-US"/>
                    </a:p>
                  </a:txBody>
                  <a:tcPr/>
                </a:tc>
                <a:extLst>
                  <a:ext uri="{0D108BD9-81ED-4DB2-BD59-A6C34878D82A}">
                    <a16:rowId xmlns:a16="http://schemas.microsoft.com/office/drawing/2014/main" val="10002"/>
                  </a:ext>
                </a:extLst>
              </a:tr>
              <a:tr h="728250">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Non-linear baseline normalization</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Li-Wong</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 normalization curve is fitted to map a spectrum to the baseline spectrum (having the median overall intensity) on a scatter plot. The normalization curve is fitted only on non-differentially expressed features which are used for finding the normalizing piecewise linear running median line</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is assumed that features corresponding to unregulated metabolites have similar intensity ranks in two spectra. Possible non-linear relationships between the baseline and the individual spectra are also assumed</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9"/>
                        </a:rPr>
                        <a:t>Li and Wong (2001)</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3"/>
                  </a:ext>
                </a:extLst>
              </a:tr>
              <a:tr h="321150">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Cubic-spline normalization</a:t>
                      </a:r>
                      <a:endParaRPr sz="700" i="0" u="none" strike="noStrike" cap="none">
                        <a:solidFill>
                          <a:srgbClr val="000000"/>
                        </a:solidFill>
                        <a:latin typeface="Arial"/>
                        <a:ea typeface="Arial"/>
                        <a:cs typeface="Arial"/>
                        <a:sym typeface="Arial"/>
                      </a:endParaRPr>
                    </a:p>
                  </a:txBody>
                  <a:tcPr marL="5525" marR="5525" marT="5525" marB="0" anchor="b"/>
                </a:tc>
                <a:tc rowSpan="2">
                  <a:txBody>
                    <a:bodyPr/>
                    <a:lstStyle/>
                    <a:p>
                      <a:pPr marL="0" marR="0" lvl="0" indent="0" algn="l" rtl="0">
                        <a:spcBef>
                          <a:spcPts val="0"/>
                        </a:spcBef>
                        <a:spcAft>
                          <a:spcPts val="0"/>
                        </a:spcAft>
                        <a:buNone/>
                      </a:pPr>
                      <a:r>
                        <a:rPr lang="en-US" sz="700" u="none" strike="noStrike" cap="none">
                          <a:latin typeface="Arial"/>
                          <a:ea typeface="Arial"/>
                          <a:cs typeface="Arial"/>
                          <a:sym typeface="Arial"/>
                        </a:rPr>
                        <a:t>Spline</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 baseline spectrum is built by computing the geometric mean of the intensities of each feature over all spectra</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The existence of non-linear relationships between baseline and individual spectra are assumed</a:t>
                      </a:r>
                      <a:endParaRPr sz="700" i="0" u="none" strike="noStrike" cap="none">
                        <a:solidFill>
                          <a:srgbClr val="000000"/>
                        </a:solidFill>
                        <a:latin typeface="Arial"/>
                        <a:ea typeface="Arial"/>
                        <a:cs typeface="Arial"/>
                        <a:sym typeface="Arial"/>
                      </a:endParaRPr>
                    </a:p>
                  </a:txBody>
                  <a:tcPr marL="5525" marR="5525" marT="5525" marB="0" anchor="b"/>
                </a:tc>
                <a:tc rowSpan="2">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10"/>
                        </a:rPr>
                        <a:t>Workman et al. (2002)</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4"/>
                  </a:ext>
                </a:extLst>
              </a:tr>
              <a:tr h="740975">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 set of evenly distributed quantiles is taken from both the target spectrum and the sample spectrum and used to fit a smooth cubic spline. The process is iterated several times shifting the set of quantiles by a small offset each time. Finally a spline function generator uses the generated set of interpolated splines to fit the parameters of a natural cubic spline</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The geometric mean can be substituted by the arithmetic mean for reasons of robustness to negative values</a:t>
                      </a:r>
                      <a:endParaRPr sz="700" i="0" u="none" strike="noStrike" cap="none">
                        <a:solidFill>
                          <a:srgbClr val="000000"/>
                        </a:solidFill>
                        <a:latin typeface="Arial"/>
                        <a:ea typeface="Arial"/>
                        <a:cs typeface="Arial"/>
                        <a:sym typeface="Arial"/>
                      </a:endParaRPr>
                    </a:p>
                  </a:txBody>
                  <a:tcPr marL="5525" marR="5525" marT="5525" marB="0" anchor="b"/>
                </a:tc>
                <a:tc vMerge="1">
                  <a:txBody>
                    <a:bodyPr/>
                    <a:lstStyle/>
                    <a:p>
                      <a:endParaRPr lang="en-US"/>
                    </a:p>
                  </a:txBody>
                  <a:tcPr/>
                </a:tc>
                <a:extLst>
                  <a:ext uri="{0D108BD9-81ED-4DB2-BD59-A6C34878D82A}">
                    <a16:rowId xmlns:a16="http://schemas.microsoft.com/office/drawing/2014/main" val="10005"/>
                  </a:ext>
                </a:extLst>
              </a:tr>
              <a:tr h="42612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Shapiro–Wilk</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SW</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Features showing high variability in concentration are iteratively removed until mostly nonregulated features remain. These are be used as reference features for subsequent data normalization</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assumes that the variance of regulated features across all specimens is larger than that of nonregulated features</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11"/>
                        </a:rPr>
                        <a:t>Hochrein et al. (2015)</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6"/>
                  </a:ext>
                </a:extLst>
              </a:tr>
              <a:tr h="373650">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Linear mixed</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LM</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It fits a mixed model to metabolite concentration with simultaneous estimation of the correlation matrix</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Assume data as coming from a larger pool cohorts; same for the batches and samples</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12"/>
                        </a:rPr>
                        <a:t>Jauhiainen et al. (2014)</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7"/>
                  </a:ext>
                </a:extLst>
              </a:tr>
              <a:tr h="636000">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EigenMS</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Estimating treatment effects with an ANOVA model; singular value decomposition of the residuals matrix is then used to determine bias trends in the data. The number of bias trends is then estimated via a permutation test and the effects of the bias trends are eliminated</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Not tested on NMR data</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13"/>
                        </a:rPr>
                        <a:t>Karpievitch et al. (2014)</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8"/>
                  </a:ext>
                </a:extLst>
              </a:tr>
              <a:tr h="521975">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Variance stabilization normalization</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VSN</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VSN approaches are set of non-linear methods that used to keep the variance constant over the entire data range, leading to roughly equal variable variance. Found to work well with NMR data</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none" strike="noStrike" cap="none">
                          <a:latin typeface="Arial"/>
                          <a:ea typeface="Arial"/>
                          <a:cs typeface="Arial"/>
                          <a:sym typeface="Arial"/>
                        </a:rPr>
                        <a:t>Found to work well with NMR data</a:t>
                      </a:r>
                      <a:endParaRPr sz="700" i="0" u="none" strike="noStrike" cap="none">
                        <a:solidFill>
                          <a:srgbClr val="000000"/>
                        </a:solidFill>
                        <a:latin typeface="Arial"/>
                        <a:ea typeface="Arial"/>
                        <a:cs typeface="Arial"/>
                        <a:sym typeface="Arial"/>
                      </a:endParaRPr>
                    </a:p>
                  </a:txBody>
                  <a:tcPr marL="5525" marR="5525" marT="5525" marB="0" anchor="b"/>
                </a:tc>
                <a:tc>
                  <a:txBody>
                    <a:bodyPr/>
                    <a:lstStyle/>
                    <a:p>
                      <a:pPr marL="0" marR="0" lvl="0" indent="0" algn="l" rtl="0">
                        <a:spcBef>
                          <a:spcPts val="0"/>
                        </a:spcBef>
                        <a:spcAft>
                          <a:spcPts val="0"/>
                        </a:spcAft>
                        <a:buNone/>
                      </a:pPr>
                      <a:r>
                        <a:rPr lang="en-US" sz="700" u="sng" strike="noStrike" cap="none">
                          <a:solidFill>
                            <a:schemeClr val="hlink"/>
                          </a:solidFill>
                          <a:latin typeface="Arial"/>
                          <a:ea typeface="Arial"/>
                          <a:cs typeface="Arial"/>
                          <a:sym typeface="Arial"/>
                          <a:hlinkClick r:id="rId14"/>
                        </a:rPr>
                        <a:t>Huber (2002)</a:t>
                      </a:r>
                      <a:endParaRPr sz="700" i="0" u="sng" strike="noStrike" cap="none">
                        <a:solidFill>
                          <a:srgbClr val="0563C1"/>
                        </a:solidFill>
                        <a:latin typeface="Arial"/>
                        <a:ea typeface="Arial"/>
                        <a:cs typeface="Arial"/>
                        <a:sym typeface="Arial"/>
                      </a:endParaRPr>
                    </a:p>
                  </a:txBody>
                  <a:tcPr marL="5525" marR="5525" marT="5525" marB="0" anchor="b"/>
                </a:tc>
                <a:extLst>
                  <a:ext uri="{0D108BD9-81ED-4DB2-BD59-A6C34878D82A}">
                    <a16:rowId xmlns:a16="http://schemas.microsoft.com/office/drawing/2014/main" val="10009"/>
                  </a:ext>
                </a:extLst>
              </a:tr>
            </a:tbl>
          </a:graphicData>
        </a:graphic>
      </p:graphicFrame>
      <p:sp>
        <p:nvSpPr>
          <p:cNvPr id="437" name="Google Shape;437;p41"/>
          <p:cNvSpPr/>
          <p:nvPr/>
        </p:nvSpPr>
        <p:spPr>
          <a:xfrm>
            <a:off x="1410884" y="2275752"/>
            <a:ext cx="221100" cy="190500"/>
          </a:xfrm>
          <a:prstGeom prst="hexagon">
            <a:avLst>
              <a:gd name="adj" fmla="val 58000"/>
              <a:gd name="vf" fmla="val 115470"/>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8" name="Google Shape;438;p41"/>
          <p:cNvSpPr/>
          <p:nvPr/>
        </p:nvSpPr>
        <p:spPr>
          <a:xfrm>
            <a:off x="1410884" y="1793069"/>
            <a:ext cx="221100" cy="190500"/>
          </a:xfrm>
          <a:prstGeom prst="hexagon">
            <a:avLst>
              <a:gd name="adj" fmla="val 58000"/>
              <a:gd name="vf" fmla="val 115470"/>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9" name="Google Shape;439;p41"/>
          <p:cNvSpPr/>
          <p:nvPr/>
        </p:nvSpPr>
        <p:spPr>
          <a:xfrm>
            <a:off x="1410884" y="4867335"/>
            <a:ext cx="221100" cy="190500"/>
          </a:xfrm>
          <a:prstGeom prst="hexagon">
            <a:avLst>
              <a:gd name="adj" fmla="val 58000"/>
              <a:gd name="vf" fmla="val 115470"/>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41"/>
          <p:cNvSpPr txBox="1"/>
          <p:nvPr/>
        </p:nvSpPr>
        <p:spPr>
          <a:xfrm>
            <a:off x="7108549" y="132975"/>
            <a:ext cx="45387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The meaning of normalization is context dependent. </a:t>
            </a:r>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In mathematics it means dividing a tensor by its norm.</a:t>
            </a:r>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In statistics it refers to as making a sample follow a normal distributions. </a:t>
            </a:r>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In metabolomics it refers to as making specimens look similar by multiplying by a correction factor (scaling in statistics)</a:t>
            </a:r>
            <a:endParaRPr/>
          </a:p>
        </p:txBody>
      </p:sp>
      <p:sp>
        <p:nvSpPr>
          <p:cNvPr id="441" name="Google Shape;441;p41"/>
          <p:cNvSpPr/>
          <p:nvPr/>
        </p:nvSpPr>
        <p:spPr>
          <a:xfrm>
            <a:off x="1415270" y="4197433"/>
            <a:ext cx="221100" cy="190500"/>
          </a:xfrm>
          <a:prstGeom prst="hexagon">
            <a:avLst>
              <a:gd name="adj" fmla="val 58000"/>
              <a:gd name="vf" fmla="val 115470"/>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2"/>
          <p:cNvSpPr txBox="1">
            <a:spLocks noGrp="1"/>
          </p:cNvSpPr>
          <p:nvPr>
            <p:ph type="title"/>
          </p:nvPr>
        </p:nvSpPr>
        <p:spPr>
          <a:xfrm>
            <a:off x="347400" y="192419"/>
            <a:ext cx="7131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Helvetica Neue"/>
              <a:buNone/>
            </a:pPr>
            <a:r>
              <a:rPr lang="en-US" sz="2400">
                <a:latin typeface="Helvetica Neue"/>
                <a:ea typeface="Helvetica Neue"/>
                <a:cs typeface="Helvetica Neue"/>
                <a:sym typeface="Helvetica Neue"/>
              </a:rPr>
              <a:t>Normalization are either physiological if we have access to extra measurements or numerical</a:t>
            </a:r>
            <a:endParaRPr/>
          </a:p>
        </p:txBody>
      </p:sp>
      <p:grpSp>
        <p:nvGrpSpPr>
          <p:cNvPr id="447" name="Google Shape;447;p42"/>
          <p:cNvGrpSpPr/>
          <p:nvPr/>
        </p:nvGrpSpPr>
        <p:grpSpPr>
          <a:xfrm>
            <a:off x="7416841" y="4047664"/>
            <a:ext cx="3827301" cy="2225737"/>
            <a:chOff x="761668" y="1691687"/>
            <a:chExt cx="3827301" cy="2225737"/>
          </a:xfrm>
        </p:grpSpPr>
        <p:pic>
          <p:nvPicPr>
            <p:cNvPr id="448" name="Google Shape;448;p42"/>
            <p:cNvPicPr preferRelativeResize="0"/>
            <p:nvPr/>
          </p:nvPicPr>
          <p:blipFill rotWithShape="1">
            <a:blip r:embed="rId3">
              <a:alphaModFix/>
            </a:blip>
            <a:srcRect/>
            <a:stretch/>
          </p:blipFill>
          <p:spPr>
            <a:xfrm>
              <a:off x="761668" y="1853492"/>
              <a:ext cx="1844183" cy="2041071"/>
            </a:xfrm>
            <a:prstGeom prst="rect">
              <a:avLst/>
            </a:prstGeom>
            <a:noFill/>
            <a:ln>
              <a:noFill/>
            </a:ln>
          </p:spPr>
        </p:pic>
        <p:pic>
          <p:nvPicPr>
            <p:cNvPr id="449" name="Google Shape;449;p42"/>
            <p:cNvPicPr preferRelativeResize="0"/>
            <p:nvPr/>
          </p:nvPicPr>
          <p:blipFill rotWithShape="1">
            <a:blip r:embed="rId4">
              <a:alphaModFix/>
            </a:blip>
            <a:srcRect/>
            <a:stretch/>
          </p:blipFill>
          <p:spPr>
            <a:xfrm>
              <a:off x="2712004" y="1876353"/>
              <a:ext cx="1876965" cy="2041071"/>
            </a:xfrm>
            <a:prstGeom prst="rect">
              <a:avLst/>
            </a:prstGeom>
            <a:noFill/>
            <a:ln>
              <a:noFill/>
            </a:ln>
          </p:spPr>
        </p:pic>
        <p:sp>
          <p:nvSpPr>
            <p:cNvPr id="450" name="Google Shape;450;p42"/>
            <p:cNvSpPr txBox="1"/>
            <p:nvPr/>
          </p:nvSpPr>
          <p:spPr>
            <a:xfrm>
              <a:off x="1251591" y="1698563"/>
              <a:ext cx="864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Before</a:t>
              </a:r>
              <a:endParaRPr sz="1800" baseline="-25000">
                <a:solidFill>
                  <a:schemeClr val="dk1"/>
                </a:solidFill>
                <a:latin typeface="Helvetica Neue"/>
                <a:ea typeface="Helvetica Neue"/>
                <a:cs typeface="Helvetica Neue"/>
                <a:sym typeface="Helvetica Neue"/>
              </a:endParaRPr>
            </a:p>
          </p:txBody>
        </p:sp>
        <p:sp>
          <p:nvSpPr>
            <p:cNvPr id="451" name="Google Shape;451;p42"/>
            <p:cNvSpPr txBox="1"/>
            <p:nvPr/>
          </p:nvSpPr>
          <p:spPr>
            <a:xfrm>
              <a:off x="3446823" y="1691687"/>
              <a:ext cx="67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After</a:t>
              </a:r>
              <a:endParaRPr sz="1800" baseline="-25000">
                <a:solidFill>
                  <a:schemeClr val="dk1"/>
                </a:solidFill>
                <a:latin typeface="Helvetica Neue"/>
                <a:ea typeface="Helvetica Neue"/>
                <a:cs typeface="Helvetica Neue"/>
                <a:sym typeface="Helvetica Neue"/>
              </a:endParaRPr>
            </a:p>
          </p:txBody>
        </p:sp>
      </p:grpSp>
      <p:sp>
        <p:nvSpPr>
          <p:cNvPr id="452" name="Google Shape;452;p42"/>
          <p:cNvSpPr txBox="1"/>
          <p:nvPr/>
        </p:nvSpPr>
        <p:spPr>
          <a:xfrm>
            <a:off x="521970" y="1401757"/>
            <a:ext cx="63627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Different normalization strategies, IS, UO, and osmolality are physiological, while all others are numerical </a:t>
            </a:r>
            <a:endParaRPr/>
          </a:p>
        </p:txBody>
      </p:sp>
      <p:sp>
        <p:nvSpPr>
          <p:cNvPr id="453" name="Google Shape;453;p42"/>
          <p:cNvSpPr txBox="1"/>
          <p:nvPr/>
        </p:nvSpPr>
        <p:spPr>
          <a:xfrm>
            <a:off x="7753590" y="6218153"/>
            <a:ext cx="30150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0">
                <a:solidFill>
                  <a:schemeClr val="dk1"/>
                </a:solidFill>
                <a:latin typeface="Helvetica Neue"/>
                <a:ea typeface="Helvetica Neue"/>
                <a:cs typeface="Helvetica Neue"/>
                <a:sym typeface="Helvetica Neue"/>
              </a:rPr>
              <a:t>Analytical Chemistry, Vol. 78, No. 13, July 1, 2006</a:t>
            </a:r>
            <a:endParaRPr sz="1000">
              <a:solidFill>
                <a:schemeClr val="dk1"/>
              </a:solidFill>
              <a:latin typeface="Helvetica Neue"/>
              <a:ea typeface="Helvetica Neue"/>
              <a:cs typeface="Helvetica Neue"/>
              <a:sym typeface="Helvetica Neue"/>
            </a:endParaRPr>
          </a:p>
        </p:txBody>
      </p:sp>
      <p:grpSp>
        <p:nvGrpSpPr>
          <p:cNvPr id="454" name="Google Shape;454;p42"/>
          <p:cNvGrpSpPr/>
          <p:nvPr/>
        </p:nvGrpSpPr>
        <p:grpSpPr>
          <a:xfrm>
            <a:off x="7653324" y="1089543"/>
            <a:ext cx="1438926" cy="1555083"/>
            <a:chOff x="7416841" y="1114093"/>
            <a:chExt cx="1438926" cy="1555083"/>
          </a:xfrm>
        </p:grpSpPr>
        <p:sp>
          <p:nvSpPr>
            <p:cNvPr id="455" name="Google Shape;455;p42"/>
            <p:cNvSpPr/>
            <p:nvPr/>
          </p:nvSpPr>
          <p:spPr>
            <a:xfrm>
              <a:off x="7416841"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6" name="Google Shape;456;p42"/>
            <p:cNvSpPr/>
            <p:nvPr/>
          </p:nvSpPr>
          <p:spPr>
            <a:xfrm>
              <a:off x="7538077"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7" name="Google Shape;457;p42"/>
            <p:cNvSpPr/>
            <p:nvPr/>
          </p:nvSpPr>
          <p:spPr>
            <a:xfrm>
              <a:off x="7656678" y="1114093"/>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8" name="Google Shape;458;p42"/>
            <p:cNvSpPr/>
            <p:nvPr/>
          </p:nvSpPr>
          <p:spPr>
            <a:xfrm>
              <a:off x="7777915"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9" name="Google Shape;459;p42"/>
            <p:cNvSpPr/>
            <p:nvPr/>
          </p:nvSpPr>
          <p:spPr>
            <a:xfrm>
              <a:off x="7896516"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0" name="Google Shape;460;p42"/>
            <p:cNvSpPr/>
            <p:nvPr/>
          </p:nvSpPr>
          <p:spPr>
            <a:xfrm>
              <a:off x="8017753"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1" name="Google Shape;461;p42"/>
            <p:cNvSpPr/>
            <p:nvPr/>
          </p:nvSpPr>
          <p:spPr>
            <a:xfrm>
              <a:off x="8136356"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2" name="Google Shape;462;p42"/>
            <p:cNvSpPr/>
            <p:nvPr/>
          </p:nvSpPr>
          <p:spPr>
            <a:xfrm>
              <a:off x="8257592"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3" name="Google Shape;463;p42"/>
            <p:cNvSpPr/>
            <p:nvPr/>
          </p:nvSpPr>
          <p:spPr>
            <a:xfrm>
              <a:off x="8376193"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4" name="Google Shape;464;p42"/>
            <p:cNvSpPr/>
            <p:nvPr/>
          </p:nvSpPr>
          <p:spPr>
            <a:xfrm>
              <a:off x="8497429"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5" name="Google Shape;465;p42"/>
            <p:cNvSpPr/>
            <p:nvPr/>
          </p:nvSpPr>
          <p:spPr>
            <a:xfrm>
              <a:off x="8616031"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6" name="Google Shape;466;p42"/>
            <p:cNvSpPr/>
            <p:nvPr/>
          </p:nvSpPr>
          <p:spPr>
            <a:xfrm>
              <a:off x="8737267" y="111409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7" name="Google Shape;467;p42"/>
            <p:cNvSpPr/>
            <p:nvPr/>
          </p:nvSpPr>
          <p:spPr>
            <a:xfrm>
              <a:off x="7416841"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8" name="Google Shape;468;p42"/>
            <p:cNvSpPr/>
            <p:nvPr/>
          </p:nvSpPr>
          <p:spPr>
            <a:xfrm>
              <a:off x="7538077"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9" name="Google Shape;469;p42"/>
            <p:cNvSpPr/>
            <p:nvPr/>
          </p:nvSpPr>
          <p:spPr>
            <a:xfrm>
              <a:off x="7656678" y="1232694"/>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0" name="Google Shape;470;p42"/>
            <p:cNvSpPr/>
            <p:nvPr/>
          </p:nvSpPr>
          <p:spPr>
            <a:xfrm>
              <a:off x="7777915"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1" name="Google Shape;471;p42"/>
            <p:cNvSpPr/>
            <p:nvPr/>
          </p:nvSpPr>
          <p:spPr>
            <a:xfrm>
              <a:off x="7896516"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42"/>
            <p:cNvSpPr/>
            <p:nvPr/>
          </p:nvSpPr>
          <p:spPr>
            <a:xfrm>
              <a:off x="8017753"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42"/>
            <p:cNvSpPr/>
            <p:nvPr/>
          </p:nvSpPr>
          <p:spPr>
            <a:xfrm>
              <a:off x="8136356"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42"/>
            <p:cNvSpPr/>
            <p:nvPr/>
          </p:nvSpPr>
          <p:spPr>
            <a:xfrm>
              <a:off x="8257592"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42"/>
            <p:cNvSpPr/>
            <p:nvPr/>
          </p:nvSpPr>
          <p:spPr>
            <a:xfrm>
              <a:off x="8376193"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6" name="Google Shape;476;p42"/>
            <p:cNvSpPr/>
            <p:nvPr/>
          </p:nvSpPr>
          <p:spPr>
            <a:xfrm>
              <a:off x="8497429"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42"/>
            <p:cNvSpPr/>
            <p:nvPr/>
          </p:nvSpPr>
          <p:spPr>
            <a:xfrm>
              <a:off x="8616031"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8" name="Google Shape;478;p42"/>
            <p:cNvSpPr/>
            <p:nvPr/>
          </p:nvSpPr>
          <p:spPr>
            <a:xfrm>
              <a:off x="8737267" y="1232694"/>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42"/>
            <p:cNvSpPr/>
            <p:nvPr/>
          </p:nvSpPr>
          <p:spPr>
            <a:xfrm>
              <a:off x="7416841"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0" name="Google Shape;480;p42"/>
            <p:cNvSpPr/>
            <p:nvPr/>
          </p:nvSpPr>
          <p:spPr>
            <a:xfrm>
              <a:off x="7538077"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1" name="Google Shape;481;p42"/>
            <p:cNvSpPr/>
            <p:nvPr/>
          </p:nvSpPr>
          <p:spPr>
            <a:xfrm>
              <a:off x="7656678"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2" name="Google Shape;482;p42"/>
            <p:cNvSpPr/>
            <p:nvPr/>
          </p:nvSpPr>
          <p:spPr>
            <a:xfrm>
              <a:off x="7777915"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3" name="Google Shape;483;p42"/>
            <p:cNvSpPr/>
            <p:nvPr/>
          </p:nvSpPr>
          <p:spPr>
            <a:xfrm>
              <a:off x="7896516"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42"/>
            <p:cNvSpPr/>
            <p:nvPr/>
          </p:nvSpPr>
          <p:spPr>
            <a:xfrm>
              <a:off x="8017753"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5" name="Google Shape;485;p42"/>
            <p:cNvSpPr/>
            <p:nvPr/>
          </p:nvSpPr>
          <p:spPr>
            <a:xfrm>
              <a:off x="8136356"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6" name="Google Shape;486;p42"/>
            <p:cNvSpPr/>
            <p:nvPr/>
          </p:nvSpPr>
          <p:spPr>
            <a:xfrm>
              <a:off x="8257592"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7" name="Google Shape;487;p42"/>
            <p:cNvSpPr/>
            <p:nvPr/>
          </p:nvSpPr>
          <p:spPr>
            <a:xfrm>
              <a:off x="8376193"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8" name="Google Shape;488;p42"/>
            <p:cNvSpPr/>
            <p:nvPr/>
          </p:nvSpPr>
          <p:spPr>
            <a:xfrm>
              <a:off x="8497429"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9" name="Google Shape;489;p42"/>
            <p:cNvSpPr/>
            <p:nvPr/>
          </p:nvSpPr>
          <p:spPr>
            <a:xfrm>
              <a:off x="8616031"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0" name="Google Shape;490;p42"/>
            <p:cNvSpPr/>
            <p:nvPr/>
          </p:nvSpPr>
          <p:spPr>
            <a:xfrm>
              <a:off x="8737267" y="1351294"/>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42"/>
            <p:cNvSpPr/>
            <p:nvPr/>
          </p:nvSpPr>
          <p:spPr>
            <a:xfrm>
              <a:off x="7416841"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2" name="Google Shape;492;p42"/>
            <p:cNvSpPr/>
            <p:nvPr/>
          </p:nvSpPr>
          <p:spPr>
            <a:xfrm>
              <a:off x="7538077"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3" name="Google Shape;493;p42"/>
            <p:cNvSpPr/>
            <p:nvPr/>
          </p:nvSpPr>
          <p:spPr>
            <a:xfrm>
              <a:off x="7656678" y="1467260"/>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4" name="Google Shape;494;p42"/>
            <p:cNvSpPr/>
            <p:nvPr/>
          </p:nvSpPr>
          <p:spPr>
            <a:xfrm>
              <a:off x="7777915"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42"/>
            <p:cNvSpPr/>
            <p:nvPr/>
          </p:nvSpPr>
          <p:spPr>
            <a:xfrm>
              <a:off x="7896516"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42"/>
            <p:cNvSpPr/>
            <p:nvPr/>
          </p:nvSpPr>
          <p:spPr>
            <a:xfrm>
              <a:off x="8017753"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7" name="Google Shape;497;p42"/>
            <p:cNvSpPr/>
            <p:nvPr/>
          </p:nvSpPr>
          <p:spPr>
            <a:xfrm>
              <a:off x="8136356"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8" name="Google Shape;498;p42"/>
            <p:cNvSpPr/>
            <p:nvPr/>
          </p:nvSpPr>
          <p:spPr>
            <a:xfrm>
              <a:off x="8257592"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9" name="Google Shape;499;p42"/>
            <p:cNvSpPr/>
            <p:nvPr/>
          </p:nvSpPr>
          <p:spPr>
            <a:xfrm>
              <a:off x="8376193"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0" name="Google Shape;500;p42"/>
            <p:cNvSpPr/>
            <p:nvPr/>
          </p:nvSpPr>
          <p:spPr>
            <a:xfrm>
              <a:off x="8497429"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1" name="Google Shape;501;p42"/>
            <p:cNvSpPr/>
            <p:nvPr/>
          </p:nvSpPr>
          <p:spPr>
            <a:xfrm>
              <a:off x="8616031"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42"/>
            <p:cNvSpPr/>
            <p:nvPr/>
          </p:nvSpPr>
          <p:spPr>
            <a:xfrm>
              <a:off x="8737267" y="146726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3" name="Google Shape;503;p42"/>
            <p:cNvSpPr/>
            <p:nvPr/>
          </p:nvSpPr>
          <p:spPr>
            <a:xfrm>
              <a:off x="7416841"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4" name="Google Shape;504;p42"/>
            <p:cNvSpPr/>
            <p:nvPr/>
          </p:nvSpPr>
          <p:spPr>
            <a:xfrm>
              <a:off x="7538077"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5" name="Google Shape;505;p42"/>
            <p:cNvSpPr/>
            <p:nvPr/>
          </p:nvSpPr>
          <p:spPr>
            <a:xfrm>
              <a:off x="7656678" y="1588496"/>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6" name="Google Shape;506;p42"/>
            <p:cNvSpPr/>
            <p:nvPr/>
          </p:nvSpPr>
          <p:spPr>
            <a:xfrm>
              <a:off x="7777915"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7" name="Google Shape;507;p42"/>
            <p:cNvSpPr/>
            <p:nvPr/>
          </p:nvSpPr>
          <p:spPr>
            <a:xfrm>
              <a:off x="7896516"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8" name="Google Shape;508;p42"/>
            <p:cNvSpPr/>
            <p:nvPr/>
          </p:nvSpPr>
          <p:spPr>
            <a:xfrm>
              <a:off x="8017753"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9" name="Google Shape;509;p42"/>
            <p:cNvSpPr/>
            <p:nvPr/>
          </p:nvSpPr>
          <p:spPr>
            <a:xfrm>
              <a:off x="8136356"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42"/>
            <p:cNvSpPr/>
            <p:nvPr/>
          </p:nvSpPr>
          <p:spPr>
            <a:xfrm>
              <a:off x="8257592"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2"/>
            <p:cNvSpPr/>
            <p:nvPr/>
          </p:nvSpPr>
          <p:spPr>
            <a:xfrm>
              <a:off x="8376193"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2"/>
            <p:cNvSpPr/>
            <p:nvPr/>
          </p:nvSpPr>
          <p:spPr>
            <a:xfrm>
              <a:off x="8497429"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2"/>
            <p:cNvSpPr/>
            <p:nvPr/>
          </p:nvSpPr>
          <p:spPr>
            <a:xfrm>
              <a:off x="8616031"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4" name="Google Shape;514;p42"/>
            <p:cNvSpPr/>
            <p:nvPr/>
          </p:nvSpPr>
          <p:spPr>
            <a:xfrm>
              <a:off x="8737267" y="1588496"/>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5" name="Google Shape;515;p42"/>
            <p:cNvSpPr/>
            <p:nvPr/>
          </p:nvSpPr>
          <p:spPr>
            <a:xfrm>
              <a:off x="7416841"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6" name="Google Shape;516;p42"/>
            <p:cNvSpPr/>
            <p:nvPr/>
          </p:nvSpPr>
          <p:spPr>
            <a:xfrm>
              <a:off x="7538077"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7" name="Google Shape;517;p42"/>
            <p:cNvSpPr/>
            <p:nvPr/>
          </p:nvSpPr>
          <p:spPr>
            <a:xfrm>
              <a:off x="7656678" y="1723536"/>
              <a:ext cx="118500" cy="118500"/>
            </a:xfrm>
            <a:prstGeom prst="rect">
              <a:avLst/>
            </a:prstGeom>
            <a:solidFill>
              <a:srgbClr val="FFC00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8" name="Google Shape;518;p42"/>
            <p:cNvSpPr/>
            <p:nvPr/>
          </p:nvSpPr>
          <p:spPr>
            <a:xfrm>
              <a:off x="7777915"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9" name="Google Shape;519;p42"/>
            <p:cNvSpPr/>
            <p:nvPr/>
          </p:nvSpPr>
          <p:spPr>
            <a:xfrm>
              <a:off x="7896516"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0" name="Google Shape;520;p42"/>
            <p:cNvSpPr/>
            <p:nvPr/>
          </p:nvSpPr>
          <p:spPr>
            <a:xfrm>
              <a:off x="8017753"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42"/>
            <p:cNvSpPr/>
            <p:nvPr/>
          </p:nvSpPr>
          <p:spPr>
            <a:xfrm>
              <a:off x="8136356"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2" name="Google Shape;522;p42"/>
            <p:cNvSpPr/>
            <p:nvPr/>
          </p:nvSpPr>
          <p:spPr>
            <a:xfrm>
              <a:off x="8257592"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3" name="Google Shape;523;p42"/>
            <p:cNvSpPr/>
            <p:nvPr/>
          </p:nvSpPr>
          <p:spPr>
            <a:xfrm>
              <a:off x="8376193"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4" name="Google Shape;524;p42"/>
            <p:cNvSpPr/>
            <p:nvPr/>
          </p:nvSpPr>
          <p:spPr>
            <a:xfrm>
              <a:off x="8497429"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42"/>
            <p:cNvSpPr/>
            <p:nvPr/>
          </p:nvSpPr>
          <p:spPr>
            <a:xfrm>
              <a:off x="8616031"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42"/>
            <p:cNvSpPr/>
            <p:nvPr/>
          </p:nvSpPr>
          <p:spPr>
            <a:xfrm>
              <a:off x="8737267" y="1723536"/>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42"/>
            <p:cNvSpPr/>
            <p:nvPr/>
          </p:nvSpPr>
          <p:spPr>
            <a:xfrm>
              <a:off x="7416841"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42"/>
            <p:cNvSpPr/>
            <p:nvPr/>
          </p:nvSpPr>
          <p:spPr>
            <a:xfrm>
              <a:off x="7538077"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9" name="Google Shape;529;p42"/>
            <p:cNvSpPr/>
            <p:nvPr/>
          </p:nvSpPr>
          <p:spPr>
            <a:xfrm>
              <a:off x="7656678" y="1842137"/>
              <a:ext cx="118500" cy="118500"/>
            </a:xfrm>
            <a:prstGeom prst="rect">
              <a:avLst/>
            </a:prstGeom>
            <a:solidFill>
              <a:srgbClr val="FFC00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0" name="Google Shape;530;p42"/>
            <p:cNvSpPr/>
            <p:nvPr/>
          </p:nvSpPr>
          <p:spPr>
            <a:xfrm>
              <a:off x="7777915"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1" name="Google Shape;531;p42"/>
            <p:cNvSpPr/>
            <p:nvPr/>
          </p:nvSpPr>
          <p:spPr>
            <a:xfrm>
              <a:off x="7896516"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2" name="Google Shape;532;p42"/>
            <p:cNvSpPr/>
            <p:nvPr/>
          </p:nvSpPr>
          <p:spPr>
            <a:xfrm>
              <a:off x="8017753"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3" name="Google Shape;533;p42"/>
            <p:cNvSpPr/>
            <p:nvPr/>
          </p:nvSpPr>
          <p:spPr>
            <a:xfrm>
              <a:off x="8136356"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4" name="Google Shape;534;p42"/>
            <p:cNvSpPr/>
            <p:nvPr/>
          </p:nvSpPr>
          <p:spPr>
            <a:xfrm>
              <a:off x="8257592"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5" name="Google Shape;535;p42"/>
            <p:cNvSpPr/>
            <p:nvPr/>
          </p:nvSpPr>
          <p:spPr>
            <a:xfrm>
              <a:off x="8376193"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6" name="Google Shape;536;p42"/>
            <p:cNvSpPr/>
            <p:nvPr/>
          </p:nvSpPr>
          <p:spPr>
            <a:xfrm>
              <a:off x="8497429"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7" name="Google Shape;537;p42"/>
            <p:cNvSpPr/>
            <p:nvPr/>
          </p:nvSpPr>
          <p:spPr>
            <a:xfrm>
              <a:off x="8616031"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8" name="Google Shape;538;p42"/>
            <p:cNvSpPr/>
            <p:nvPr/>
          </p:nvSpPr>
          <p:spPr>
            <a:xfrm>
              <a:off x="8737267" y="1842137"/>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9" name="Google Shape;539;p42"/>
            <p:cNvSpPr/>
            <p:nvPr/>
          </p:nvSpPr>
          <p:spPr>
            <a:xfrm>
              <a:off x="7416841"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0" name="Google Shape;540;p42"/>
            <p:cNvSpPr/>
            <p:nvPr/>
          </p:nvSpPr>
          <p:spPr>
            <a:xfrm>
              <a:off x="7538077"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42"/>
            <p:cNvSpPr/>
            <p:nvPr/>
          </p:nvSpPr>
          <p:spPr>
            <a:xfrm>
              <a:off x="7656678" y="1960738"/>
              <a:ext cx="118500" cy="118500"/>
            </a:xfrm>
            <a:prstGeom prst="rect">
              <a:avLst/>
            </a:prstGeom>
            <a:solidFill>
              <a:srgbClr val="FFC00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2" name="Google Shape;542;p42"/>
            <p:cNvSpPr/>
            <p:nvPr/>
          </p:nvSpPr>
          <p:spPr>
            <a:xfrm>
              <a:off x="7777915"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3" name="Google Shape;543;p42"/>
            <p:cNvSpPr/>
            <p:nvPr/>
          </p:nvSpPr>
          <p:spPr>
            <a:xfrm>
              <a:off x="7896516"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4" name="Google Shape;544;p42"/>
            <p:cNvSpPr/>
            <p:nvPr/>
          </p:nvSpPr>
          <p:spPr>
            <a:xfrm>
              <a:off x="8017753"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5" name="Google Shape;545;p42"/>
            <p:cNvSpPr/>
            <p:nvPr/>
          </p:nvSpPr>
          <p:spPr>
            <a:xfrm>
              <a:off x="8136356"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6" name="Google Shape;546;p42"/>
            <p:cNvSpPr/>
            <p:nvPr/>
          </p:nvSpPr>
          <p:spPr>
            <a:xfrm>
              <a:off x="8257592"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7" name="Google Shape;547;p42"/>
            <p:cNvSpPr/>
            <p:nvPr/>
          </p:nvSpPr>
          <p:spPr>
            <a:xfrm>
              <a:off x="8497429"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8" name="Google Shape;548;p42"/>
            <p:cNvSpPr/>
            <p:nvPr/>
          </p:nvSpPr>
          <p:spPr>
            <a:xfrm>
              <a:off x="8616031"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9" name="Google Shape;549;p42"/>
            <p:cNvSpPr/>
            <p:nvPr/>
          </p:nvSpPr>
          <p:spPr>
            <a:xfrm>
              <a:off x="8737267" y="1960738"/>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0" name="Google Shape;550;p42"/>
            <p:cNvSpPr/>
            <p:nvPr/>
          </p:nvSpPr>
          <p:spPr>
            <a:xfrm>
              <a:off x="7416841"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1" name="Google Shape;551;p42"/>
            <p:cNvSpPr/>
            <p:nvPr/>
          </p:nvSpPr>
          <p:spPr>
            <a:xfrm>
              <a:off x="7538077"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2" name="Google Shape;552;p42"/>
            <p:cNvSpPr/>
            <p:nvPr/>
          </p:nvSpPr>
          <p:spPr>
            <a:xfrm>
              <a:off x="7656678" y="2076703"/>
              <a:ext cx="118500" cy="118500"/>
            </a:xfrm>
            <a:prstGeom prst="rect">
              <a:avLst/>
            </a:prstGeom>
            <a:solidFill>
              <a:srgbClr val="FFC00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3" name="Google Shape;553;p42"/>
            <p:cNvSpPr/>
            <p:nvPr/>
          </p:nvSpPr>
          <p:spPr>
            <a:xfrm>
              <a:off x="7777915"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4" name="Google Shape;554;p42"/>
            <p:cNvSpPr/>
            <p:nvPr/>
          </p:nvSpPr>
          <p:spPr>
            <a:xfrm>
              <a:off x="7896516"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p42"/>
            <p:cNvSpPr/>
            <p:nvPr/>
          </p:nvSpPr>
          <p:spPr>
            <a:xfrm>
              <a:off x="8017753"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6" name="Google Shape;556;p42"/>
            <p:cNvSpPr/>
            <p:nvPr/>
          </p:nvSpPr>
          <p:spPr>
            <a:xfrm>
              <a:off x="8136356"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7" name="Google Shape;557;p42"/>
            <p:cNvSpPr/>
            <p:nvPr/>
          </p:nvSpPr>
          <p:spPr>
            <a:xfrm>
              <a:off x="8257592"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8" name="Google Shape;558;p42"/>
            <p:cNvSpPr/>
            <p:nvPr/>
          </p:nvSpPr>
          <p:spPr>
            <a:xfrm>
              <a:off x="8376193"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42"/>
            <p:cNvSpPr/>
            <p:nvPr/>
          </p:nvSpPr>
          <p:spPr>
            <a:xfrm>
              <a:off x="8497429"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0" name="Google Shape;560;p42"/>
            <p:cNvSpPr/>
            <p:nvPr/>
          </p:nvSpPr>
          <p:spPr>
            <a:xfrm>
              <a:off x="8616031"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1" name="Google Shape;561;p42"/>
            <p:cNvSpPr/>
            <p:nvPr/>
          </p:nvSpPr>
          <p:spPr>
            <a:xfrm>
              <a:off x="8737267" y="2076703"/>
              <a:ext cx="118500" cy="118500"/>
            </a:xfrm>
            <a:prstGeom prst="rect">
              <a:avLst/>
            </a:prstGeom>
            <a:solidFill>
              <a:srgbClr val="00B0F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2" name="Google Shape;562;p42"/>
            <p:cNvSpPr/>
            <p:nvPr/>
          </p:nvSpPr>
          <p:spPr>
            <a:xfrm>
              <a:off x="7416841"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3" name="Google Shape;563;p42"/>
            <p:cNvSpPr/>
            <p:nvPr/>
          </p:nvSpPr>
          <p:spPr>
            <a:xfrm>
              <a:off x="7538077"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4" name="Google Shape;564;p42"/>
            <p:cNvSpPr/>
            <p:nvPr/>
          </p:nvSpPr>
          <p:spPr>
            <a:xfrm>
              <a:off x="7656678" y="2197939"/>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5" name="Google Shape;565;p42"/>
            <p:cNvSpPr/>
            <p:nvPr/>
          </p:nvSpPr>
          <p:spPr>
            <a:xfrm>
              <a:off x="7777915"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6" name="Google Shape;566;p42"/>
            <p:cNvSpPr/>
            <p:nvPr/>
          </p:nvSpPr>
          <p:spPr>
            <a:xfrm>
              <a:off x="7896516"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7" name="Google Shape;567;p42"/>
            <p:cNvSpPr/>
            <p:nvPr/>
          </p:nvSpPr>
          <p:spPr>
            <a:xfrm>
              <a:off x="8017753"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8" name="Google Shape;568;p42"/>
            <p:cNvSpPr/>
            <p:nvPr/>
          </p:nvSpPr>
          <p:spPr>
            <a:xfrm>
              <a:off x="8136356"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9" name="Google Shape;569;p42"/>
            <p:cNvSpPr/>
            <p:nvPr/>
          </p:nvSpPr>
          <p:spPr>
            <a:xfrm>
              <a:off x="8257592"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0" name="Google Shape;570;p42"/>
            <p:cNvSpPr/>
            <p:nvPr/>
          </p:nvSpPr>
          <p:spPr>
            <a:xfrm>
              <a:off x="8376193"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1" name="Google Shape;571;p42"/>
            <p:cNvSpPr/>
            <p:nvPr/>
          </p:nvSpPr>
          <p:spPr>
            <a:xfrm>
              <a:off x="8497429"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2" name="Google Shape;572;p42"/>
            <p:cNvSpPr/>
            <p:nvPr/>
          </p:nvSpPr>
          <p:spPr>
            <a:xfrm>
              <a:off x="8616031"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3" name="Google Shape;573;p42"/>
            <p:cNvSpPr/>
            <p:nvPr/>
          </p:nvSpPr>
          <p:spPr>
            <a:xfrm>
              <a:off x="8737267" y="2197939"/>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4" name="Google Shape;574;p42"/>
            <p:cNvSpPr/>
            <p:nvPr/>
          </p:nvSpPr>
          <p:spPr>
            <a:xfrm>
              <a:off x="7416841"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5" name="Google Shape;575;p42"/>
            <p:cNvSpPr/>
            <p:nvPr/>
          </p:nvSpPr>
          <p:spPr>
            <a:xfrm>
              <a:off x="7538077"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6" name="Google Shape;576;p42"/>
            <p:cNvSpPr/>
            <p:nvPr/>
          </p:nvSpPr>
          <p:spPr>
            <a:xfrm>
              <a:off x="7656678" y="2313904"/>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7" name="Google Shape;577;p42"/>
            <p:cNvSpPr/>
            <p:nvPr/>
          </p:nvSpPr>
          <p:spPr>
            <a:xfrm>
              <a:off x="7777915"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8" name="Google Shape;578;p42"/>
            <p:cNvSpPr/>
            <p:nvPr/>
          </p:nvSpPr>
          <p:spPr>
            <a:xfrm>
              <a:off x="7896516"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9" name="Google Shape;579;p42"/>
            <p:cNvSpPr/>
            <p:nvPr/>
          </p:nvSpPr>
          <p:spPr>
            <a:xfrm>
              <a:off x="8017753"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42"/>
            <p:cNvSpPr/>
            <p:nvPr/>
          </p:nvSpPr>
          <p:spPr>
            <a:xfrm>
              <a:off x="8136356"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1" name="Google Shape;581;p42"/>
            <p:cNvSpPr/>
            <p:nvPr/>
          </p:nvSpPr>
          <p:spPr>
            <a:xfrm>
              <a:off x="8257592"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42"/>
            <p:cNvSpPr/>
            <p:nvPr/>
          </p:nvSpPr>
          <p:spPr>
            <a:xfrm>
              <a:off x="8376193"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3" name="Google Shape;583;p42"/>
            <p:cNvSpPr/>
            <p:nvPr/>
          </p:nvSpPr>
          <p:spPr>
            <a:xfrm>
              <a:off x="8497429"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4" name="Google Shape;584;p42"/>
            <p:cNvSpPr/>
            <p:nvPr/>
          </p:nvSpPr>
          <p:spPr>
            <a:xfrm>
              <a:off x="8616031"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5" name="Google Shape;585;p42"/>
            <p:cNvSpPr/>
            <p:nvPr/>
          </p:nvSpPr>
          <p:spPr>
            <a:xfrm>
              <a:off x="8737267" y="2313904"/>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6" name="Google Shape;586;p42"/>
            <p:cNvSpPr/>
            <p:nvPr/>
          </p:nvSpPr>
          <p:spPr>
            <a:xfrm>
              <a:off x="7416841"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7" name="Google Shape;587;p42"/>
            <p:cNvSpPr/>
            <p:nvPr/>
          </p:nvSpPr>
          <p:spPr>
            <a:xfrm>
              <a:off x="7538077"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8" name="Google Shape;588;p42"/>
            <p:cNvSpPr/>
            <p:nvPr/>
          </p:nvSpPr>
          <p:spPr>
            <a:xfrm>
              <a:off x="7656678" y="2435140"/>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9" name="Google Shape;589;p42"/>
            <p:cNvSpPr/>
            <p:nvPr/>
          </p:nvSpPr>
          <p:spPr>
            <a:xfrm>
              <a:off x="7777915"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0" name="Google Shape;590;p42"/>
            <p:cNvSpPr/>
            <p:nvPr/>
          </p:nvSpPr>
          <p:spPr>
            <a:xfrm>
              <a:off x="7896516"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1" name="Google Shape;591;p42"/>
            <p:cNvSpPr/>
            <p:nvPr/>
          </p:nvSpPr>
          <p:spPr>
            <a:xfrm>
              <a:off x="8017753"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2" name="Google Shape;592;p42"/>
            <p:cNvSpPr/>
            <p:nvPr/>
          </p:nvSpPr>
          <p:spPr>
            <a:xfrm>
              <a:off x="8257592"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3" name="Google Shape;593;p42"/>
            <p:cNvSpPr/>
            <p:nvPr/>
          </p:nvSpPr>
          <p:spPr>
            <a:xfrm>
              <a:off x="8376193"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4" name="Google Shape;594;p42"/>
            <p:cNvSpPr/>
            <p:nvPr/>
          </p:nvSpPr>
          <p:spPr>
            <a:xfrm>
              <a:off x="8497429"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5" name="Google Shape;595;p42"/>
            <p:cNvSpPr/>
            <p:nvPr/>
          </p:nvSpPr>
          <p:spPr>
            <a:xfrm>
              <a:off x="8616031"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6" name="Google Shape;596;p42"/>
            <p:cNvSpPr/>
            <p:nvPr/>
          </p:nvSpPr>
          <p:spPr>
            <a:xfrm>
              <a:off x="8737267" y="2435140"/>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7" name="Google Shape;597;p42"/>
            <p:cNvSpPr/>
            <p:nvPr/>
          </p:nvSpPr>
          <p:spPr>
            <a:xfrm>
              <a:off x="7416841"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8" name="Google Shape;598;p42"/>
            <p:cNvSpPr/>
            <p:nvPr/>
          </p:nvSpPr>
          <p:spPr>
            <a:xfrm>
              <a:off x="7538077"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9" name="Google Shape;599;p42"/>
            <p:cNvSpPr/>
            <p:nvPr/>
          </p:nvSpPr>
          <p:spPr>
            <a:xfrm>
              <a:off x="7656678" y="2550676"/>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0" name="Google Shape;600;p42"/>
            <p:cNvSpPr/>
            <p:nvPr/>
          </p:nvSpPr>
          <p:spPr>
            <a:xfrm>
              <a:off x="7777915"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1" name="Google Shape;601;p42"/>
            <p:cNvSpPr/>
            <p:nvPr/>
          </p:nvSpPr>
          <p:spPr>
            <a:xfrm>
              <a:off x="7896516"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2" name="Google Shape;602;p42"/>
            <p:cNvSpPr/>
            <p:nvPr/>
          </p:nvSpPr>
          <p:spPr>
            <a:xfrm>
              <a:off x="8017753"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3" name="Google Shape;603;p42"/>
            <p:cNvSpPr/>
            <p:nvPr/>
          </p:nvSpPr>
          <p:spPr>
            <a:xfrm>
              <a:off x="8136356"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4" name="Google Shape;604;p42"/>
            <p:cNvSpPr/>
            <p:nvPr/>
          </p:nvSpPr>
          <p:spPr>
            <a:xfrm>
              <a:off x="8257592"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5" name="Google Shape;605;p42"/>
            <p:cNvSpPr/>
            <p:nvPr/>
          </p:nvSpPr>
          <p:spPr>
            <a:xfrm>
              <a:off x="8376193"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6" name="Google Shape;606;p42"/>
            <p:cNvSpPr/>
            <p:nvPr/>
          </p:nvSpPr>
          <p:spPr>
            <a:xfrm>
              <a:off x="8497429"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7" name="Google Shape;607;p42"/>
            <p:cNvSpPr/>
            <p:nvPr/>
          </p:nvSpPr>
          <p:spPr>
            <a:xfrm>
              <a:off x="8616031"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8" name="Google Shape;608;p42"/>
            <p:cNvSpPr/>
            <p:nvPr/>
          </p:nvSpPr>
          <p:spPr>
            <a:xfrm>
              <a:off x="8737267" y="2550676"/>
              <a:ext cx="118500" cy="118500"/>
            </a:xfrm>
            <a:prstGeom prst="rect">
              <a:avLst/>
            </a:prstGeom>
            <a:solidFill>
              <a:srgbClr val="00B0F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609" name="Google Shape;609;p42"/>
          <p:cNvGrpSpPr/>
          <p:nvPr/>
        </p:nvGrpSpPr>
        <p:grpSpPr>
          <a:xfrm>
            <a:off x="9521194" y="718474"/>
            <a:ext cx="1729800" cy="2636381"/>
            <a:chOff x="9070594" y="1351294"/>
            <a:chExt cx="1729800" cy="2636381"/>
          </a:xfrm>
        </p:grpSpPr>
        <p:sp>
          <p:nvSpPr>
            <p:cNvPr id="610" name="Google Shape;610;p42"/>
            <p:cNvSpPr/>
            <p:nvPr/>
          </p:nvSpPr>
          <p:spPr>
            <a:xfrm>
              <a:off x="9257538"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1" name="Google Shape;611;p42"/>
            <p:cNvSpPr/>
            <p:nvPr/>
          </p:nvSpPr>
          <p:spPr>
            <a:xfrm>
              <a:off x="9378774"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2" name="Google Shape;612;p42"/>
            <p:cNvSpPr/>
            <p:nvPr/>
          </p:nvSpPr>
          <p:spPr>
            <a:xfrm>
              <a:off x="9497375"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3" name="Google Shape;613;p42"/>
            <p:cNvSpPr/>
            <p:nvPr/>
          </p:nvSpPr>
          <p:spPr>
            <a:xfrm>
              <a:off x="9618612"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4" name="Google Shape;614;p42"/>
            <p:cNvSpPr/>
            <p:nvPr/>
          </p:nvSpPr>
          <p:spPr>
            <a:xfrm>
              <a:off x="9737213"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5" name="Google Shape;615;p42"/>
            <p:cNvSpPr/>
            <p:nvPr/>
          </p:nvSpPr>
          <p:spPr>
            <a:xfrm>
              <a:off x="9858450"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6" name="Google Shape;616;p42"/>
            <p:cNvSpPr/>
            <p:nvPr/>
          </p:nvSpPr>
          <p:spPr>
            <a:xfrm>
              <a:off x="9977053"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7" name="Google Shape;617;p42"/>
            <p:cNvSpPr/>
            <p:nvPr/>
          </p:nvSpPr>
          <p:spPr>
            <a:xfrm>
              <a:off x="10098289"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42"/>
            <p:cNvSpPr/>
            <p:nvPr/>
          </p:nvSpPr>
          <p:spPr>
            <a:xfrm>
              <a:off x="10216890"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9" name="Google Shape;619;p42"/>
            <p:cNvSpPr/>
            <p:nvPr/>
          </p:nvSpPr>
          <p:spPr>
            <a:xfrm>
              <a:off x="10338126"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0" name="Google Shape;620;p42"/>
            <p:cNvSpPr/>
            <p:nvPr/>
          </p:nvSpPr>
          <p:spPr>
            <a:xfrm>
              <a:off x="10456728"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1" name="Google Shape;621;p42"/>
            <p:cNvSpPr/>
            <p:nvPr/>
          </p:nvSpPr>
          <p:spPr>
            <a:xfrm>
              <a:off x="10577964" y="1666871"/>
              <a:ext cx="118500" cy="1185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2" name="Google Shape;622;p42"/>
            <p:cNvSpPr/>
            <p:nvPr/>
          </p:nvSpPr>
          <p:spPr>
            <a:xfrm>
              <a:off x="9253395"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3" name="Google Shape;623;p42"/>
            <p:cNvSpPr/>
            <p:nvPr/>
          </p:nvSpPr>
          <p:spPr>
            <a:xfrm>
              <a:off x="9374631"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42"/>
            <p:cNvSpPr/>
            <p:nvPr/>
          </p:nvSpPr>
          <p:spPr>
            <a:xfrm>
              <a:off x="9493232"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42"/>
            <p:cNvSpPr/>
            <p:nvPr/>
          </p:nvSpPr>
          <p:spPr>
            <a:xfrm>
              <a:off x="9614469"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6" name="Google Shape;626;p42"/>
            <p:cNvSpPr/>
            <p:nvPr/>
          </p:nvSpPr>
          <p:spPr>
            <a:xfrm>
              <a:off x="9733070"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7" name="Google Shape;627;p42"/>
            <p:cNvSpPr/>
            <p:nvPr/>
          </p:nvSpPr>
          <p:spPr>
            <a:xfrm>
              <a:off x="9854307"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8" name="Google Shape;628;p42"/>
            <p:cNvSpPr/>
            <p:nvPr/>
          </p:nvSpPr>
          <p:spPr>
            <a:xfrm>
              <a:off x="9972910"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42"/>
            <p:cNvSpPr/>
            <p:nvPr/>
          </p:nvSpPr>
          <p:spPr>
            <a:xfrm>
              <a:off x="10094146"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42"/>
            <p:cNvSpPr/>
            <p:nvPr/>
          </p:nvSpPr>
          <p:spPr>
            <a:xfrm>
              <a:off x="10212747"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1" name="Google Shape;631;p42"/>
            <p:cNvSpPr/>
            <p:nvPr/>
          </p:nvSpPr>
          <p:spPr>
            <a:xfrm>
              <a:off x="10333983"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2" name="Google Shape;632;p42"/>
            <p:cNvSpPr/>
            <p:nvPr/>
          </p:nvSpPr>
          <p:spPr>
            <a:xfrm>
              <a:off x="10452585"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3" name="Google Shape;633;p42"/>
            <p:cNvSpPr/>
            <p:nvPr/>
          </p:nvSpPr>
          <p:spPr>
            <a:xfrm>
              <a:off x="10573821" y="1351294"/>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4" name="Google Shape;634;p42"/>
            <p:cNvSpPr txBox="1"/>
            <p:nvPr/>
          </p:nvSpPr>
          <p:spPr>
            <a:xfrm>
              <a:off x="9544567" y="1457046"/>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Divided by</a:t>
              </a:r>
              <a:endParaRPr sz="1000">
                <a:solidFill>
                  <a:schemeClr val="dk1"/>
                </a:solidFill>
                <a:latin typeface="Calibri"/>
                <a:ea typeface="Calibri"/>
                <a:cs typeface="Calibri"/>
                <a:sym typeface="Calibri"/>
              </a:endParaRPr>
            </a:p>
          </p:txBody>
        </p:sp>
        <p:sp>
          <p:nvSpPr>
            <p:cNvPr id="635" name="Google Shape;635;p42"/>
            <p:cNvSpPr/>
            <p:nvPr/>
          </p:nvSpPr>
          <p:spPr>
            <a:xfrm>
              <a:off x="9245641" y="2404323"/>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6" name="Google Shape;636;p42"/>
            <p:cNvSpPr/>
            <p:nvPr/>
          </p:nvSpPr>
          <p:spPr>
            <a:xfrm>
              <a:off x="9366877" y="233144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7" name="Google Shape;637;p42"/>
            <p:cNvSpPr/>
            <p:nvPr/>
          </p:nvSpPr>
          <p:spPr>
            <a:xfrm>
              <a:off x="9485478" y="2404323"/>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8" name="Google Shape;638;p42"/>
            <p:cNvSpPr/>
            <p:nvPr/>
          </p:nvSpPr>
          <p:spPr>
            <a:xfrm>
              <a:off x="9606715" y="2404323"/>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9" name="Google Shape;639;p42"/>
            <p:cNvSpPr/>
            <p:nvPr/>
          </p:nvSpPr>
          <p:spPr>
            <a:xfrm>
              <a:off x="9725316" y="233144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0" name="Google Shape;640;p42"/>
            <p:cNvSpPr/>
            <p:nvPr/>
          </p:nvSpPr>
          <p:spPr>
            <a:xfrm>
              <a:off x="9846553" y="2076703"/>
              <a:ext cx="118500" cy="373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1" name="Google Shape;641;p42"/>
            <p:cNvSpPr/>
            <p:nvPr/>
          </p:nvSpPr>
          <p:spPr>
            <a:xfrm>
              <a:off x="9965156" y="2404323"/>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2" name="Google Shape;642;p42"/>
            <p:cNvSpPr/>
            <p:nvPr/>
          </p:nvSpPr>
          <p:spPr>
            <a:xfrm>
              <a:off x="10086392" y="233144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3" name="Google Shape;643;p42"/>
            <p:cNvSpPr/>
            <p:nvPr/>
          </p:nvSpPr>
          <p:spPr>
            <a:xfrm>
              <a:off x="10204993" y="2404323"/>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4" name="Google Shape;644;p42"/>
            <p:cNvSpPr/>
            <p:nvPr/>
          </p:nvSpPr>
          <p:spPr>
            <a:xfrm>
              <a:off x="10326229" y="2404323"/>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5" name="Google Shape;645;p42"/>
            <p:cNvSpPr/>
            <p:nvPr/>
          </p:nvSpPr>
          <p:spPr>
            <a:xfrm>
              <a:off x="10444831" y="2266777"/>
              <a:ext cx="118500" cy="1833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6" name="Google Shape;646;p42"/>
            <p:cNvSpPr/>
            <p:nvPr/>
          </p:nvSpPr>
          <p:spPr>
            <a:xfrm>
              <a:off x="10566067" y="233144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7" name="Google Shape;647;p42"/>
            <p:cNvSpPr/>
            <p:nvPr/>
          </p:nvSpPr>
          <p:spPr>
            <a:xfrm>
              <a:off x="9245641" y="3177637"/>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42"/>
            <p:cNvSpPr/>
            <p:nvPr/>
          </p:nvSpPr>
          <p:spPr>
            <a:xfrm>
              <a:off x="9366877" y="3177637"/>
              <a:ext cx="1200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9" name="Google Shape;649;p42"/>
            <p:cNvSpPr/>
            <p:nvPr/>
          </p:nvSpPr>
          <p:spPr>
            <a:xfrm>
              <a:off x="9485478" y="3177637"/>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0" name="Google Shape;650;p42"/>
            <p:cNvSpPr/>
            <p:nvPr/>
          </p:nvSpPr>
          <p:spPr>
            <a:xfrm>
              <a:off x="9606715" y="3177637"/>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1" name="Google Shape;651;p42"/>
            <p:cNvSpPr/>
            <p:nvPr/>
          </p:nvSpPr>
          <p:spPr>
            <a:xfrm>
              <a:off x="9725316" y="3177637"/>
              <a:ext cx="1272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2" name="Google Shape;652;p42"/>
            <p:cNvSpPr/>
            <p:nvPr/>
          </p:nvSpPr>
          <p:spPr>
            <a:xfrm>
              <a:off x="9846553" y="2850017"/>
              <a:ext cx="118500" cy="3732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3" name="Google Shape;653;p42"/>
            <p:cNvSpPr/>
            <p:nvPr/>
          </p:nvSpPr>
          <p:spPr>
            <a:xfrm>
              <a:off x="9965157" y="2977135"/>
              <a:ext cx="116100" cy="2463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4" name="Google Shape;654;p42"/>
            <p:cNvSpPr/>
            <p:nvPr/>
          </p:nvSpPr>
          <p:spPr>
            <a:xfrm>
              <a:off x="10086392" y="3104755"/>
              <a:ext cx="118500" cy="1185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5" name="Google Shape;655;p42"/>
            <p:cNvSpPr/>
            <p:nvPr/>
          </p:nvSpPr>
          <p:spPr>
            <a:xfrm>
              <a:off x="10204993" y="3177637"/>
              <a:ext cx="1353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6" name="Google Shape;656;p42"/>
            <p:cNvSpPr/>
            <p:nvPr/>
          </p:nvSpPr>
          <p:spPr>
            <a:xfrm>
              <a:off x="10326229" y="3177637"/>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42"/>
            <p:cNvSpPr/>
            <p:nvPr/>
          </p:nvSpPr>
          <p:spPr>
            <a:xfrm>
              <a:off x="10444831" y="3177637"/>
              <a:ext cx="1089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8" name="Google Shape;658;p42"/>
            <p:cNvSpPr/>
            <p:nvPr/>
          </p:nvSpPr>
          <p:spPr>
            <a:xfrm>
              <a:off x="10566067" y="3177637"/>
              <a:ext cx="109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659" name="Google Shape;659;p42"/>
            <p:cNvCxnSpPr/>
            <p:nvPr/>
          </p:nvCxnSpPr>
          <p:spPr>
            <a:xfrm>
              <a:off x="9906000" y="2689860"/>
              <a:ext cx="0" cy="647700"/>
            </a:xfrm>
            <a:prstGeom prst="straightConnector1">
              <a:avLst/>
            </a:prstGeom>
            <a:noFill/>
            <a:ln w="15875" cap="flat" cmpd="sng">
              <a:solidFill>
                <a:schemeClr val="dk1"/>
              </a:solidFill>
              <a:prstDash val="solid"/>
              <a:miter lim="800000"/>
              <a:headEnd type="none" w="sm" len="sm"/>
              <a:tailEnd type="none" w="sm" len="sm"/>
            </a:ln>
          </p:spPr>
        </p:cxnSp>
        <p:cxnSp>
          <p:nvCxnSpPr>
            <p:cNvPr id="660" name="Google Shape;660;p42"/>
            <p:cNvCxnSpPr/>
            <p:nvPr/>
          </p:nvCxnSpPr>
          <p:spPr>
            <a:xfrm>
              <a:off x="9070594" y="2409299"/>
              <a:ext cx="1729800" cy="0"/>
            </a:xfrm>
            <a:prstGeom prst="straightConnector1">
              <a:avLst/>
            </a:prstGeom>
            <a:noFill/>
            <a:ln w="15875" cap="flat" cmpd="sng">
              <a:solidFill>
                <a:schemeClr val="dk1"/>
              </a:solidFill>
              <a:prstDash val="solid"/>
              <a:miter lim="800000"/>
              <a:headEnd type="none" w="sm" len="sm"/>
              <a:tailEnd type="none" w="sm" len="sm"/>
            </a:ln>
          </p:spPr>
        </p:cxnSp>
        <p:sp>
          <p:nvSpPr>
            <p:cNvPr id="661" name="Google Shape;661;p42"/>
            <p:cNvSpPr/>
            <p:nvPr/>
          </p:nvSpPr>
          <p:spPr>
            <a:xfrm>
              <a:off x="9838407" y="1842137"/>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2" name="Google Shape;662;p42"/>
            <p:cNvSpPr/>
            <p:nvPr/>
          </p:nvSpPr>
          <p:spPr>
            <a:xfrm>
              <a:off x="9823167" y="2526252"/>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3" name="Google Shape;663;p42"/>
            <p:cNvSpPr/>
            <p:nvPr/>
          </p:nvSpPr>
          <p:spPr>
            <a:xfrm>
              <a:off x="9222915"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4" name="Google Shape;664;p42"/>
            <p:cNvSpPr/>
            <p:nvPr/>
          </p:nvSpPr>
          <p:spPr>
            <a:xfrm>
              <a:off x="9344151"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5" name="Google Shape;665;p42"/>
            <p:cNvSpPr/>
            <p:nvPr/>
          </p:nvSpPr>
          <p:spPr>
            <a:xfrm>
              <a:off x="9462752"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6" name="Google Shape;666;p42"/>
            <p:cNvSpPr/>
            <p:nvPr/>
          </p:nvSpPr>
          <p:spPr>
            <a:xfrm>
              <a:off x="9583989"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7" name="Google Shape;667;p42"/>
            <p:cNvSpPr/>
            <p:nvPr/>
          </p:nvSpPr>
          <p:spPr>
            <a:xfrm>
              <a:off x="9702590"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8" name="Google Shape;668;p42"/>
            <p:cNvSpPr/>
            <p:nvPr/>
          </p:nvSpPr>
          <p:spPr>
            <a:xfrm>
              <a:off x="9823827"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9" name="Google Shape;669;p42"/>
            <p:cNvSpPr/>
            <p:nvPr/>
          </p:nvSpPr>
          <p:spPr>
            <a:xfrm>
              <a:off x="9942430"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0" name="Google Shape;670;p42"/>
            <p:cNvSpPr/>
            <p:nvPr/>
          </p:nvSpPr>
          <p:spPr>
            <a:xfrm>
              <a:off x="10063666"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1" name="Google Shape;671;p42"/>
            <p:cNvSpPr/>
            <p:nvPr/>
          </p:nvSpPr>
          <p:spPr>
            <a:xfrm>
              <a:off x="10182267"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2" name="Google Shape;672;p42"/>
            <p:cNvSpPr/>
            <p:nvPr/>
          </p:nvSpPr>
          <p:spPr>
            <a:xfrm>
              <a:off x="10303503"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3" name="Google Shape;673;p42"/>
            <p:cNvSpPr/>
            <p:nvPr/>
          </p:nvSpPr>
          <p:spPr>
            <a:xfrm>
              <a:off x="10422105"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4" name="Google Shape;674;p42"/>
            <p:cNvSpPr/>
            <p:nvPr/>
          </p:nvSpPr>
          <p:spPr>
            <a:xfrm>
              <a:off x="10543341" y="3595551"/>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5" name="Google Shape;675;p42"/>
            <p:cNvSpPr/>
            <p:nvPr/>
          </p:nvSpPr>
          <p:spPr>
            <a:xfrm>
              <a:off x="9823167" y="3383280"/>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6" name="Google Shape;676;p42"/>
            <p:cNvSpPr txBox="1"/>
            <p:nvPr/>
          </p:nvSpPr>
          <p:spPr>
            <a:xfrm>
              <a:off x="9579737" y="3703814"/>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Divided by</a:t>
              </a:r>
              <a:endParaRPr sz="1000">
                <a:solidFill>
                  <a:schemeClr val="dk1"/>
                </a:solidFill>
                <a:latin typeface="Calibri"/>
                <a:ea typeface="Calibri"/>
                <a:cs typeface="Calibri"/>
                <a:sym typeface="Calibri"/>
              </a:endParaRPr>
            </a:p>
          </p:txBody>
        </p:sp>
        <p:sp>
          <p:nvSpPr>
            <p:cNvPr id="677" name="Google Shape;677;p42"/>
            <p:cNvSpPr/>
            <p:nvPr/>
          </p:nvSpPr>
          <p:spPr>
            <a:xfrm>
              <a:off x="9869029" y="3942075"/>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78" name="Google Shape;678;p42"/>
          <p:cNvSpPr txBox="1"/>
          <p:nvPr/>
        </p:nvSpPr>
        <p:spPr>
          <a:xfrm>
            <a:off x="7575559" y="494505"/>
            <a:ext cx="26580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Probabilistic Quotient Normalization</a:t>
            </a:r>
            <a:endParaRPr/>
          </a:p>
        </p:txBody>
      </p:sp>
      <p:pic>
        <p:nvPicPr>
          <p:cNvPr id="679" name="Google Shape;679;p42"/>
          <p:cNvPicPr preferRelativeResize="0"/>
          <p:nvPr/>
        </p:nvPicPr>
        <p:blipFill rotWithShape="1">
          <a:blip r:embed="rId5">
            <a:alphaModFix/>
          </a:blip>
          <a:srcRect/>
          <a:stretch/>
        </p:blipFill>
        <p:spPr>
          <a:xfrm>
            <a:off x="521970" y="1863422"/>
            <a:ext cx="6362701" cy="4787900"/>
          </a:xfrm>
          <a:prstGeom prst="rect">
            <a:avLst/>
          </a:prstGeom>
          <a:noFill/>
          <a:ln>
            <a:noFill/>
          </a:ln>
        </p:spPr>
      </p:pic>
      <p:sp>
        <p:nvSpPr>
          <p:cNvPr id="680" name="Google Shape;680;p42"/>
          <p:cNvSpPr txBox="1"/>
          <p:nvPr/>
        </p:nvSpPr>
        <p:spPr>
          <a:xfrm>
            <a:off x="3400937" y="2008807"/>
            <a:ext cx="1188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Internal standard </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Creatinine</a:t>
            </a:r>
            <a:endParaRPr sz="1000">
              <a:solidFill>
                <a:schemeClr val="dk1"/>
              </a:solidFill>
              <a:latin typeface="Calibri"/>
              <a:ea typeface="Calibri"/>
              <a:cs typeface="Calibri"/>
              <a:sym typeface="Calibri"/>
            </a:endParaRPr>
          </a:p>
        </p:txBody>
      </p:sp>
      <p:sp>
        <p:nvSpPr>
          <p:cNvPr id="681" name="Google Shape;681;p42"/>
          <p:cNvSpPr txBox="1"/>
          <p:nvPr/>
        </p:nvSpPr>
        <p:spPr>
          <a:xfrm>
            <a:off x="5536050" y="2017310"/>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Urinary output</a:t>
            </a:r>
            <a:endParaRPr sz="1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43"/>
          <p:cNvSpPr txBox="1">
            <a:spLocks noGrp="1"/>
          </p:cNvSpPr>
          <p:nvPr>
            <p:ph type="title"/>
          </p:nvPr>
        </p:nvSpPr>
        <p:spPr>
          <a:xfrm>
            <a:off x="347400" y="192419"/>
            <a:ext cx="7131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Helvetica Neue"/>
              <a:buNone/>
            </a:pPr>
            <a:r>
              <a:rPr lang="en-US" sz="2400">
                <a:latin typeface="Helvetica Neue"/>
                <a:ea typeface="Helvetica Neue"/>
                <a:cs typeface="Helvetica Neue"/>
                <a:sym typeface="Helvetica Neue"/>
              </a:rPr>
              <a:t>Normalization to internal standards</a:t>
            </a:r>
            <a:endParaRPr/>
          </a:p>
        </p:txBody>
      </p:sp>
      <p:pic>
        <p:nvPicPr>
          <p:cNvPr id="687" name="Google Shape;687;p43"/>
          <p:cNvPicPr preferRelativeResize="0"/>
          <p:nvPr/>
        </p:nvPicPr>
        <p:blipFill rotWithShape="1">
          <a:blip r:embed="rId3">
            <a:alphaModFix/>
          </a:blip>
          <a:srcRect/>
          <a:stretch/>
        </p:blipFill>
        <p:spPr>
          <a:xfrm>
            <a:off x="622300" y="1377950"/>
            <a:ext cx="5473700" cy="3568700"/>
          </a:xfrm>
          <a:prstGeom prst="rect">
            <a:avLst/>
          </a:prstGeom>
          <a:noFill/>
          <a:ln>
            <a:noFill/>
          </a:ln>
        </p:spPr>
      </p:pic>
      <p:cxnSp>
        <p:nvCxnSpPr>
          <p:cNvPr id="688" name="Google Shape;688;p43"/>
          <p:cNvCxnSpPr>
            <a:stCxn id="687" idx="0"/>
          </p:cNvCxnSpPr>
          <p:nvPr/>
        </p:nvCxnSpPr>
        <p:spPr>
          <a:xfrm flipH="1">
            <a:off x="2491850" y="1377950"/>
            <a:ext cx="867300" cy="405000"/>
          </a:xfrm>
          <a:prstGeom prst="straightConnector1">
            <a:avLst/>
          </a:prstGeom>
          <a:noFill/>
          <a:ln w="9525" cap="flat" cmpd="sng">
            <a:solidFill>
              <a:schemeClr val="accent1"/>
            </a:solidFill>
            <a:prstDash val="solid"/>
            <a:miter lim="800000"/>
            <a:headEnd type="none" w="sm" len="sm"/>
            <a:tailEnd type="triangle" w="med" len="med"/>
          </a:ln>
        </p:spPr>
      </p:cxnSp>
      <p:cxnSp>
        <p:nvCxnSpPr>
          <p:cNvPr id="689" name="Google Shape;689;p43"/>
          <p:cNvCxnSpPr>
            <a:stCxn id="687" idx="0"/>
          </p:cNvCxnSpPr>
          <p:nvPr/>
        </p:nvCxnSpPr>
        <p:spPr>
          <a:xfrm>
            <a:off x="3359150" y="1377950"/>
            <a:ext cx="553800" cy="351900"/>
          </a:xfrm>
          <a:prstGeom prst="straightConnector1">
            <a:avLst/>
          </a:prstGeom>
          <a:noFill/>
          <a:ln w="9525" cap="flat" cmpd="sng">
            <a:solidFill>
              <a:schemeClr val="accent1"/>
            </a:solidFill>
            <a:prstDash val="solid"/>
            <a:miter lim="800000"/>
            <a:headEnd type="none" w="sm" len="sm"/>
            <a:tailEnd type="triangle" w="med" len="med"/>
          </a:ln>
        </p:spPr>
      </p:cxnSp>
      <p:sp>
        <p:nvSpPr>
          <p:cNvPr id="690" name="Google Shape;690;p43"/>
          <p:cNvSpPr txBox="1"/>
          <p:nvPr/>
        </p:nvSpPr>
        <p:spPr>
          <a:xfrm>
            <a:off x="2925445" y="1100951"/>
            <a:ext cx="1040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Creatinine</a:t>
            </a:r>
            <a:endParaRPr/>
          </a:p>
        </p:txBody>
      </p:sp>
      <p:sp>
        <p:nvSpPr>
          <p:cNvPr id="691" name="Google Shape;691;p43"/>
          <p:cNvSpPr txBox="1"/>
          <p:nvPr/>
        </p:nvSpPr>
        <p:spPr>
          <a:xfrm>
            <a:off x="6370900" y="192418"/>
            <a:ext cx="71310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Helvetica Neue"/>
              <a:buNone/>
            </a:pPr>
            <a:r>
              <a:rPr lang="en-US" sz="2400">
                <a:solidFill>
                  <a:schemeClr val="dk1"/>
                </a:solidFill>
                <a:latin typeface="Helvetica Neue"/>
                <a:ea typeface="Helvetica Neue"/>
                <a:cs typeface="Helvetica Neue"/>
                <a:sym typeface="Helvetica Neue"/>
              </a:rPr>
              <a:t>Normalization to external standards</a:t>
            </a:r>
            <a:endParaRPr/>
          </a:p>
        </p:txBody>
      </p:sp>
      <p:sp>
        <p:nvSpPr>
          <p:cNvPr id="692" name="Google Shape;692;p43"/>
          <p:cNvSpPr txBox="1"/>
          <p:nvPr/>
        </p:nvSpPr>
        <p:spPr>
          <a:xfrm>
            <a:off x="706121" y="5036821"/>
            <a:ext cx="49632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Creatine can also be measured externally. It is a widely use methods in clinical research as a lot of markers are reported as ratios to creatinine, instead of concentrations.</a:t>
            </a:r>
            <a:endParaRPr/>
          </a:p>
          <a:p>
            <a:pPr marL="0" marR="0" lvl="0" indent="0" algn="l" rtl="0">
              <a:spcBef>
                <a:spcPts val="0"/>
              </a:spcBef>
              <a:spcAft>
                <a:spcPts val="0"/>
              </a:spcAft>
              <a:buNone/>
            </a:pPr>
            <a:endParaRPr sz="12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200">
                <a:solidFill>
                  <a:schemeClr val="dk1"/>
                </a:solidFill>
                <a:latin typeface="Helvetica Neue"/>
                <a:ea typeface="Helvetica Neue"/>
                <a:cs typeface="Helvetica Neue"/>
                <a:sym typeface="Helvetica Neue"/>
              </a:rPr>
              <a:t>It is a good normalization strategy as long as the we don’t expect the phenomenon under study to affect the release of creatinine in urine.</a:t>
            </a:r>
            <a:endParaRPr/>
          </a:p>
        </p:txBody>
      </p:sp>
      <p:pic>
        <p:nvPicPr>
          <p:cNvPr id="693" name="Google Shape;693;p43"/>
          <p:cNvPicPr preferRelativeResize="0"/>
          <p:nvPr/>
        </p:nvPicPr>
        <p:blipFill rotWithShape="1">
          <a:blip r:embed="rId4">
            <a:alphaModFix/>
          </a:blip>
          <a:srcRect/>
          <a:stretch/>
        </p:blipFill>
        <p:spPr>
          <a:xfrm>
            <a:off x="6543809" y="1243814"/>
            <a:ext cx="840390" cy="3246438"/>
          </a:xfrm>
          <a:prstGeom prst="rect">
            <a:avLst/>
          </a:prstGeom>
          <a:noFill/>
          <a:ln>
            <a:noFill/>
          </a:ln>
        </p:spPr>
      </p:pic>
      <p:pic>
        <p:nvPicPr>
          <p:cNvPr id="694" name="Google Shape;694;p43"/>
          <p:cNvPicPr preferRelativeResize="0"/>
          <p:nvPr/>
        </p:nvPicPr>
        <p:blipFill rotWithShape="1">
          <a:blip r:embed="rId5">
            <a:alphaModFix/>
          </a:blip>
          <a:srcRect/>
          <a:stretch/>
        </p:blipFill>
        <p:spPr>
          <a:xfrm>
            <a:off x="7384199" y="1243814"/>
            <a:ext cx="840390" cy="3246438"/>
          </a:xfrm>
          <a:prstGeom prst="rect">
            <a:avLst/>
          </a:prstGeom>
          <a:noFill/>
          <a:ln>
            <a:noFill/>
          </a:ln>
        </p:spPr>
      </p:pic>
      <p:grpSp>
        <p:nvGrpSpPr>
          <p:cNvPr id="695" name="Google Shape;695;p43"/>
          <p:cNvGrpSpPr/>
          <p:nvPr/>
        </p:nvGrpSpPr>
        <p:grpSpPr>
          <a:xfrm>
            <a:off x="8264835" y="1323744"/>
            <a:ext cx="2190000" cy="1931259"/>
            <a:chOff x="8264835" y="1323744"/>
            <a:chExt cx="2190000" cy="1931259"/>
          </a:xfrm>
        </p:grpSpPr>
        <p:sp>
          <p:nvSpPr>
            <p:cNvPr id="696" name="Google Shape;696;p43"/>
            <p:cNvSpPr/>
            <p:nvPr/>
          </p:nvSpPr>
          <p:spPr>
            <a:xfrm>
              <a:off x="9855522" y="1323744"/>
              <a:ext cx="201000" cy="1779000"/>
            </a:xfrm>
            <a:prstGeom prst="ellipse">
              <a:avLst/>
            </a:prstGeom>
            <a:solidFill>
              <a:srgbClr val="00B05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7" name="Google Shape;697;p43"/>
            <p:cNvSpPr/>
            <p:nvPr/>
          </p:nvSpPr>
          <p:spPr>
            <a:xfrm>
              <a:off x="8560573" y="1670381"/>
              <a:ext cx="161700" cy="1432200"/>
            </a:xfrm>
            <a:prstGeom prst="ellipse">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8" name="Google Shape;698;p43"/>
            <p:cNvSpPr/>
            <p:nvPr/>
          </p:nvSpPr>
          <p:spPr>
            <a:xfrm>
              <a:off x="9314119" y="1982549"/>
              <a:ext cx="126600" cy="1120200"/>
            </a:xfrm>
            <a:prstGeom prst="ellipse">
              <a:avLst/>
            </a:prstGeom>
            <a:solidFill>
              <a:srgbClr val="00B05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9" name="Google Shape;699;p43"/>
            <p:cNvSpPr/>
            <p:nvPr/>
          </p:nvSpPr>
          <p:spPr>
            <a:xfrm>
              <a:off x="8264835" y="2397603"/>
              <a:ext cx="2190000" cy="857400"/>
            </a:xfrm>
            <a:prstGeom prst="round1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00" name="Google Shape;700;p43"/>
            <p:cNvCxnSpPr/>
            <p:nvPr/>
          </p:nvCxnSpPr>
          <p:spPr>
            <a:xfrm>
              <a:off x="8487745" y="2386527"/>
              <a:ext cx="1619100" cy="11100"/>
            </a:xfrm>
            <a:prstGeom prst="straightConnector1">
              <a:avLst/>
            </a:prstGeom>
            <a:noFill/>
            <a:ln w="12700" cap="flat" cmpd="sng">
              <a:solidFill>
                <a:schemeClr val="dk1"/>
              </a:solidFill>
              <a:prstDash val="solid"/>
              <a:miter lim="800000"/>
              <a:headEnd type="none" w="sm" len="sm"/>
              <a:tailEnd type="none" w="sm" len="sm"/>
            </a:ln>
          </p:spPr>
        </p:cxnSp>
      </p:grpSp>
      <p:sp>
        <p:nvSpPr>
          <p:cNvPr id="701" name="Google Shape;701;p43"/>
          <p:cNvSpPr txBox="1"/>
          <p:nvPr/>
        </p:nvSpPr>
        <p:spPr>
          <a:xfrm>
            <a:off x="8186684" y="1419512"/>
            <a:ext cx="1048800" cy="26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ERETIC peak</a:t>
            </a:r>
            <a:endParaRPr/>
          </a:p>
        </p:txBody>
      </p:sp>
      <p:sp>
        <p:nvSpPr>
          <p:cNvPr id="702" name="Google Shape;702;p43"/>
          <p:cNvSpPr txBox="1"/>
          <p:nvPr/>
        </p:nvSpPr>
        <p:spPr>
          <a:xfrm>
            <a:off x="10037854" y="1290102"/>
            <a:ext cx="1442700" cy="76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Peaks of compounds of known concentrations</a:t>
            </a:r>
            <a:endParaRPr/>
          </a:p>
        </p:txBody>
      </p:sp>
      <p:grpSp>
        <p:nvGrpSpPr>
          <p:cNvPr id="703" name="Google Shape;703;p43"/>
          <p:cNvGrpSpPr/>
          <p:nvPr/>
        </p:nvGrpSpPr>
        <p:grpSpPr>
          <a:xfrm>
            <a:off x="8186683" y="2841061"/>
            <a:ext cx="3325357" cy="1836792"/>
            <a:chOff x="8186683" y="2841061"/>
            <a:chExt cx="3325357" cy="1836792"/>
          </a:xfrm>
        </p:grpSpPr>
        <p:sp>
          <p:nvSpPr>
            <p:cNvPr id="704" name="Google Shape;704;p43"/>
            <p:cNvSpPr/>
            <p:nvPr/>
          </p:nvSpPr>
          <p:spPr>
            <a:xfrm>
              <a:off x="9871493" y="3202355"/>
              <a:ext cx="201000" cy="1315200"/>
            </a:xfrm>
            <a:prstGeom prst="ellipse">
              <a:avLst/>
            </a:prstGeom>
            <a:solidFill>
              <a:srgbClr val="C55A1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5" name="Google Shape;705;p43"/>
            <p:cNvSpPr/>
            <p:nvPr/>
          </p:nvSpPr>
          <p:spPr>
            <a:xfrm>
              <a:off x="8576544" y="3085139"/>
              <a:ext cx="161700" cy="1432200"/>
            </a:xfrm>
            <a:prstGeom prst="ellipse">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6" name="Google Shape;706;p43"/>
            <p:cNvSpPr/>
            <p:nvPr/>
          </p:nvSpPr>
          <p:spPr>
            <a:xfrm>
              <a:off x="9330090" y="3277225"/>
              <a:ext cx="110700" cy="1240200"/>
            </a:xfrm>
            <a:prstGeom prst="ellipse">
              <a:avLst/>
            </a:prstGeom>
            <a:solidFill>
              <a:srgbClr val="C55A1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07" name="Google Shape;707;p43"/>
            <p:cNvCxnSpPr/>
            <p:nvPr/>
          </p:nvCxnSpPr>
          <p:spPr>
            <a:xfrm>
              <a:off x="8503716" y="3801285"/>
              <a:ext cx="1619100" cy="11100"/>
            </a:xfrm>
            <a:prstGeom prst="straightConnector1">
              <a:avLst/>
            </a:prstGeom>
            <a:noFill/>
            <a:ln w="12700" cap="flat" cmpd="sng">
              <a:solidFill>
                <a:schemeClr val="dk1"/>
              </a:solidFill>
              <a:prstDash val="solid"/>
              <a:miter lim="800000"/>
              <a:headEnd type="none" w="sm" len="sm"/>
              <a:tailEnd type="none" w="sm" len="sm"/>
            </a:ln>
          </p:spPr>
        </p:cxnSp>
        <p:sp>
          <p:nvSpPr>
            <p:cNvPr id="708" name="Google Shape;708;p43"/>
            <p:cNvSpPr/>
            <p:nvPr/>
          </p:nvSpPr>
          <p:spPr>
            <a:xfrm>
              <a:off x="9513706" y="3429000"/>
              <a:ext cx="110700" cy="1240200"/>
            </a:xfrm>
            <a:prstGeom prst="ellipse">
              <a:avLst/>
            </a:prstGeom>
            <a:solidFill>
              <a:srgbClr val="C55A1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9" name="Google Shape;709;p43"/>
            <p:cNvSpPr/>
            <p:nvPr/>
          </p:nvSpPr>
          <p:spPr>
            <a:xfrm>
              <a:off x="9600791" y="3340613"/>
              <a:ext cx="110700" cy="1240200"/>
            </a:xfrm>
            <a:prstGeom prst="ellipse">
              <a:avLst/>
            </a:prstGeom>
            <a:solidFill>
              <a:srgbClr val="C55A1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0" name="Google Shape;710;p43"/>
            <p:cNvSpPr/>
            <p:nvPr/>
          </p:nvSpPr>
          <p:spPr>
            <a:xfrm>
              <a:off x="8280806" y="3820453"/>
              <a:ext cx="2190000" cy="857400"/>
            </a:xfrm>
            <a:prstGeom prst="round1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43"/>
            <p:cNvSpPr txBox="1"/>
            <p:nvPr/>
          </p:nvSpPr>
          <p:spPr>
            <a:xfrm>
              <a:off x="8186683" y="2841061"/>
              <a:ext cx="1048800" cy="26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ERETIC peak</a:t>
              </a:r>
              <a:endParaRPr/>
            </a:p>
          </p:txBody>
        </p:sp>
        <p:sp>
          <p:nvSpPr>
            <p:cNvPr id="712" name="Google Shape;712;p43"/>
            <p:cNvSpPr txBox="1"/>
            <p:nvPr/>
          </p:nvSpPr>
          <p:spPr>
            <a:xfrm>
              <a:off x="10069340" y="2946302"/>
              <a:ext cx="1442700" cy="76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Peaks of compounds of unknown concentrations</a:t>
              </a:r>
              <a:endParaRPr/>
            </a:p>
          </p:txBody>
        </p:sp>
      </p:grpSp>
      <p:pic>
        <p:nvPicPr>
          <p:cNvPr id="713" name="Google Shape;713;p43"/>
          <p:cNvPicPr preferRelativeResize="0"/>
          <p:nvPr/>
        </p:nvPicPr>
        <p:blipFill rotWithShape="1">
          <a:blip r:embed="rId6">
            <a:alphaModFix amt="61000"/>
          </a:blip>
          <a:srcRect/>
          <a:stretch/>
        </p:blipFill>
        <p:spPr>
          <a:xfrm>
            <a:off x="8457023" y="3863738"/>
            <a:ext cx="1759626" cy="838700"/>
          </a:xfrm>
          <a:prstGeom prst="rect">
            <a:avLst/>
          </a:prstGeom>
          <a:noFill/>
          <a:ln>
            <a:noFill/>
          </a:ln>
        </p:spPr>
      </p:pic>
      <p:pic>
        <p:nvPicPr>
          <p:cNvPr id="714" name="Google Shape;714;p43"/>
          <p:cNvPicPr preferRelativeResize="0"/>
          <p:nvPr/>
        </p:nvPicPr>
        <p:blipFill rotWithShape="1">
          <a:blip r:embed="rId6">
            <a:alphaModFix amt="19000"/>
          </a:blip>
          <a:srcRect/>
          <a:stretch/>
        </p:blipFill>
        <p:spPr>
          <a:xfrm>
            <a:off x="8457023" y="4668433"/>
            <a:ext cx="1759626" cy="838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44"/>
          <p:cNvSpPr txBox="1">
            <a:spLocks noGrp="1"/>
          </p:cNvSpPr>
          <p:nvPr>
            <p:ph type="title"/>
          </p:nvPr>
        </p:nvSpPr>
        <p:spPr>
          <a:xfrm>
            <a:off x="347400" y="192419"/>
            <a:ext cx="52458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Helvetica Neue"/>
              <a:buNone/>
            </a:pPr>
            <a:r>
              <a:rPr lang="en-US" sz="2400">
                <a:latin typeface="Helvetica Neue"/>
                <a:ea typeface="Helvetica Neue"/>
                <a:cs typeface="Helvetica Neue"/>
                <a:sym typeface="Helvetica Neue"/>
              </a:rPr>
              <a:t>Normalization will affect our interpretation of the models</a:t>
            </a:r>
            <a:endParaRPr/>
          </a:p>
        </p:txBody>
      </p:sp>
      <p:pic>
        <p:nvPicPr>
          <p:cNvPr id="720" name="Google Shape;720;p44"/>
          <p:cNvPicPr preferRelativeResize="0"/>
          <p:nvPr/>
        </p:nvPicPr>
        <p:blipFill rotWithShape="1">
          <a:blip r:embed="rId3">
            <a:alphaModFix/>
          </a:blip>
          <a:srcRect/>
          <a:stretch/>
        </p:blipFill>
        <p:spPr>
          <a:xfrm>
            <a:off x="304552" y="2232212"/>
            <a:ext cx="5071689" cy="3551182"/>
          </a:xfrm>
          <a:prstGeom prst="rect">
            <a:avLst/>
          </a:prstGeom>
          <a:noFill/>
          <a:ln>
            <a:noFill/>
          </a:ln>
        </p:spPr>
      </p:pic>
      <p:sp>
        <p:nvSpPr>
          <p:cNvPr id="721" name="Google Shape;721;p44"/>
          <p:cNvSpPr/>
          <p:nvPr/>
        </p:nvSpPr>
        <p:spPr>
          <a:xfrm>
            <a:off x="5977399"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2" name="Google Shape;722;p44"/>
          <p:cNvSpPr/>
          <p:nvPr/>
        </p:nvSpPr>
        <p:spPr>
          <a:xfrm>
            <a:off x="6098635"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3" name="Google Shape;723;p44"/>
          <p:cNvSpPr/>
          <p:nvPr/>
        </p:nvSpPr>
        <p:spPr>
          <a:xfrm>
            <a:off x="6217236" y="3116610"/>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4" name="Google Shape;724;p44"/>
          <p:cNvSpPr/>
          <p:nvPr/>
        </p:nvSpPr>
        <p:spPr>
          <a:xfrm>
            <a:off x="6338473"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5" name="Google Shape;725;p44"/>
          <p:cNvSpPr/>
          <p:nvPr/>
        </p:nvSpPr>
        <p:spPr>
          <a:xfrm>
            <a:off x="6457074"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6" name="Google Shape;726;p44"/>
          <p:cNvSpPr/>
          <p:nvPr/>
        </p:nvSpPr>
        <p:spPr>
          <a:xfrm>
            <a:off x="6578311"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7" name="Google Shape;727;p44"/>
          <p:cNvSpPr/>
          <p:nvPr/>
        </p:nvSpPr>
        <p:spPr>
          <a:xfrm>
            <a:off x="6696914"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8" name="Google Shape;728;p44"/>
          <p:cNvSpPr/>
          <p:nvPr/>
        </p:nvSpPr>
        <p:spPr>
          <a:xfrm>
            <a:off x="6818150"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9" name="Google Shape;729;p44"/>
          <p:cNvSpPr/>
          <p:nvPr/>
        </p:nvSpPr>
        <p:spPr>
          <a:xfrm>
            <a:off x="6936751"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0" name="Google Shape;730;p44"/>
          <p:cNvSpPr/>
          <p:nvPr/>
        </p:nvSpPr>
        <p:spPr>
          <a:xfrm>
            <a:off x="7057987"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1" name="Google Shape;731;p44"/>
          <p:cNvSpPr/>
          <p:nvPr/>
        </p:nvSpPr>
        <p:spPr>
          <a:xfrm>
            <a:off x="7176589"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2" name="Google Shape;732;p44"/>
          <p:cNvSpPr/>
          <p:nvPr/>
        </p:nvSpPr>
        <p:spPr>
          <a:xfrm>
            <a:off x="7297825" y="3116610"/>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3" name="Google Shape;733;p44"/>
          <p:cNvSpPr/>
          <p:nvPr/>
        </p:nvSpPr>
        <p:spPr>
          <a:xfrm>
            <a:off x="5977399"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4" name="Google Shape;734;p44"/>
          <p:cNvSpPr/>
          <p:nvPr/>
        </p:nvSpPr>
        <p:spPr>
          <a:xfrm>
            <a:off x="6098635"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5" name="Google Shape;735;p44"/>
          <p:cNvSpPr/>
          <p:nvPr/>
        </p:nvSpPr>
        <p:spPr>
          <a:xfrm>
            <a:off x="6217236" y="3235211"/>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6" name="Google Shape;736;p44"/>
          <p:cNvSpPr/>
          <p:nvPr/>
        </p:nvSpPr>
        <p:spPr>
          <a:xfrm>
            <a:off x="6338473"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7" name="Google Shape;737;p44"/>
          <p:cNvSpPr/>
          <p:nvPr/>
        </p:nvSpPr>
        <p:spPr>
          <a:xfrm>
            <a:off x="6457074"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8" name="Google Shape;738;p44"/>
          <p:cNvSpPr/>
          <p:nvPr/>
        </p:nvSpPr>
        <p:spPr>
          <a:xfrm>
            <a:off x="6578311"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9" name="Google Shape;739;p44"/>
          <p:cNvSpPr/>
          <p:nvPr/>
        </p:nvSpPr>
        <p:spPr>
          <a:xfrm>
            <a:off x="6696914"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0" name="Google Shape;740;p44"/>
          <p:cNvSpPr/>
          <p:nvPr/>
        </p:nvSpPr>
        <p:spPr>
          <a:xfrm>
            <a:off x="6818150"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1" name="Google Shape;741;p44"/>
          <p:cNvSpPr/>
          <p:nvPr/>
        </p:nvSpPr>
        <p:spPr>
          <a:xfrm>
            <a:off x="6936751"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2" name="Google Shape;742;p44"/>
          <p:cNvSpPr/>
          <p:nvPr/>
        </p:nvSpPr>
        <p:spPr>
          <a:xfrm>
            <a:off x="7057987"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3" name="Google Shape;743;p44"/>
          <p:cNvSpPr/>
          <p:nvPr/>
        </p:nvSpPr>
        <p:spPr>
          <a:xfrm>
            <a:off x="7176589"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4" name="Google Shape;744;p44"/>
          <p:cNvSpPr/>
          <p:nvPr/>
        </p:nvSpPr>
        <p:spPr>
          <a:xfrm>
            <a:off x="7297825" y="32352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5" name="Google Shape;745;p44"/>
          <p:cNvSpPr/>
          <p:nvPr/>
        </p:nvSpPr>
        <p:spPr>
          <a:xfrm>
            <a:off x="5977399"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6" name="Google Shape;746;p44"/>
          <p:cNvSpPr/>
          <p:nvPr/>
        </p:nvSpPr>
        <p:spPr>
          <a:xfrm>
            <a:off x="6098635"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7" name="Google Shape;747;p44"/>
          <p:cNvSpPr/>
          <p:nvPr/>
        </p:nvSpPr>
        <p:spPr>
          <a:xfrm>
            <a:off x="6217236"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8" name="Google Shape;748;p44"/>
          <p:cNvSpPr/>
          <p:nvPr/>
        </p:nvSpPr>
        <p:spPr>
          <a:xfrm>
            <a:off x="6338473"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9" name="Google Shape;749;p44"/>
          <p:cNvSpPr/>
          <p:nvPr/>
        </p:nvSpPr>
        <p:spPr>
          <a:xfrm>
            <a:off x="6457074"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0" name="Google Shape;750;p44"/>
          <p:cNvSpPr/>
          <p:nvPr/>
        </p:nvSpPr>
        <p:spPr>
          <a:xfrm>
            <a:off x="6578311"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1" name="Google Shape;751;p44"/>
          <p:cNvSpPr/>
          <p:nvPr/>
        </p:nvSpPr>
        <p:spPr>
          <a:xfrm>
            <a:off x="6696914"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2" name="Google Shape;752;p44"/>
          <p:cNvSpPr/>
          <p:nvPr/>
        </p:nvSpPr>
        <p:spPr>
          <a:xfrm>
            <a:off x="6818150"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3" name="Google Shape;753;p44"/>
          <p:cNvSpPr/>
          <p:nvPr/>
        </p:nvSpPr>
        <p:spPr>
          <a:xfrm>
            <a:off x="6936751"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4" name="Google Shape;754;p44"/>
          <p:cNvSpPr/>
          <p:nvPr/>
        </p:nvSpPr>
        <p:spPr>
          <a:xfrm>
            <a:off x="7057987"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5" name="Google Shape;755;p44"/>
          <p:cNvSpPr/>
          <p:nvPr/>
        </p:nvSpPr>
        <p:spPr>
          <a:xfrm>
            <a:off x="7176589"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6" name="Google Shape;756;p44"/>
          <p:cNvSpPr/>
          <p:nvPr/>
        </p:nvSpPr>
        <p:spPr>
          <a:xfrm>
            <a:off x="7297825" y="3353811"/>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7" name="Google Shape;757;p44"/>
          <p:cNvSpPr/>
          <p:nvPr/>
        </p:nvSpPr>
        <p:spPr>
          <a:xfrm>
            <a:off x="5977399"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8" name="Google Shape;758;p44"/>
          <p:cNvSpPr/>
          <p:nvPr/>
        </p:nvSpPr>
        <p:spPr>
          <a:xfrm>
            <a:off x="6098635"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9" name="Google Shape;759;p44"/>
          <p:cNvSpPr/>
          <p:nvPr/>
        </p:nvSpPr>
        <p:spPr>
          <a:xfrm>
            <a:off x="6217236" y="3469777"/>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0" name="Google Shape;760;p44"/>
          <p:cNvSpPr/>
          <p:nvPr/>
        </p:nvSpPr>
        <p:spPr>
          <a:xfrm>
            <a:off x="6338473"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1" name="Google Shape;761;p44"/>
          <p:cNvSpPr/>
          <p:nvPr/>
        </p:nvSpPr>
        <p:spPr>
          <a:xfrm>
            <a:off x="6457074"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2" name="Google Shape;762;p44"/>
          <p:cNvSpPr/>
          <p:nvPr/>
        </p:nvSpPr>
        <p:spPr>
          <a:xfrm>
            <a:off x="6578311"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3" name="Google Shape;763;p44"/>
          <p:cNvSpPr/>
          <p:nvPr/>
        </p:nvSpPr>
        <p:spPr>
          <a:xfrm>
            <a:off x="6696914"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4" name="Google Shape;764;p44"/>
          <p:cNvSpPr/>
          <p:nvPr/>
        </p:nvSpPr>
        <p:spPr>
          <a:xfrm>
            <a:off x="6818150"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5" name="Google Shape;765;p44"/>
          <p:cNvSpPr/>
          <p:nvPr/>
        </p:nvSpPr>
        <p:spPr>
          <a:xfrm>
            <a:off x="6936751"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6" name="Google Shape;766;p44"/>
          <p:cNvSpPr/>
          <p:nvPr/>
        </p:nvSpPr>
        <p:spPr>
          <a:xfrm>
            <a:off x="7057987"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7" name="Google Shape;767;p44"/>
          <p:cNvSpPr/>
          <p:nvPr/>
        </p:nvSpPr>
        <p:spPr>
          <a:xfrm>
            <a:off x="7176589"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8" name="Google Shape;768;p44"/>
          <p:cNvSpPr/>
          <p:nvPr/>
        </p:nvSpPr>
        <p:spPr>
          <a:xfrm>
            <a:off x="7297825" y="3469777"/>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9" name="Google Shape;769;p44"/>
          <p:cNvSpPr/>
          <p:nvPr/>
        </p:nvSpPr>
        <p:spPr>
          <a:xfrm>
            <a:off x="5977399"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0" name="Google Shape;770;p44"/>
          <p:cNvSpPr/>
          <p:nvPr/>
        </p:nvSpPr>
        <p:spPr>
          <a:xfrm>
            <a:off x="6098635"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1" name="Google Shape;771;p44"/>
          <p:cNvSpPr/>
          <p:nvPr/>
        </p:nvSpPr>
        <p:spPr>
          <a:xfrm>
            <a:off x="6217236" y="3591013"/>
            <a:ext cx="118500" cy="1185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2" name="Google Shape;772;p44"/>
          <p:cNvSpPr/>
          <p:nvPr/>
        </p:nvSpPr>
        <p:spPr>
          <a:xfrm>
            <a:off x="6338473"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3" name="Google Shape;773;p44"/>
          <p:cNvSpPr/>
          <p:nvPr/>
        </p:nvSpPr>
        <p:spPr>
          <a:xfrm>
            <a:off x="6457074"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4" name="Google Shape;774;p44"/>
          <p:cNvSpPr/>
          <p:nvPr/>
        </p:nvSpPr>
        <p:spPr>
          <a:xfrm>
            <a:off x="6578311"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5" name="Google Shape;775;p44"/>
          <p:cNvSpPr/>
          <p:nvPr/>
        </p:nvSpPr>
        <p:spPr>
          <a:xfrm>
            <a:off x="6696914"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6" name="Google Shape;776;p44"/>
          <p:cNvSpPr/>
          <p:nvPr/>
        </p:nvSpPr>
        <p:spPr>
          <a:xfrm>
            <a:off x="6818150"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7" name="Google Shape;777;p44"/>
          <p:cNvSpPr/>
          <p:nvPr/>
        </p:nvSpPr>
        <p:spPr>
          <a:xfrm>
            <a:off x="6936751"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8" name="Google Shape;778;p44"/>
          <p:cNvSpPr/>
          <p:nvPr/>
        </p:nvSpPr>
        <p:spPr>
          <a:xfrm>
            <a:off x="7057987"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9" name="Google Shape;779;p44"/>
          <p:cNvSpPr/>
          <p:nvPr/>
        </p:nvSpPr>
        <p:spPr>
          <a:xfrm>
            <a:off x="7176589"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0" name="Google Shape;780;p44"/>
          <p:cNvSpPr/>
          <p:nvPr/>
        </p:nvSpPr>
        <p:spPr>
          <a:xfrm>
            <a:off x="7297825" y="3591013"/>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1" name="Google Shape;781;p44"/>
          <p:cNvSpPr/>
          <p:nvPr/>
        </p:nvSpPr>
        <p:spPr>
          <a:xfrm>
            <a:off x="8020449"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2" name="Google Shape;782;p44"/>
          <p:cNvSpPr/>
          <p:nvPr/>
        </p:nvSpPr>
        <p:spPr>
          <a:xfrm>
            <a:off x="8141685"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3" name="Google Shape;783;p44"/>
          <p:cNvSpPr/>
          <p:nvPr/>
        </p:nvSpPr>
        <p:spPr>
          <a:xfrm>
            <a:off x="8260286"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4" name="Google Shape;784;p44"/>
          <p:cNvSpPr/>
          <p:nvPr/>
        </p:nvSpPr>
        <p:spPr>
          <a:xfrm>
            <a:off x="8381523"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5" name="Google Shape;785;p44"/>
          <p:cNvSpPr/>
          <p:nvPr/>
        </p:nvSpPr>
        <p:spPr>
          <a:xfrm>
            <a:off x="8500124"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6" name="Google Shape;786;p44"/>
          <p:cNvSpPr/>
          <p:nvPr/>
        </p:nvSpPr>
        <p:spPr>
          <a:xfrm>
            <a:off x="8621361"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7" name="Google Shape;787;p44"/>
          <p:cNvSpPr/>
          <p:nvPr/>
        </p:nvSpPr>
        <p:spPr>
          <a:xfrm>
            <a:off x="8739964"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8" name="Google Shape;788;p44"/>
          <p:cNvSpPr/>
          <p:nvPr/>
        </p:nvSpPr>
        <p:spPr>
          <a:xfrm>
            <a:off x="8861200"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9" name="Google Shape;789;p44"/>
          <p:cNvSpPr/>
          <p:nvPr/>
        </p:nvSpPr>
        <p:spPr>
          <a:xfrm>
            <a:off x="8979801"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0" name="Google Shape;790;p44"/>
          <p:cNvSpPr/>
          <p:nvPr/>
        </p:nvSpPr>
        <p:spPr>
          <a:xfrm>
            <a:off x="9101037"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1" name="Google Shape;791;p44"/>
          <p:cNvSpPr/>
          <p:nvPr/>
        </p:nvSpPr>
        <p:spPr>
          <a:xfrm>
            <a:off x="9219639"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2" name="Google Shape;792;p44"/>
          <p:cNvSpPr/>
          <p:nvPr/>
        </p:nvSpPr>
        <p:spPr>
          <a:xfrm>
            <a:off x="9340875"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3" name="Google Shape;793;p44"/>
          <p:cNvSpPr/>
          <p:nvPr/>
        </p:nvSpPr>
        <p:spPr>
          <a:xfrm>
            <a:off x="8020450"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4" name="Google Shape;794;p44"/>
          <p:cNvSpPr/>
          <p:nvPr/>
        </p:nvSpPr>
        <p:spPr>
          <a:xfrm>
            <a:off x="8141686"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5" name="Google Shape;795;p44"/>
          <p:cNvSpPr/>
          <p:nvPr/>
        </p:nvSpPr>
        <p:spPr>
          <a:xfrm>
            <a:off x="8260287"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6" name="Google Shape;796;p44"/>
          <p:cNvSpPr/>
          <p:nvPr/>
        </p:nvSpPr>
        <p:spPr>
          <a:xfrm>
            <a:off x="8381524"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7" name="Google Shape;797;p44"/>
          <p:cNvSpPr/>
          <p:nvPr/>
        </p:nvSpPr>
        <p:spPr>
          <a:xfrm>
            <a:off x="8500125"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8" name="Google Shape;798;p44"/>
          <p:cNvSpPr/>
          <p:nvPr/>
        </p:nvSpPr>
        <p:spPr>
          <a:xfrm>
            <a:off x="8621362"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9" name="Google Shape;799;p44"/>
          <p:cNvSpPr/>
          <p:nvPr/>
        </p:nvSpPr>
        <p:spPr>
          <a:xfrm>
            <a:off x="8739965"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0" name="Google Shape;800;p44"/>
          <p:cNvSpPr/>
          <p:nvPr/>
        </p:nvSpPr>
        <p:spPr>
          <a:xfrm>
            <a:off x="8861201"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1" name="Google Shape;801;p44"/>
          <p:cNvSpPr/>
          <p:nvPr/>
        </p:nvSpPr>
        <p:spPr>
          <a:xfrm>
            <a:off x="8979802"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2" name="Google Shape;802;p44"/>
          <p:cNvSpPr/>
          <p:nvPr/>
        </p:nvSpPr>
        <p:spPr>
          <a:xfrm>
            <a:off x="9101038"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3" name="Google Shape;803;p44"/>
          <p:cNvSpPr/>
          <p:nvPr/>
        </p:nvSpPr>
        <p:spPr>
          <a:xfrm>
            <a:off x="9219640"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4" name="Google Shape;804;p44"/>
          <p:cNvSpPr/>
          <p:nvPr/>
        </p:nvSpPr>
        <p:spPr>
          <a:xfrm>
            <a:off x="9340876" y="2975483"/>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5" name="Google Shape;805;p44"/>
          <p:cNvSpPr txBox="1"/>
          <p:nvPr/>
        </p:nvSpPr>
        <p:spPr>
          <a:xfrm>
            <a:off x="8311622" y="3081235"/>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Divided by</a:t>
            </a:r>
            <a:endParaRPr sz="1000">
              <a:solidFill>
                <a:schemeClr val="dk1"/>
              </a:solidFill>
              <a:latin typeface="Calibri"/>
              <a:ea typeface="Calibri"/>
              <a:cs typeface="Calibri"/>
              <a:sym typeface="Calibri"/>
            </a:endParaRPr>
          </a:p>
        </p:txBody>
      </p:sp>
      <p:sp>
        <p:nvSpPr>
          <p:cNvPr id="806" name="Google Shape;806;p44"/>
          <p:cNvSpPr/>
          <p:nvPr/>
        </p:nvSpPr>
        <p:spPr>
          <a:xfrm>
            <a:off x="8012696"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7" name="Google Shape;807;p44"/>
          <p:cNvSpPr/>
          <p:nvPr/>
        </p:nvSpPr>
        <p:spPr>
          <a:xfrm>
            <a:off x="8133932" y="4801826"/>
            <a:ext cx="1200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8" name="Google Shape;808;p44"/>
          <p:cNvSpPr/>
          <p:nvPr/>
        </p:nvSpPr>
        <p:spPr>
          <a:xfrm>
            <a:off x="8252533"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9" name="Google Shape;809;p44"/>
          <p:cNvSpPr/>
          <p:nvPr/>
        </p:nvSpPr>
        <p:spPr>
          <a:xfrm>
            <a:off x="8373770"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0" name="Google Shape;810;p44"/>
          <p:cNvSpPr/>
          <p:nvPr/>
        </p:nvSpPr>
        <p:spPr>
          <a:xfrm>
            <a:off x="8492371" y="4801826"/>
            <a:ext cx="1272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1" name="Google Shape;811;p44"/>
          <p:cNvSpPr/>
          <p:nvPr/>
        </p:nvSpPr>
        <p:spPr>
          <a:xfrm>
            <a:off x="8613608" y="4474206"/>
            <a:ext cx="118500" cy="3732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2" name="Google Shape;812;p44"/>
          <p:cNvSpPr/>
          <p:nvPr/>
        </p:nvSpPr>
        <p:spPr>
          <a:xfrm>
            <a:off x="8732212" y="4601324"/>
            <a:ext cx="116100" cy="2463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3" name="Google Shape;813;p44"/>
          <p:cNvSpPr/>
          <p:nvPr/>
        </p:nvSpPr>
        <p:spPr>
          <a:xfrm>
            <a:off x="8853447" y="4728944"/>
            <a:ext cx="118500" cy="1185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4" name="Google Shape;814;p44"/>
          <p:cNvSpPr/>
          <p:nvPr/>
        </p:nvSpPr>
        <p:spPr>
          <a:xfrm>
            <a:off x="8972048" y="4801826"/>
            <a:ext cx="1353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5" name="Google Shape;815;p44"/>
          <p:cNvSpPr/>
          <p:nvPr/>
        </p:nvSpPr>
        <p:spPr>
          <a:xfrm>
            <a:off x="9093284"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6" name="Google Shape;816;p44"/>
          <p:cNvSpPr/>
          <p:nvPr/>
        </p:nvSpPr>
        <p:spPr>
          <a:xfrm>
            <a:off x="9211886" y="4801826"/>
            <a:ext cx="1089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44"/>
          <p:cNvSpPr/>
          <p:nvPr/>
        </p:nvSpPr>
        <p:spPr>
          <a:xfrm>
            <a:off x="9333122" y="4801826"/>
            <a:ext cx="109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18" name="Google Shape;818;p44"/>
          <p:cNvCxnSpPr/>
          <p:nvPr/>
        </p:nvCxnSpPr>
        <p:spPr>
          <a:xfrm>
            <a:off x="8673055" y="4314049"/>
            <a:ext cx="0" cy="647700"/>
          </a:xfrm>
          <a:prstGeom prst="straightConnector1">
            <a:avLst/>
          </a:prstGeom>
          <a:noFill/>
          <a:ln w="15875" cap="flat" cmpd="sng">
            <a:solidFill>
              <a:schemeClr val="dk1"/>
            </a:solidFill>
            <a:prstDash val="solid"/>
            <a:miter lim="800000"/>
            <a:headEnd type="none" w="sm" len="sm"/>
            <a:tailEnd type="none" w="sm" len="sm"/>
          </a:ln>
        </p:spPr>
      </p:cxnSp>
      <p:grpSp>
        <p:nvGrpSpPr>
          <p:cNvPr id="819" name="Google Shape;819;p44"/>
          <p:cNvGrpSpPr/>
          <p:nvPr/>
        </p:nvGrpSpPr>
        <p:grpSpPr>
          <a:xfrm>
            <a:off x="7837649" y="3700892"/>
            <a:ext cx="1729800" cy="373374"/>
            <a:chOff x="2663194" y="2989297"/>
            <a:chExt cx="1729800" cy="373374"/>
          </a:xfrm>
        </p:grpSpPr>
        <p:sp>
          <p:nvSpPr>
            <p:cNvPr id="820" name="Google Shape;820;p44"/>
            <p:cNvSpPr/>
            <p:nvPr/>
          </p:nvSpPr>
          <p:spPr>
            <a:xfrm>
              <a:off x="2838241"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1" name="Google Shape;821;p44"/>
            <p:cNvSpPr/>
            <p:nvPr/>
          </p:nvSpPr>
          <p:spPr>
            <a:xfrm>
              <a:off x="2959477"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2" name="Google Shape;822;p44"/>
            <p:cNvSpPr/>
            <p:nvPr/>
          </p:nvSpPr>
          <p:spPr>
            <a:xfrm>
              <a:off x="3078078"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3" name="Google Shape;823;p44"/>
            <p:cNvSpPr/>
            <p:nvPr/>
          </p:nvSpPr>
          <p:spPr>
            <a:xfrm>
              <a:off x="3199315"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4" name="Google Shape;824;p44"/>
            <p:cNvSpPr/>
            <p:nvPr/>
          </p:nvSpPr>
          <p:spPr>
            <a:xfrm>
              <a:off x="3317916"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5" name="Google Shape;825;p44"/>
            <p:cNvSpPr/>
            <p:nvPr/>
          </p:nvSpPr>
          <p:spPr>
            <a:xfrm>
              <a:off x="3439153" y="2989297"/>
              <a:ext cx="118500" cy="373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6" name="Google Shape;826;p44"/>
            <p:cNvSpPr/>
            <p:nvPr/>
          </p:nvSpPr>
          <p:spPr>
            <a:xfrm>
              <a:off x="3557756"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7" name="Google Shape;827;p44"/>
            <p:cNvSpPr/>
            <p:nvPr/>
          </p:nvSpPr>
          <p:spPr>
            <a:xfrm>
              <a:off x="3678992"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8" name="Google Shape;828;p44"/>
            <p:cNvSpPr/>
            <p:nvPr/>
          </p:nvSpPr>
          <p:spPr>
            <a:xfrm>
              <a:off x="3797593"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9" name="Google Shape;829;p44"/>
            <p:cNvSpPr/>
            <p:nvPr/>
          </p:nvSpPr>
          <p:spPr>
            <a:xfrm>
              <a:off x="3918829"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0" name="Google Shape;830;p44"/>
            <p:cNvSpPr/>
            <p:nvPr/>
          </p:nvSpPr>
          <p:spPr>
            <a:xfrm>
              <a:off x="4037431" y="3179371"/>
              <a:ext cx="118500" cy="1833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1" name="Google Shape;831;p44"/>
            <p:cNvSpPr/>
            <p:nvPr/>
          </p:nvSpPr>
          <p:spPr>
            <a:xfrm>
              <a:off x="4158667"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32" name="Google Shape;832;p44"/>
            <p:cNvCxnSpPr/>
            <p:nvPr/>
          </p:nvCxnSpPr>
          <p:spPr>
            <a:xfrm>
              <a:off x="2663194" y="3321893"/>
              <a:ext cx="1729800" cy="0"/>
            </a:xfrm>
            <a:prstGeom prst="straightConnector1">
              <a:avLst/>
            </a:prstGeom>
            <a:noFill/>
            <a:ln w="15875" cap="flat" cmpd="sng">
              <a:solidFill>
                <a:schemeClr val="dk1"/>
              </a:solidFill>
              <a:prstDash val="solid"/>
              <a:miter lim="800000"/>
              <a:headEnd type="none" w="sm" len="sm"/>
              <a:tailEnd type="none" w="sm" len="sm"/>
            </a:ln>
          </p:spPr>
        </p:cxnSp>
      </p:grpSp>
      <p:sp>
        <p:nvSpPr>
          <p:cNvPr id="833" name="Google Shape;833;p44"/>
          <p:cNvSpPr/>
          <p:nvPr/>
        </p:nvSpPr>
        <p:spPr>
          <a:xfrm>
            <a:off x="8605462" y="3466326"/>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4" name="Google Shape;834;p44"/>
          <p:cNvSpPr/>
          <p:nvPr/>
        </p:nvSpPr>
        <p:spPr>
          <a:xfrm>
            <a:off x="8590222" y="4150441"/>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5" name="Google Shape;835;p44"/>
          <p:cNvSpPr/>
          <p:nvPr/>
        </p:nvSpPr>
        <p:spPr>
          <a:xfrm>
            <a:off x="7989970"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6" name="Google Shape;836;p44"/>
          <p:cNvSpPr/>
          <p:nvPr/>
        </p:nvSpPr>
        <p:spPr>
          <a:xfrm>
            <a:off x="8111206"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7" name="Google Shape;837;p44"/>
          <p:cNvSpPr/>
          <p:nvPr/>
        </p:nvSpPr>
        <p:spPr>
          <a:xfrm>
            <a:off x="8229807"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8" name="Google Shape;838;p44"/>
          <p:cNvSpPr/>
          <p:nvPr/>
        </p:nvSpPr>
        <p:spPr>
          <a:xfrm>
            <a:off x="8351044"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9" name="Google Shape;839;p44"/>
          <p:cNvSpPr/>
          <p:nvPr/>
        </p:nvSpPr>
        <p:spPr>
          <a:xfrm>
            <a:off x="8469645"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0" name="Google Shape;840;p44"/>
          <p:cNvSpPr/>
          <p:nvPr/>
        </p:nvSpPr>
        <p:spPr>
          <a:xfrm>
            <a:off x="8590882"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1" name="Google Shape;841;p44"/>
          <p:cNvSpPr/>
          <p:nvPr/>
        </p:nvSpPr>
        <p:spPr>
          <a:xfrm>
            <a:off x="8709485"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2" name="Google Shape;842;p44"/>
          <p:cNvSpPr/>
          <p:nvPr/>
        </p:nvSpPr>
        <p:spPr>
          <a:xfrm>
            <a:off x="8830721"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3" name="Google Shape;843;p44"/>
          <p:cNvSpPr/>
          <p:nvPr/>
        </p:nvSpPr>
        <p:spPr>
          <a:xfrm>
            <a:off x="8949322"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4" name="Google Shape;844;p44"/>
          <p:cNvSpPr/>
          <p:nvPr/>
        </p:nvSpPr>
        <p:spPr>
          <a:xfrm>
            <a:off x="9070558"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5" name="Google Shape;845;p44"/>
          <p:cNvSpPr/>
          <p:nvPr/>
        </p:nvSpPr>
        <p:spPr>
          <a:xfrm>
            <a:off x="9189160"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6" name="Google Shape;846;p44"/>
          <p:cNvSpPr/>
          <p:nvPr/>
        </p:nvSpPr>
        <p:spPr>
          <a:xfrm>
            <a:off x="9310396"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7" name="Google Shape;847;p44"/>
          <p:cNvSpPr/>
          <p:nvPr/>
        </p:nvSpPr>
        <p:spPr>
          <a:xfrm>
            <a:off x="8590222" y="5007469"/>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8" name="Google Shape;848;p44"/>
          <p:cNvSpPr txBox="1"/>
          <p:nvPr/>
        </p:nvSpPr>
        <p:spPr>
          <a:xfrm>
            <a:off x="8346792" y="5328003"/>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Divided by</a:t>
            </a:r>
            <a:endParaRPr sz="1000">
              <a:solidFill>
                <a:schemeClr val="dk1"/>
              </a:solidFill>
              <a:latin typeface="Calibri"/>
              <a:ea typeface="Calibri"/>
              <a:cs typeface="Calibri"/>
              <a:sym typeface="Calibri"/>
            </a:endParaRPr>
          </a:p>
        </p:txBody>
      </p:sp>
      <p:sp>
        <p:nvSpPr>
          <p:cNvPr id="849" name="Google Shape;849;p44"/>
          <p:cNvSpPr/>
          <p:nvPr/>
        </p:nvSpPr>
        <p:spPr>
          <a:xfrm rot="10800000" flipH="1">
            <a:off x="8604810" y="5582723"/>
            <a:ext cx="1698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0" name="Google Shape;850;p44"/>
          <p:cNvSpPr txBox="1"/>
          <p:nvPr/>
        </p:nvSpPr>
        <p:spPr>
          <a:xfrm>
            <a:off x="5847839" y="1855663"/>
            <a:ext cx="55158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rPr>
              <a:t>Probabilistic Quotient Normalization will correct for batch effect that translate into global increase or decrease of concentrations</a:t>
            </a:r>
            <a:endParaRPr sz="1800"/>
          </a:p>
        </p:txBody>
      </p:sp>
      <p:sp>
        <p:nvSpPr>
          <p:cNvPr id="851" name="Google Shape;851;p44"/>
          <p:cNvSpPr/>
          <p:nvPr/>
        </p:nvSpPr>
        <p:spPr>
          <a:xfrm>
            <a:off x="5974229"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2" name="Google Shape;852;p44"/>
          <p:cNvSpPr/>
          <p:nvPr/>
        </p:nvSpPr>
        <p:spPr>
          <a:xfrm>
            <a:off x="6095465"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3" name="Google Shape;853;p44"/>
          <p:cNvSpPr/>
          <p:nvPr/>
        </p:nvSpPr>
        <p:spPr>
          <a:xfrm>
            <a:off x="6214066" y="3872994"/>
            <a:ext cx="118500" cy="1872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4" name="Google Shape;854;p44"/>
          <p:cNvSpPr/>
          <p:nvPr/>
        </p:nvSpPr>
        <p:spPr>
          <a:xfrm>
            <a:off x="6335303"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5" name="Google Shape;855;p44"/>
          <p:cNvSpPr/>
          <p:nvPr/>
        </p:nvSpPr>
        <p:spPr>
          <a:xfrm>
            <a:off x="6453904"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6" name="Google Shape;856;p44"/>
          <p:cNvSpPr/>
          <p:nvPr/>
        </p:nvSpPr>
        <p:spPr>
          <a:xfrm>
            <a:off x="6575141"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7" name="Google Shape;857;p44"/>
          <p:cNvSpPr/>
          <p:nvPr/>
        </p:nvSpPr>
        <p:spPr>
          <a:xfrm>
            <a:off x="6693744"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8" name="Google Shape;858;p44"/>
          <p:cNvSpPr/>
          <p:nvPr/>
        </p:nvSpPr>
        <p:spPr>
          <a:xfrm>
            <a:off x="6814980"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9" name="Google Shape;859;p44"/>
          <p:cNvSpPr/>
          <p:nvPr/>
        </p:nvSpPr>
        <p:spPr>
          <a:xfrm>
            <a:off x="6933581"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0" name="Google Shape;860;p44"/>
          <p:cNvSpPr/>
          <p:nvPr/>
        </p:nvSpPr>
        <p:spPr>
          <a:xfrm>
            <a:off x="7054817"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1" name="Google Shape;861;p44"/>
          <p:cNvSpPr/>
          <p:nvPr/>
        </p:nvSpPr>
        <p:spPr>
          <a:xfrm>
            <a:off x="7173419"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2" name="Google Shape;862;p44"/>
          <p:cNvSpPr/>
          <p:nvPr/>
        </p:nvSpPr>
        <p:spPr>
          <a:xfrm>
            <a:off x="7294655" y="3872994"/>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3" name="Google Shape;863;p44"/>
          <p:cNvSpPr/>
          <p:nvPr/>
        </p:nvSpPr>
        <p:spPr>
          <a:xfrm>
            <a:off x="5974229"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4" name="Google Shape;864;p44"/>
          <p:cNvSpPr/>
          <p:nvPr/>
        </p:nvSpPr>
        <p:spPr>
          <a:xfrm>
            <a:off x="6095465"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5" name="Google Shape;865;p44"/>
          <p:cNvSpPr/>
          <p:nvPr/>
        </p:nvSpPr>
        <p:spPr>
          <a:xfrm>
            <a:off x="6214066" y="4060151"/>
            <a:ext cx="118500" cy="1872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6" name="Google Shape;866;p44"/>
          <p:cNvSpPr/>
          <p:nvPr/>
        </p:nvSpPr>
        <p:spPr>
          <a:xfrm>
            <a:off x="6335303"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7" name="Google Shape;867;p44"/>
          <p:cNvSpPr/>
          <p:nvPr/>
        </p:nvSpPr>
        <p:spPr>
          <a:xfrm>
            <a:off x="6453904"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8" name="Google Shape;868;p44"/>
          <p:cNvSpPr/>
          <p:nvPr/>
        </p:nvSpPr>
        <p:spPr>
          <a:xfrm>
            <a:off x="6575141"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9" name="Google Shape;869;p44"/>
          <p:cNvSpPr/>
          <p:nvPr/>
        </p:nvSpPr>
        <p:spPr>
          <a:xfrm>
            <a:off x="6693744"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0" name="Google Shape;870;p44"/>
          <p:cNvSpPr/>
          <p:nvPr/>
        </p:nvSpPr>
        <p:spPr>
          <a:xfrm>
            <a:off x="6814980"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1" name="Google Shape;871;p44"/>
          <p:cNvSpPr/>
          <p:nvPr/>
        </p:nvSpPr>
        <p:spPr>
          <a:xfrm>
            <a:off x="6933581"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2" name="Google Shape;872;p44"/>
          <p:cNvSpPr/>
          <p:nvPr/>
        </p:nvSpPr>
        <p:spPr>
          <a:xfrm>
            <a:off x="7054817"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3" name="Google Shape;873;p44"/>
          <p:cNvSpPr/>
          <p:nvPr/>
        </p:nvSpPr>
        <p:spPr>
          <a:xfrm>
            <a:off x="7173419"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4" name="Google Shape;874;p44"/>
          <p:cNvSpPr/>
          <p:nvPr/>
        </p:nvSpPr>
        <p:spPr>
          <a:xfrm>
            <a:off x="7294655" y="4060151"/>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5" name="Google Shape;875;p44"/>
          <p:cNvSpPr/>
          <p:nvPr/>
        </p:nvSpPr>
        <p:spPr>
          <a:xfrm>
            <a:off x="5974229"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6" name="Google Shape;876;p44"/>
          <p:cNvSpPr/>
          <p:nvPr/>
        </p:nvSpPr>
        <p:spPr>
          <a:xfrm>
            <a:off x="6095465"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7" name="Google Shape;877;p44"/>
          <p:cNvSpPr/>
          <p:nvPr/>
        </p:nvSpPr>
        <p:spPr>
          <a:xfrm>
            <a:off x="6214066"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8" name="Google Shape;878;p44"/>
          <p:cNvSpPr/>
          <p:nvPr/>
        </p:nvSpPr>
        <p:spPr>
          <a:xfrm>
            <a:off x="6335303"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9" name="Google Shape;879;p44"/>
          <p:cNvSpPr/>
          <p:nvPr/>
        </p:nvSpPr>
        <p:spPr>
          <a:xfrm>
            <a:off x="6453904"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0" name="Google Shape;880;p44"/>
          <p:cNvSpPr/>
          <p:nvPr/>
        </p:nvSpPr>
        <p:spPr>
          <a:xfrm>
            <a:off x="6575141"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1" name="Google Shape;881;p44"/>
          <p:cNvSpPr/>
          <p:nvPr/>
        </p:nvSpPr>
        <p:spPr>
          <a:xfrm>
            <a:off x="6693744"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2" name="Google Shape;882;p44"/>
          <p:cNvSpPr/>
          <p:nvPr/>
        </p:nvSpPr>
        <p:spPr>
          <a:xfrm>
            <a:off x="6814980"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3" name="Google Shape;883;p44"/>
          <p:cNvSpPr/>
          <p:nvPr/>
        </p:nvSpPr>
        <p:spPr>
          <a:xfrm>
            <a:off x="6933581"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4" name="Google Shape;884;p44"/>
          <p:cNvSpPr/>
          <p:nvPr/>
        </p:nvSpPr>
        <p:spPr>
          <a:xfrm>
            <a:off x="7054817"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5" name="Google Shape;885;p44"/>
          <p:cNvSpPr/>
          <p:nvPr/>
        </p:nvSpPr>
        <p:spPr>
          <a:xfrm>
            <a:off x="7173419"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6" name="Google Shape;886;p44"/>
          <p:cNvSpPr/>
          <p:nvPr/>
        </p:nvSpPr>
        <p:spPr>
          <a:xfrm>
            <a:off x="7294655" y="4247307"/>
            <a:ext cx="118500" cy="187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7" name="Google Shape;887;p44"/>
          <p:cNvSpPr/>
          <p:nvPr/>
        </p:nvSpPr>
        <p:spPr>
          <a:xfrm>
            <a:off x="5974229"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8" name="Google Shape;888;p44"/>
          <p:cNvSpPr/>
          <p:nvPr/>
        </p:nvSpPr>
        <p:spPr>
          <a:xfrm>
            <a:off x="6095465"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9" name="Google Shape;889;p44"/>
          <p:cNvSpPr/>
          <p:nvPr/>
        </p:nvSpPr>
        <p:spPr>
          <a:xfrm>
            <a:off x="6214066" y="4430306"/>
            <a:ext cx="118500" cy="1872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0" name="Google Shape;890;p44"/>
          <p:cNvSpPr/>
          <p:nvPr/>
        </p:nvSpPr>
        <p:spPr>
          <a:xfrm>
            <a:off x="6335303"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1" name="Google Shape;891;p44"/>
          <p:cNvSpPr/>
          <p:nvPr/>
        </p:nvSpPr>
        <p:spPr>
          <a:xfrm>
            <a:off x="6453904"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2" name="Google Shape;892;p44"/>
          <p:cNvSpPr/>
          <p:nvPr/>
        </p:nvSpPr>
        <p:spPr>
          <a:xfrm>
            <a:off x="6575141"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3" name="Google Shape;893;p44"/>
          <p:cNvSpPr/>
          <p:nvPr/>
        </p:nvSpPr>
        <p:spPr>
          <a:xfrm>
            <a:off x="6693744"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4" name="Google Shape;894;p44"/>
          <p:cNvSpPr/>
          <p:nvPr/>
        </p:nvSpPr>
        <p:spPr>
          <a:xfrm>
            <a:off x="6814980"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5" name="Google Shape;895;p44"/>
          <p:cNvSpPr/>
          <p:nvPr/>
        </p:nvSpPr>
        <p:spPr>
          <a:xfrm>
            <a:off x="6933581"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6" name="Google Shape;896;p44"/>
          <p:cNvSpPr/>
          <p:nvPr/>
        </p:nvSpPr>
        <p:spPr>
          <a:xfrm>
            <a:off x="7054817"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7" name="Google Shape;897;p44"/>
          <p:cNvSpPr/>
          <p:nvPr/>
        </p:nvSpPr>
        <p:spPr>
          <a:xfrm>
            <a:off x="7173419"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8" name="Google Shape;898;p44"/>
          <p:cNvSpPr/>
          <p:nvPr/>
        </p:nvSpPr>
        <p:spPr>
          <a:xfrm>
            <a:off x="7294655" y="4430306"/>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9" name="Google Shape;899;p44"/>
          <p:cNvSpPr/>
          <p:nvPr/>
        </p:nvSpPr>
        <p:spPr>
          <a:xfrm>
            <a:off x="5974229"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0" name="Google Shape;900;p44"/>
          <p:cNvSpPr/>
          <p:nvPr/>
        </p:nvSpPr>
        <p:spPr>
          <a:xfrm>
            <a:off x="6095465"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1" name="Google Shape;901;p44"/>
          <p:cNvSpPr/>
          <p:nvPr/>
        </p:nvSpPr>
        <p:spPr>
          <a:xfrm>
            <a:off x="6214066" y="4621622"/>
            <a:ext cx="118500" cy="187200"/>
          </a:xfrm>
          <a:prstGeom prst="rect">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2" name="Google Shape;902;p44"/>
          <p:cNvSpPr/>
          <p:nvPr/>
        </p:nvSpPr>
        <p:spPr>
          <a:xfrm>
            <a:off x="6335303"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3" name="Google Shape;903;p44"/>
          <p:cNvSpPr/>
          <p:nvPr/>
        </p:nvSpPr>
        <p:spPr>
          <a:xfrm>
            <a:off x="6453904"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4" name="Google Shape;904;p44"/>
          <p:cNvSpPr/>
          <p:nvPr/>
        </p:nvSpPr>
        <p:spPr>
          <a:xfrm>
            <a:off x="6575141"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5" name="Google Shape;905;p44"/>
          <p:cNvSpPr/>
          <p:nvPr/>
        </p:nvSpPr>
        <p:spPr>
          <a:xfrm>
            <a:off x="6693744"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6" name="Google Shape;906;p44"/>
          <p:cNvSpPr/>
          <p:nvPr/>
        </p:nvSpPr>
        <p:spPr>
          <a:xfrm>
            <a:off x="6814980"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7" name="Google Shape;907;p44"/>
          <p:cNvSpPr/>
          <p:nvPr/>
        </p:nvSpPr>
        <p:spPr>
          <a:xfrm>
            <a:off x="6933581"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8" name="Google Shape;908;p44"/>
          <p:cNvSpPr/>
          <p:nvPr/>
        </p:nvSpPr>
        <p:spPr>
          <a:xfrm>
            <a:off x="7054817"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9" name="Google Shape;909;p44"/>
          <p:cNvSpPr/>
          <p:nvPr/>
        </p:nvSpPr>
        <p:spPr>
          <a:xfrm>
            <a:off x="7173419"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0" name="Google Shape;910;p44"/>
          <p:cNvSpPr/>
          <p:nvPr/>
        </p:nvSpPr>
        <p:spPr>
          <a:xfrm>
            <a:off x="7294655" y="4621622"/>
            <a:ext cx="118500" cy="187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11" name="Google Shape;911;p44"/>
          <p:cNvGrpSpPr/>
          <p:nvPr/>
        </p:nvGrpSpPr>
        <p:grpSpPr>
          <a:xfrm>
            <a:off x="7836993" y="3812205"/>
            <a:ext cx="1729800" cy="255201"/>
            <a:chOff x="5474974" y="3135573"/>
            <a:chExt cx="1729800" cy="373374"/>
          </a:xfrm>
        </p:grpSpPr>
        <p:sp>
          <p:nvSpPr>
            <p:cNvPr id="912" name="Google Shape;912;p44"/>
            <p:cNvSpPr/>
            <p:nvPr/>
          </p:nvSpPr>
          <p:spPr>
            <a:xfrm>
              <a:off x="5650021"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3" name="Google Shape;913;p44"/>
            <p:cNvSpPr/>
            <p:nvPr/>
          </p:nvSpPr>
          <p:spPr>
            <a:xfrm>
              <a:off x="5771257"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4" name="Google Shape;914;p44"/>
            <p:cNvSpPr/>
            <p:nvPr/>
          </p:nvSpPr>
          <p:spPr>
            <a:xfrm>
              <a:off x="5889858"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5" name="Google Shape;915;p44"/>
            <p:cNvSpPr/>
            <p:nvPr/>
          </p:nvSpPr>
          <p:spPr>
            <a:xfrm>
              <a:off x="6011095"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6" name="Google Shape;916;p44"/>
            <p:cNvSpPr/>
            <p:nvPr/>
          </p:nvSpPr>
          <p:spPr>
            <a:xfrm>
              <a:off x="6129696"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7" name="Google Shape;917;p44"/>
            <p:cNvSpPr/>
            <p:nvPr/>
          </p:nvSpPr>
          <p:spPr>
            <a:xfrm>
              <a:off x="6250933" y="3135573"/>
              <a:ext cx="118500" cy="373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8" name="Google Shape;918;p44"/>
            <p:cNvSpPr/>
            <p:nvPr/>
          </p:nvSpPr>
          <p:spPr>
            <a:xfrm>
              <a:off x="6369536"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9" name="Google Shape;919;p44"/>
            <p:cNvSpPr/>
            <p:nvPr/>
          </p:nvSpPr>
          <p:spPr>
            <a:xfrm>
              <a:off x="6490772"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0" name="Google Shape;920;p44"/>
            <p:cNvSpPr/>
            <p:nvPr/>
          </p:nvSpPr>
          <p:spPr>
            <a:xfrm>
              <a:off x="6609373"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1" name="Google Shape;921;p44"/>
            <p:cNvSpPr/>
            <p:nvPr/>
          </p:nvSpPr>
          <p:spPr>
            <a:xfrm>
              <a:off x="6730609"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2" name="Google Shape;922;p44"/>
            <p:cNvSpPr/>
            <p:nvPr/>
          </p:nvSpPr>
          <p:spPr>
            <a:xfrm>
              <a:off x="6849211" y="3325647"/>
              <a:ext cx="118500" cy="1833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3" name="Google Shape;923;p44"/>
            <p:cNvSpPr/>
            <p:nvPr/>
          </p:nvSpPr>
          <p:spPr>
            <a:xfrm>
              <a:off x="6970447"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24" name="Google Shape;924;p44"/>
            <p:cNvCxnSpPr/>
            <p:nvPr/>
          </p:nvCxnSpPr>
          <p:spPr>
            <a:xfrm>
              <a:off x="5474974" y="3468169"/>
              <a:ext cx="1729800" cy="0"/>
            </a:xfrm>
            <a:prstGeom prst="straightConnector1">
              <a:avLst/>
            </a:prstGeom>
            <a:noFill/>
            <a:ln w="15875" cap="flat" cmpd="sng">
              <a:solidFill>
                <a:schemeClr val="dk1"/>
              </a:solidFill>
              <a:prstDash val="solid"/>
              <a:miter lim="800000"/>
              <a:headEnd type="none" w="sm" len="sm"/>
              <a:tailEnd type="none" w="sm" len="sm"/>
            </a:ln>
          </p:spPr>
        </p:cxnSp>
      </p:grpSp>
      <p:grpSp>
        <p:nvGrpSpPr>
          <p:cNvPr id="925" name="Google Shape;925;p44"/>
          <p:cNvGrpSpPr/>
          <p:nvPr/>
        </p:nvGrpSpPr>
        <p:grpSpPr>
          <a:xfrm>
            <a:off x="7890776" y="4391826"/>
            <a:ext cx="1429926" cy="647700"/>
            <a:chOff x="2990641" y="3754854"/>
            <a:chExt cx="1429926" cy="647700"/>
          </a:xfrm>
        </p:grpSpPr>
        <p:sp>
          <p:nvSpPr>
            <p:cNvPr id="926" name="Google Shape;926;p44"/>
            <p:cNvSpPr/>
            <p:nvPr/>
          </p:nvSpPr>
          <p:spPr>
            <a:xfrm>
              <a:off x="2990641"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7" name="Google Shape;927;p44"/>
            <p:cNvSpPr/>
            <p:nvPr/>
          </p:nvSpPr>
          <p:spPr>
            <a:xfrm>
              <a:off x="3111877" y="4242631"/>
              <a:ext cx="1200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8" name="Google Shape;928;p44"/>
            <p:cNvSpPr/>
            <p:nvPr/>
          </p:nvSpPr>
          <p:spPr>
            <a:xfrm>
              <a:off x="3230478"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9" name="Google Shape;929;p44"/>
            <p:cNvSpPr/>
            <p:nvPr/>
          </p:nvSpPr>
          <p:spPr>
            <a:xfrm>
              <a:off x="3351715"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0" name="Google Shape;930;p44"/>
            <p:cNvSpPr/>
            <p:nvPr/>
          </p:nvSpPr>
          <p:spPr>
            <a:xfrm>
              <a:off x="3470316" y="4242631"/>
              <a:ext cx="1272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1" name="Google Shape;931;p44"/>
            <p:cNvSpPr/>
            <p:nvPr/>
          </p:nvSpPr>
          <p:spPr>
            <a:xfrm>
              <a:off x="3591553" y="3915011"/>
              <a:ext cx="118500" cy="3732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2" name="Google Shape;932;p44"/>
            <p:cNvSpPr/>
            <p:nvPr/>
          </p:nvSpPr>
          <p:spPr>
            <a:xfrm>
              <a:off x="3710157" y="4042129"/>
              <a:ext cx="116100" cy="2463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3" name="Google Shape;933;p44"/>
            <p:cNvSpPr/>
            <p:nvPr/>
          </p:nvSpPr>
          <p:spPr>
            <a:xfrm>
              <a:off x="3831392" y="4169749"/>
              <a:ext cx="118500" cy="1185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4" name="Google Shape;934;p44"/>
            <p:cNvSpPr/>
            <p:nvPr/>
          </p:nvSpPr>
          <p:spPr>
            <a:xfrm>
              <a:off x="3949993" y="4242631"/>
              <a:ext cx="1353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5" name="Google Shape;935;p44"/>
            <p:cNvSpPr/>
            <p:nvPr/>
          </p:nvSpPr>
          <p:spPr>
            <a:xfrm>
              <a:off x="4071229"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6" name="Google Shape;936;p44"/>
            <p:cNvSpPr/>
            <p:nvPr/>
          </p:nvSpPr>
          <p:spPr>
            <a:xfrm>
              <a:off x="4189831" y="4242631"/>
              <a:ext cx="1089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7" name="Google Shape;937;p44"/>
            <p:cNvSpPr/>
            <p:nvPr/>
          </p:nvSpPr>
          <p:spPr>
            <a:xfrm>
              <a:off x="4311067" y="4242631"/>
              <a:ext cx="109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38" name="Google Shape;938;p44"/>
            <p:cNvCxnSpPr/>
            <p:nvPr/>
          </p:nvCxnSpPr>
          <p:spPr>
            <a:xfrm>
              <a:off x="3651000" y="3754854"/>
              <a:ext cx="0" cy="647700"/>
            </a:xfrm>
            <a:prstGeom prst="straightConnector1">
              <a:avLst/>
            </a:prstGeom>
            <a:noFill/>
            <a:ln w="15875" cap="flat" cmpd="sng">
              <a:solidFill>
                <a:schemeClr val="dk1"/>
              </a:solidFill>
              <a:prstDash val="solid"/>
              <a:miter lim="800000"/>
              <a:headEnd type="none" w="sm" len="sm"/>
              <a:tailEnd type="none" w="sm" len="sm"/>
            </a:ln>
          </p:spPr>
        </p:cxnSp>
      </p:grpSp>
      <p:sp>
        <p:nvSpPr>
          <p:cNvPr id="939" name="Google Shape;939;p44"/>
          <p:cNvSpPr/>
          <p:nvPr/>
        </p:nvSpPr>
        <p:spPr>
          <a:xfrm>
            <a:off x="9954612"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0" name="Google Shape;940;p44"/>
          <p:cNvSpPr/>
          <p:nvPr/>
        </p:nvSpPr>
        <p:spPr>
          <a:xfrm>
            <a:off x="10075848"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1" name="Google Shape;941;p44"/>
          <p:cNvSpPr/>
          <p:nvPr/>
        </p:nvSpPr>
        <p:spPr>
          <a:xfrm>
            <a:off x="10194449"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2" name="Google Shape;942;p44"/>
          <p:cNvSpPr/>
          <p:nvPr/>
        </p:nvSpPr>
        <p:spPr>
          <a:xfrm>
            <a:off x="10315686"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3" name="Google Shape;943;p44"/>
          <p:cNvSpPr/>
          <p:nvPr/>
        </p:nvSpPr>
        <p:spPr>
          <a:xfrm>
            <a:off x="10434287"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4" name="Google Shape;944;p44"/>
          <p:cNvSpPr/>
          <p:nvPr/>
        </p:nvSpPr>
        <p:spPr>
          <a:xfrm>
            <a:off x="10555524"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5" name="Google Shape;945;p44"/>
          <p:cNvSpPr/>
          <p:nvPr/>
        </p:nvSpPr>
        <p:spPr>
          <a:xfrm>
            <a:off x="10674127"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6" name="Google Shape;946;p44"/>
          <p:cNvSpPr/>
          <p:nvPr/>
        </p:nvSpPr>
        <p:spPr>
          <a:xfrm>
            <a:off x="10795363"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7" name="Google Shape;947;p44"/>
          <p:cNvSpPr/>
          <p:nvPr/>
        </p:nvSpPr>
        <p:spPr>
          <a:xfrm>
            <a:off x="10913964"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8" name="Google Shape;948;p44"/>
          <p:cNvSpPr/>
          <p:nvPr/>
        </p:nvSpPr>
        <p:spPr>
          <a:xfrm>
            <a:off x="11035200"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9" name="Google Shape;949;p44"/>
          <p:cNvSpPr/>
          <p:nvPr/>
        </p:nvSpPr>
        <p:spPr>
          <a:xfrm>
            <a:off x="11153802"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0" name="Google Shape;950;p44"/>
          <p:cNvSpPr/>
          <p:nvPr/>
        </p:nvSpPr>
        <p:spPr>
          <a:xfrm>
            <a:off x="11275038" y="3291060"/>
            <a:ext cx="122700" cy="153300"/>
          </a:xfrm>
          <a:prstGeom prst="rect">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1" name="Google Shape;951;p44"/>
          <p:cNvSpPr/>
          <p:nvPr/>
        </p:nvSpPr>
        <p:spPr>
          <a:xfrm>
            <a:off x="9954613"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2" name="Google Shape;952;p44"/>
          <p:cNvSpPr/>
          <p:nvPr/>
        </p:nvSpPr>
        <p:spPr>
          <a:xfrm>
            <a:off x="10075849"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3" name="Google Shape;953;p44"/>
          <p:cNvSpPr/>
          <p:nvPr/>
        </p:nvSpPr>
        <p:spPr>
          <a:xfrm>
            <a:off x="10194450"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4" name="Google Shape;954;p44"/>
          <p:cNvSpPr/>
          <p:nvPr/>
        </p:nvSpPr>
        <p:spPr>
          <a:xfrm>
            <a:off x="10315687"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5" name="Google Shape;955;p44"/>
          <p:cNvSpPr/>
          <p:nvPr/>
        </p:nvSpPr>
        <p:spPr>
          <a:xfrm>
            <a:off x="10434288"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6" name="Google Shape;956;p44"/>
          <p:cNvSpPr/>
          <p:nvPr/>
        </p:nvSpPr>
        <p:spPr>
          <a:xfrm>
            <a:off x="10555525"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7" name="Google Shape;957;p44"/>
          <p:cNvSpPr/>
          <p:nvPr/>
        </p:nvSpPr>
        <p:spPr>
          <a:xfrm>
            <a:off x="10674128"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8" name="Google Shape;958;p44"/>
          <p:cNvSpPr/>
          <p:nvPr/>
        </p:nvSpPr>
        <p:spPr>
          <a:xfrm>
            <a:off x="10795364"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9" name="Google Shape;959;p44"/>
          <p:cNvSpPr/>
          <p:nvPr/>
        </p:nvSpPr>
        <p:spPr>
          <a:xfrm>
            <a:off x="10913965"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0" name="Google Shape;960;p44"/>
          <p:cNvSpPr/>
          <p:nvPr/>
        </p:nvSpPr>
        <p:spPr>
          <a:xfrm>
            <a:off x="11035201"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1" name="Google Shape;961;p44"/>
          <p:cNvSpPr/>
          <p:nvPr/>
        </p:nvSpPr>
        <p:spPr>
          <a:xfrm>
            <a:off x="11153803"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2" name="Google Shape;962;p44"/>
          <p:cNvSpPr/>
          <p:nvPr/>
        </p:nvSpPr>
        <p:spPr>
          <a:xfrm>
            <a:off x="11275039" y="2906155"/>
            <a:ext cx="118500" cy="1878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3" name="Google Shape;963;p44"/>
          <p:cNvSpPr txBox="1"/>
          <p:nvPr/>
        </p:nvSpPr>
        <p:spPr>
          <a:xfrm>
            <a:off x="10245785" y="3081235"/>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Divided by</a:t>
            </a:r>
            <a:endParaRPr sz="1000">
              <a:solidFill>
                <a:schemeClr val="dk1"/>
              </a:solidFill>
              <a:latin typeface="Calibri"/>
              <a:ea typeface="Calibri"/>
              <a:cs typeface="Calibri"/>
              <a:sym typeface="Calibri"/>
            </a:endParaRPr>
          </a:p>
        </p:txBody>
      </p:sp>
      <p:sp>
        <p:nvSpPr>
          <p:cNvPr id="964" name="Google Shape;964;p44"/>
          <p:cNvSpPr/>
          <p:nvPr/>
        </p:nvSpPr>
        <p:spPr>
          <a:xfrm>
            <a:off x="9946859"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5" name="Google Shape;965;p44"/>
          <p:cNvSpPr/>
          <p:nvPr/>
        </p:nvSpPr>
        <p:spPr>
          <a:xfrm>
            <a:off x="10068095" y="4801826"/>
            <a:ext cx="1200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6" name="Google Shape;966;p44"/>
          <p:cNvSpPr/>
          <p:nvPr/>
        </p:nvSpPr>
        <p:spPr>
          <a:xfrm>
            <a:off x="10186696"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7" name="Google Shape;967;p44"/>
          <p:cNvSpPr/>
          <p:nvPr/>
        </p:nvSpPr>
        <p:spPr>
          <a:xfrm>
            <a:off x="10307933"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8" name="Google Shape;968;p44"/>
          <p:cNvSpPr/>
          <p:nvPr/>
        </p:nvSpPr>
        <p:spPr>
          <a:xfrm>
            <a:off x="10426534" y="4801826"/>
            <a:ext cx="1272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9" name="Google Shape;969;p44"/>
          <p:cNvSpPr/>
          <p:nvPr/>
        </p:nvSpPr>
        <p:spPr>
          <a:xfrm>
            <a:off x="10547771" y="4474206"/>
            <a:ext cx="118500" cy="3732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0" name="Google Shape;970;p44"/>
          <p:cNvSpPr/>
          <p:nvPr/>
        </p:nvSpPr>
        <p:spPr>
          <a:xfrm>
            <a:off x="10666375" y="4601324"/>
            <a:ext cx="116100" cy="2463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1" name="Google Shape;971;p44"/>
          <p:cNvSpPr/>
          <p:nvPr/>
        </p:nvSpPr>
        <p:spPr>
          <a:xfrm>
            <a:off x="10787610" y="4728944"/>
            <a:ext cx="118500" cy="1185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2" name="Google Shape;972;p44"/>
          <p:cNvSpPr/>
          <p:nvPr/>
        </p:nvSpPr>
        <p:spPr>
          <a:xfrm>
            <a:off x="10906211" y="4801826"/>
            <a:ext cx="1353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3" name="Google Shape;973;p44"/>
          <p:cNvSpPr/>
          <p:nvPr/>
        </p:nvSpPr>
        <p:spPr>
          <a:xfrm>
            <a:off x="11027447" y="4801826"/>
            <a:ext cx="118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4" name="Google Shape;974;p44"/>
          <p:cNvSpPr/>
          <p:nvPr/>
        </p:nvSpPr>
        <p:spPr>
          <a:xfrm>
            <a:off x="11146049" y="4801826"/>
            <a:ext cx="1089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5" name="Google Shape;975;p44"/>
          <p:cNvSpPr/>
          <p:nvPr/>
        </p:nvSpPr>
        <p:spPr>
          <a:xfrm>
            <a:off x="11267285" y="4801826"/>
            <a:ext cx="109500" cy="456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76" name="Google Shape;976;p44"/>
          <p:cNvCxnSpPr/>
          <p:nvPr/>
        </p:nvCxnSpPr>
        <p:spPr>
          <a:xfrm>
            <a:off x="10607218" y="4314049"/>
            <a:ext cx="0" cy="647700"/>
          </a:xfrm>
          <a:prstGeom prst="straightConnector1">
            <a:avLst/>
          </a:prstGeom>
          <a:noFill/>
          <a:ln w="15875" cap="flat" cmpd="sng">
            <a:solidFill>
              <a:schemeClr val="dk1"/>
            </a:solidFill>
            <a:prstDash val="solid"/>
            <a:miter lim="800000"/>
            <a:headEnd type="none" w="sm" len="sm"/>
            <a:tailEnd type="none" w="sm" len="sm"/>
          </a:ln>
        </p:spPr>
      </p:cxnSp>
      <p:grpSp>
        <p:nvGrpSpPr>
          <p:cNvPr id="977" name="Google Shape;977;p44"/>
          <p:cNvGrpSpPr/>
          <p:nvPr/>
        </p:nvGrpSpPr>
        <p:grpSpPr>
          <a:xfrm>
            <a:off x="9771812" y="3700892"/>
            <a:ext cx="1729800" cy="373374"/>
            <a:chOff x="2663194" y="2989297"/>
            <a:chExt cx="1729800" cy="373374"/>
          </a:xfrm>
        </p:grpSpPr>
        <p:sp>
          <p:nvSpPr>
            <p:cNvPr id="978" name="Google Shape;978;p44"/>
            <p:cNvSpPr/>
            <p:nvPr/>
          </p:nvSpPr>
          <p:spPr>
            <a:xfrm>
              <a:off x="2838241"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44"/>
            <p:cNvSpPr/>
            <p:nvPr/>
          </p:nvSpPr>
          <p:spPr>
            <a:xfrm>
              <a:off x="2959477"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0" name="Google Shape;980;p44"/>
            <p:cNvSpPr/>
            <p:nvPr/>
          </p:nvSpPr>
          <p:spPr>
            <a:xfrm>
              <a:off x="3078078"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1" name="Google Shape;981;p44"/>
            <p:cNvSpPr/>
            <p:nvPr/>
          </p:nvSpPr>
          <p:spPr>
            <a:xfrm>
              <a:off x="3199315"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2" name="Google Shape;982;p44"/>
            <p:cNvSpPr/>
            <p:nvPr/>
          </p:nvSpPr>
          <p:spPr>
            <a:xfrm>
              <a:off x="3317916"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3" name="Google Shape;983;p44"/>
            <p:cNvSpPr/>
            <p:nvPr/>
          </p:nvSpPr>
          <p:spPr>
            <a:xfrm>
              <a:off x="3439153" y="2989297"/>
              <a:ext cx="118500" cy="3732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4" name="Google Shape;984;p44"/>
            <p:cNvSpPr/>
            <p:nvPr/>
          </p:nvSpPr>
          <p:spPr>
            <a:xfrm>
              <a:off x="3557756"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5" name="Google Shape;985;p44"/>
            <p:cNvSpPr/>
            <p:nvPr/>
          </p:nvSpPr>
          <p:spPr>
            <a:xfrm>
              <a:off x="3678992"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6" name="Google Shape;986;p44"/>
            <p:cNvSpPr/>
            <p:nvPr/>
          </p:nvSpPr>
          <p:spPr>
            <a:xfrm>
              <a:off x="3797593"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7" name="Google Shape;987;p44"/>
            <p:cNvSpPr/>
            <p:nvPr/>
          </p:nvSpPr>
          <p:spPr>
            <a:xfrm>
              <a:off x="3918829" y="3316917"/>
              <a:ext cx="118500" cy="456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8" name="Google Shape;988;p44"/>
            <p:cNvSpPr/>
            <p:nvPr/>
          </p:nvSpPr>
          <p:spPr>
            <a:xfrm>
              <a:off x="4037431" y="3179371"/>
              <a:ext cx="118500" cy="1833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9" name="Google Shape;989;p44"/>
            <p:cNvSpPr/>
            <p:nvPr/>
          </p:nvSpPr>
          <p:spPr>
            <a:xfrm>
              <a:off x="4158667" y="3244035"/>
              <a:ext cx="118500" cy="118500"/>
            </a:xfrm>
            <a:prstGeom prst="rect">
              <a:avLst/>
            </a:prstGeom>
            <a:solidFill>
              <a:srgbClr val="D8E2F3"/>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90" name="Google Shape;990;p44"/>
            <p:cNvCxnSpPr/>
            <p:nvPr/>
          </p:nvCxnSpPr>
          <p:spPr>
            <a:xfrm>
              <a:off x="2663194" y="3321893"/>
              <a:ext cx="1729800" cy="0"/>
            </a:xfrm>
            <a:prstGeom prst="straightConnector1">
              <a:avLst/>
            </a:prstGeom>
            <a:noFill/>
            <a:ln w="15875" cap="flat" cmpd="sng">
              <a:solidFill>
                <a:schemeClr val="dk1"/>
              </a:solidFill>
              <a:prstDash val="solid"/>
              <a:miter lim="800000"/>
              <a:headEnd type="none" w="sm" len="sm"/>
              <a:tailEnd type="none" w="sm" len="sm"/>
            </a:ln>
          </p:spPr>
        </p:cxnSp>
      </p:grpSp>
      <p:sp>
        <p:nvSpPr>
          <p:cNvPr id="991" name="Google Shape;991;p44"/>
          <p:cNvSpPr/>
          <p:nvPr/>
        </p:nvSpPr>
        <p:spPr>
          <a:xfrm>
            <a:off x="10539625" y="3466326"/>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44"/>
          <p:cNvSpPr/>
          <p:nvPr/>
        </p:nvSpPr>
        <p:spPr>
          <a:xfrm>
            <a:off x="10524385" y="4150441"/>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3" name="Google Shape;993;p44"/>
          <p:cNvSpPr/>
          <p:nvPr/>
        </p:nvSpPr>
        <p:spPr>
          <a:xfrm>
            <a:off x="9924133"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4" name="Google Shape;994;p44"/>
          <p:cNvSpPr/>
          <p:nvPr/>
        </p:nvSpPr>
        <p:spPr>
          <a:xfrm>
            <a:off x="10045369"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5" name="Google Shape;995;p44"/>
          <p:cNvSpPr/>
          <p:nvPr/>
        </p:nvSpPr>
        <p:spPr>
          <a:xfrm>
            <a:off x="10163970"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6" name="Google Shape;996;p44"/>
          <p:cNvSpPr/>
          <p:nvPr/>
        </p:nvSpPr>
        <p:spPr>
          <a:xfrm>
            <a:off x="10285207"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7" name="Google Shape;997;p44"/>
          <p:cNvSpPr/>
          <p:nvPr/>
        </p:nvSpPr>
        <p:spPr>
          <a:xfrm>
            <a:off x="10403808"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8" name="Google Shape;998;p44"/>
          <p:cNvSpPr/>
          <p:nvPr/>
        </p:nvSpPr>
        <p:spPr>
          <a:xfrm>
            <a:off x="10525045"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9" name="Google Shape;999;p44"/>
          <p:cNvSpPr/>
          <p:nvPr/>
        </p:nvSpPr>
        <p:spPr>
          <a:xfrm>
            <a:off x="10643648"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0" name="Google Shape;1000;p44"/>
          <p:cNvSpPr/>
          <p:nvPr/>
        </p:nvSpPr>
        <p:spPr>
          <a:xfrm>
            <a:off x="10764884"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1" name="Google Shape;1001;p44"/>
          <p:cNvSpPr/>
          <p:nvPr/>
        </p:nvSpPr>
        <p:spPr>
          <a:xfrm>
            <a:off x="10883485"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2" name="Google Shape;1002;p44"/>
          <p:cNvSpPr/>
          <p:nvPr/>
        </p:nvSpPr>
        <p:spPr>
          <a:xfrm>
            <a:off x="11004721"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3" name="Google Shape;1003;p44"/>
          <p:cNvSpPr/>
          <p:nvPr/>
        </p:nvSpPr>
        <p:spPr>
          <a:xfrm>
            <a:off x="11123323"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4" name="Google Shape;1004;p44"/>
          <p:cNvSpPr/>
          <p:nvPr/>
        </p:nvSpPr>
        <p:spPr>
          <a:xfrm>
            <a:off x="11244559" y="5219740"/>
            <a:ext cx="118500" cy="11850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5" name="Google Shape;1005;p44"/>
          <p:cNvSpPr/>
          <p:nvPr/>
        </p:nvSpPr>
        <p:spPr>
          <a:xfrm>
            <a:off x="10524385" y="5007469"/>
            <a:ext cx="221100" cy="1476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6" name="Google Shape;1006;p44"/>
          <p:cNvSpPr txBox="1"/>
          <p:nvPr/>
        </p:nvSpPr>
        <p:spPr>
          <a:xfrm>
            <a:off x="10280955" y="5328003"/>
            <a:ext cx="1188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Divided by</a:t>
            </a:r>
            <a:endParaRPr sz="1000">
              <a:solidFill>
                <a:schemeClr val="dk1"/>
              </a:solidFill>
              <a:latin typeface="Calibri"/>
              <a:ea typeface="Calibri"/>
              <a:cs typeface="Calibri"/>
              <a:sym typeface="Calibri"/>
            </a:endParaRPr>
          </a:p>
        </p:txBody>
      </p:sp>
      <p:sp>
        <p:nvSpPr>
          <p:cNvPr id="1007" name="Google Shape;1007;p44"/>
          <p:cNvSpPr/>
          <p:nvPr/>
        </p:nvSpPr>
        <p:spPr>
          <a:xfrm rot="10800000" flipH="1">
            <a:off x="10554213" y="5582694"/>
            <a:ext cx="169800" cy="1581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008" name="Google Shape;1008;p44"/>
          <p:cNvGrpSpPr/>
          <p:nvPr/>
        </p:nvGrpSpPr>
        <p:grpSpPr>
          <a:xfrm>
            <a:off x="9771156" y="3588391"/>
            <a:ext cx="1729800" cy="479002"/>
            <a:chOff x="5474974" y="3135573"/>
            <a:chExt cx="1729800" cy="373374"/>
          </a:xfrm>
        </p:grpSpPr>
        <p:sp>
          <p:nvSpPr>
            <p:cNvPr id="1009" name="Google Shape;1009;p44"/>
            <p:cNvSpPr/>
            <p:nvPr/>
          </p:nvSpPr>
          <p:spPr>
            <a:xfrm>
              <a:off x="5650021"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0" name="Google Shape;1010;p44"/>
            <p:cNvSpPr/>
            <p:nvPr/>
          </p:nvSpPr>
          <p:spPr>
            <a:xfrm>
              <a:off x="5771257"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1" name="Google Shape;1011;p44"/>
            <p:cNvSpPr/>
            <p:nvPr/>
          </p:nvSpPr>
          <p:spPr>
            <a:xfrm>
              <a:off x="5889858"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2" name="Google Shape;1012;p44"/>
            <p:cNvSpPr/>
            <p:nvPr/>
          </p:nvSpPr>
          <p:spPr>
            <a:xfrm>
              <a:off x="6011095"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3" name="Google Shape;1013;p44"/>
            <p:cNvSpPr/>
            <p:nvPr/>
          </p:nvSpPr>
          <p:spPr>
            <a:xfrm>
              <a:off x="6129696"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4" name="Google Shape;1014;p44"/>
            <p:cNvSpPr/>
            <p:nvPr/>
          </p:nvSpPr>
          <p:spPr>
            <a:xfrm>
              <a:off x="6250933" y="3135573"/>
              <a:ext cx="118500" cy="3732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5" name="Google Shape;1015;p44"/>
            <p:cNvSpPr/>
            <p:nvPr/>
          </p:nvSpPr>
          <p:spPr>
            <a:xfrm>
              <a:off x="6369536"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6" name="Google Shape;1016;p44"/>
            <p:cNvSpPr/>
            <p:nvPr/>
          </p:nvSpPr>
          <p:spPr>
            <a:xfrm>
              <a:off x="6490772"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7" name="Google Shape;1017;p44"/>
            <p:cNvSpPr/>
            <p:nvPr/>
          </p:nvSpPr>
          <p:spPr>
            <a:xfrm>
              <a:off x="6609373"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8" name="Google Shape;1018;p44"/>
            <p:cNvSpPr/>
            <p:nvPr/>
          </p:nvSpPr>
          <p:spPr>
            <a:xfrm>
              <a:off x="6730609" y="3463193"/>
              <a:ext cx="118500" cy="456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9" name="Google Shape;1019;p44"/>
            <p:cNvSpPr/>
            <p:nvPr/>
          </p:nvSpPr>
          <p:spPr>
            <a:xfrm>
              <a:off x="6849211" y="3325647"/>
              <a:ext cx="118500" cy="1833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0" name="Google Shape;1020;p44"/>
            <p:cNvSpPr/>
            <p:nvPr/>
          </p:nvSpPr>
          <p:spPr>
            <a:xfrm>
              <a:off x="6970447" y="3390311"/>
              <a:ext cx="118500" cy="11850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21" name="Google Shape;1021;p44"/>
            <p:cNvCxnSpPr/>
            <p:nvPr/>
          </p:nvCxnSpPr>
          <p:spPr>
            <a:xfrm>
              <a:off x="5474974" y="3468169"/>
              <a:ext cx="1729800" cy="0"/>
            </a:xfrm>
            <a:prstGeom prst="straightConnector1">
              <a:avLst/>
            </a:prstGeom>
            <a:noFill/>
            <a:ln w="15875" cap="flat" cmpd="sng">
              <a:solidFill>
                <a:schemeClr val="dk1"/>
              </a:solidFill>
              <a:prstDash val="solid"/>
              <a:miter lim="800000"/>
              <a:headEnd type="none" w="sm" len="sm"/>
              <a:tailEnd type="none" w="sm" len="sm"/>
            </a:ln>
          </p:spPr>
        </p:cxnSp>
      </p:grpSp>
      <p:grpSp>
        <p:nvGrpSpPr>
          <p:cNvPr id="1022" name="Google Shape;1022;p44"/>
          <p:cNvGrpSpPr/>
          <p:nvPr/>
        </p:nvGrpSpPr>
        <p:grpSpPr>
          <a:xfrm>
            <a:off x="10114499" y="4400584"/>
            <a:ext cx="1429926" cy="647700"/>
            <a:chOff x="2990641" y="3754854"/>
            <a:chExt cx="1429926" cy="647700"/>
          </a:xfrm>
        </p:grpSpPr>
        <p:sp>
          <p:nvSpPr>
            <p:cNvPr id="1023" name="Google Shape;1023;p44"/>
            <p:cNvSpPr/>
            <p:nvPr/>
          </p:nvSpPr>
          <p:spPr>
            <a:xfrm>
              <a:off x="2990641"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4" name="Google Shape;1024;p44"/>
            <p:cNvSpPr/>
            <p:nvPr/>
          </p:nvSpPr>
          <p:spPr>
            <a:xfrm>
              <a:off x="3111877" y="4242631"/>
              <a:ext cx="1200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5" name="Google Shape;1025;p44"/>
            <p:cNvSpPr/>
            <p:nvPr/>
          </p:nvSpPr>
          <p:spPr>
            <a:xfrm>
              <a:off x="3230478"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6" name="Google Shape;1026;p44"/>
            <p:cNvSpPr/>
            <p:nvPr/>
          </p:nvSpPr>
          <p:spPr>
            <a:xfrm>
              <a:off x="3351715"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7" name="Google Shape;1027;p44"/>
            <p:cNvSpPr/>
            <p:nvPr/>
          </p:nvSpPr>
          <p:spPr>
            <a:xfrm>
              <a:off x="3470316" y="4242631"/>
              <a:ext cx="1272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8" name="Google Shape;1028;p44"/>
            <p:cNvSpPr/>
            <p:nvPr/>
          </p:nvSpPr>
          <p:spPr>
            <a:xfrm>
              <a:off x="3591553" y="3915011"/>
              <a:ext cx="118500" cy="3732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9" name="Google Shape;1029;p44"/>
            <p:cNvSpPr/>
            <p:nvPr/>
          </p:nvSpPr>
          <p:spPr>
            <a:xfrm>
              <a:off x="3710157" y="4042129"/>
              <a:ext cx="116100" cy="2463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0" name="Google Shape;1030;p44"/>
            <p:cNvSpPr/>
            <p:nvPr/>
          </p:nvSpPr>
          <p:spPr>
            <a:xfrm>
              <a:off x="3831392" y="4169749"/>
              <a:ext cx="118500" cy="1185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1" name="Google Shape;1031;p44"/>
            <p:cNvSpPr/>
            <p:nvPr/>
          </p:nvSpPr>
          <p:spPr>
            <a:xfrm>
              <a:off x="3949993" y="4242631"/>
              <a:ext cx="1353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2" name="Google Shape;1032;p44"/>
            <p:cNvSpPr/>
            <p:nvPr/>
          </p:nvSpPr>
          <p:spPr>
            <a:xfrm>
              <a:off x="4071229" y="4242631"/>
              <a:ext cx="118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3" name="Google Shape;1033;p44"/>
            <p:cNvSpPr/>
            <p:nvPr/>
          </p:nvSpPr>
          <p:spPr>
            <a:xfrm>
              <a:off x="4189831" y="4242631"/>
              <a:ext cx="1089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4" name="Google Shape;1034;p44"/>
            <p:cNvSpPr/>
            <p:nvPr/>
          </p:nvSpPr>
          <p:spPr>
            <a:xfrm>
              <a:off x="4311067" y="4242631"/>
              <a:ext cx="109500" cy="456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35" name="Google Shape;1035;p44"/>
            <p:cNvCxnSpPr/>
            <p:nvPr/>
          </p:nvCxnSpPr>
          <p:spPr>
            <a:xfrm>
              <a:off x="3651000" y="3754854"/>
              <a:ext cx="0" cy="647700"/>
            </a:xfrm>
            <a:prstGeom prst="straightConnector1">
              <a:avLst/>
            </a:prstGeom>
            <a:noFill/>
            <a:ln w="15875" cap="flat" cmpd="sng">
              <a:solidFill>
                <a:schemeClr val="dk1"/>
              </a:solidFill>
              <a:prstDash val="solid"/>
              <a:miter lim="800000"/>
              <a:headEnd type="none" w="sm" len="sm"/>
              <a:tailEnd type="none" w="sm" len="sm"/>
            </a:ln>
          </p:spPr>
        </p:cxnSp>
      </p:grpSp>
      <p:sp>
        <p:nvSpPr>
          <p:cNvPr id="1036" name="Google Shape;1036;p44"/>
          <p:cNvSpPr txBox="1"/>
          <p:nvPr/>
        </p:nvSpPr>
        <p:spPr>
          <a:xfrm>
            <a:off x="5882018" y="192419"/>
            <a:ext cx="57690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Helvetica Neue"/>
              <a:buNone/>
            </a:pPr>
            <a:r>
              <a:rPr lang="en-US" sz="2400">
                <a:solidFill>
                  <a:schemeClr val="dk1"/>
                </a:solidFill>
                <a:latin typeface="Helvetica Neue"/>
                <a:ea typeface="Helvetica Neue"/>
                <a:cs typeface="Helvetica Neue"/>
                <a:sym typeface="Helvetica Neue"/>
              </a:rPr>
              <a:t>Normalization will also correct for batch effects under certain circumstances</a:t>
            </a:r>
            <a:endParaRPr sz="240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45"/>
          <p:cNvSpPr txBox="1">
            <a:spLocks noGrp="1"/>
          </p:cNvSpPr>
          <p:nvPr>
            <p:ph type="title"/>
          </p:nvPr>
        </p:nvSpPr>
        <p:spPr>
          <a:xfrm>
            <a:off x="831850" y="1709738"/>
            <a:ext cx="10515600" cy="2852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latin typeface="Arial"/>
                <a:ea typeface="Arial"/>
                <a:cs typeface="Arial"/>
                <a:sym typeface="Arial"/>
              </a:rPr>
              <a:t>Quality check of your data/experiments before analyzing</a:t>
            </a:r>
            <a:endParaRPr>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46"/>
          <p:cNvSpPr txBox="1">
            <a:spLocks noGrp="1"/>
          </p:cNvSpPr>
          <p:nvPr>
            <p:ph type="title"/>
          </p:nvPr>
        </p:nvSpPr>
        <p:spPr>
          <a:xfrm>
            <a:off x="415600" y="390167"/>
            <a:ext cx="5157900" cy="7635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LTR and outliers</a:t>
            </a:r>
            <a:endParaRPr>
              <a:latin typeface="Arial"/>
              <a:ea typeface="Arial"/>
              <a:cs typeface="Arial"/>
              <a:sym typeface="Arial"/>
            </a:endParaRPr>
          </a:p>
        </p:txBody>
      </p:sp>
      <p:sp>
        <p:nvSpPr>
          <p:cNvPr id="1048" name="Google Shape;1048;p46"/>
          <p:cNvSpPr txBox="1">
            <a:spLocks noGrp="1"/>
          </p:cNvSpPr>
          <p:nvPr>
            <p:ph type="body" idx="1"/>
          </p:nvPr>
        </p:nvSpPr>
        <p:spPr>
          <a:xfrm>
            <a:off x="560767" y="1536767"/>
            <a:ext cx="4327500" cy="42108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US">
                <a:latin typeface="Arial"/>
                <a:ea typeface="Arial"/>
                <a:cs typeface="Arial"/>
                <a:sym typeface="Arial"/>
              </a:rPr>
              <a:t>You need to do LTR check in every data set.</a:t>
            </a:r>
            <a:endParaRPr>
              <a:latin typeface="Arial"/>
              <a:ea typeface="Arial"/>
              <a:cs typeface="Arial"/>
              <a:sym typeface="Arial"/>
            </a:endParaRPr>
          </a:p>
          <a:p>
            <a:pPr marL="0" lvl="0" indent="0" algn="l" rtl="0">
              <a:spcBef>
                <a:spcPts val="1000"/>
              </a:spcBef>
              <a:spcAft>
                <a:spcPts val="0"/>
              </a:spcAft>
              <a:buNone/>
            </a:pPr>
            <a:r>
              <a:rPr lang="en-US">
                <a:latin typeface="Arial"/>
                <a:ea typeface="Arial"/>
                <a:cs typeface="Arial"/>
                <a:sym typeface="Arial"/>
              </a:rPr>
              <a:t>We usually run principal component analysis (PCA) to check if all the LTRs are in the tight cluster.</a:t>
            </a:r>
            <a:endParaRPr>
              <a:latin typeface="Arial"/>
              <a:ea typeface="Arial"/>
              <a:cs typeface="Arial"/>
              <a:sym typeface="Arial"/>
            </a:endParaRPr>
          </a:p>
          <a:p>
            <a:pPr marL="0" lvl="0" indent="0" algn="l" rtl="0">
              <a:spcBef>
                <a:spcPts val="1000"/>
              </a:spcBef>
              <a:spcAft>
                <a:spcPts val="0"/>
              </a:spcAft>
              <a:buNone/>
            </a:pPr>
            <a:r>
              <a:rPr lang="en-US">
                <a:latin typeface="Arial"/>
                <a:ea typeface="Arial"/>
                <a:cs typeface="Arial"/>
                <a:sym typeface="Arial"/>
              </a:rPr>
              <a:t>We also check all the samples are equally spread out in the first 2 principal component regardless of plates and instruments.</a:t>
            </a:r>
            <a:endParaRPr>
              <a:latin typeface="Arial"/>
              <a:ea typeface="Arial"/>
              <a:cs typeface="Arial"/>
              <a:sym typeface="Arial"/>
            </a:endParaRPr>
          </a:p>
          <a:p>
            <a:pPr marL="0" lvl="0" indent="0" algn="l" rtl="0">
              <a:spcBef>
                <a:spcPts val="1000"/>
              </a:spcBef>
              <a:spcAft>
                <a:spcPts val="0"/>
              </a:spcAft>
              <a:buNone/>
            </a:pPr>
            <a:r>
              <a:rPr lang="en-US" b="1" u="sng">
                <a:latin typeface="Arial"/>
                <a:ea typeface="Arial"/>
                <a:cs typeface="Arial"/>
                <a:sym typeface="Arial"/>
              </a:rPr>
              <a:t>For spectra, make sure to do post-processing before PCA.</a:t>
            </a:r>
            <a:endParaRPr b="1" u="sng">
              <a:latin typeface="Arial"/>
              <a:ea typeface="Arial"/>
              <a:cs typeface="Arial"/>
              <a:sym typeface="Arial"/>
            </a:endParaRPr>
          </a:p>
        </p:txBody>
      </p:sp>
      <p:sp>
        <p:nvSpPr>
          <p:cNvPr id="1049" name="Google Shape;1049;p46"/>
          <p:cNvSpPr txBox="1">
            <a:spLocks noGrp="1"/>
          </p:cNvSpPr>
          <p:nvPr>
            <p:ph type="body" idx="1"/>
          </p:nvPr>
        </p:nvSpPr>
        <p:spPr>
          <a:xfrm>
            <a:off x="560767" y="5747667"/>
            <a:ext cx="5680500" cy="830400"/>
          </a:xfrm>
          <a:prstGeom prst="rect">
            <a:avLst/>
          </a:prstGeom>
        </p:spPr>
        <p:txBody>
          <a:bodyPr spcFirstLastPara="1" wrap="square" lIns="91425" tIns="45700" rIns="91425" bIns="45700" anchor="t" anchorCtr="0">
            <a:normAutofit fontScale="77500" lnSpcReduction="20000"/>
          </a:bodyPr>
          <a:lstStyle/>
          <a:p>
            <a:pPr marL="0" lvl="0" indent="0" algn="l" rtl="0">
              <a:spcBef>
                <a:spcPts val="1000"/>
              </a:spcBef>
              <a:spcAft>
                <a:spcPts val="0"/>
              </a:spcAft>
              <a:buNone/>
            </a:pPr>
            <a:r>
              <a:rPr lang="en-US">
                <a:latin typeface="Arial"/>
                <a:ea typeface="Arial"/>
                <a:cs typeface="Arial"/>
                <a:sym typeface="Arial"/>
              </a:rPr>
              <a:t>Keep in mind that back in the day…. You had to check shim and correct phase manually before data transport</a:t>
            </a:r>
            <a:endParaRPr>
              <a:latin typeface="Arial"/>
              <a:ea typeface="Arial"/>
              <a:cs typeface="Arial"/>
              <a:sym typeface="Arial"/>
            </a:endParaRPr>
          </a:p>
        </p:txBody>
      </p:sp>
      <p:grpSp>
        <p:nvGrpSpPr>
          <p:cNvPr id="1050" name="Google Shape;1050;p46"/>
          <p:cNvGrpSpPr/>
          <p:nvPr/>
        </p:nvGrpSpPr>
        <p:grpSpPr>
          <a:xfrm>
            <a:off x="7039684" y="102859"/>
            <a:ext cx="4470288" cy="3467013"/>
            <a:chOff x="5479500" y="2228225"/>
            <a:chExt cx="3352800" cy="2600325"/>
          </a:xfrm>
        </p:grpSpPr>
        <p:pic>
          <p:nvPicPr>
            <p:cNvPr id="1051" name="Google Shape;1051;p46"/>
            <p:cNvPicPr preferRelativeResize="0"/>
            <p:nvPr/>
          </p:nvPicPr>
          <p:blipFill>
            <a:blip r:embed="rId3">
              <a:alphaModFix/>
            </a:blip>
            <a:stretch>
              <a:fillRect/>
            </a:stretch>
          </p:blipFill>
          <p:spPr>
            <a:xfrm>
              <a:off x="5479500" y="2228225"/>
              <a:ext cx="3352800" cy="2600325"/>
            </a:xfrm>
            <a:prstGeom prst="rect">
              <a:avLst/>
            </a:prstGeom>
            <a:noFill/>
            <a:ln>
              <a:noFill/>
            </a:ln>
          </p:spPr>
        </p:pic>
        <p:pic>
          <p:nvPicPr>
            <p:cNvPr id="1052" name="Google Shape;1052;p46"/>
            <p:cNvPicPr preferRelativeResize="0"/>
            <p:nvPr/>
          </p:nvPicPr>
          <p:blipFill>
            <a:blip r:embed="rId4">
              <a:alphaModFix/>
            </a:blip>
            <a:stretch>
              <a:fillRect/>
            </a:stretch>
          </p:blipFill>
          <p:spPr>
            <a:xfrm>
              <a:off x="6505000" y="2342250"/>
              <a:ext cx="675250" cy="1145525"/>
            </a:xfrm>
            <a:prstGeom prst="rect">
              <a:avLst/>
            </a:prstGeom>
            <a:noFill/>
            <a:ln w="12700" cap="flat" cmpd="sng">
              <a:solidFill>
                <a:schemeClr val="dk1"/>
              </a:solidFill>
              <a:prstDash val="solid"/>
              <a:round/>
              <a:headEnd type="none" w="sm" len="sm"/>
              <a:tailEnd type="none" w="sm" len="sm"/>
            </a:ln>
          </p:spPr>
        </p:pic>
      </p:grpSp>
      <p:pic>
        <p:nvPicPr>
          <p:cNvPr id="1053" name="Google Shape;1053;p46"/>
          <p:cNvPicPr preferRelativeResize="0"/>
          <p:nvPr/>
        </p:nvPicPr>
        <p:blipFill>
          <a:blip r:embed="rId5">
            <a:alphaModFix/>
          </a:blip>
          <a:stretch>
            <a:fillRect/>
          </a:stretch>
        </p:blipFill>
        <p:spPr>
          <a:xfrm>
            <a:off x="6095983" y="3634000"/>
            <a:ext cx="5524500" cy="3073400"/>
          </a:xfrm>
          <a:prstGeom prst="rect">
            <a:avLst/>
          </a:prstGeom>
          <a:noFill/>
          <a:ln>
            <a:noFill/>
          </a:ln>
        </p:spPr>
      </p:pic>
      <p:sp>
        <p:nvSpPr>
          <p:cNvPr id="1054" name="Google Shape;1054;p46"/>
          <p:cNvSpPr txBox="1"/>
          <p:nvPr/>
        </p:nvSpPr>
        <p:spPr>
          <a:xfrm>
            <a:off x="8696967" y="3936300"/>
            <a:ext cx="2241300" cy="8310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solidFill>
                  <a:srgbClr val="00FF00"/>
                </a:solidFill>
              </a:rPr>
              <a:t>LTR outlier:</a:t>
            </a:r>
            <a:endParaRPr sz="1900">
              <a:solidFill>
                <a:srgbClr val="00FF00"/>
              </a:solidFill>
            </a:endParaRPr>
          </a:p>
          <a:p>
            <a:pPr marL="0" lvl="0" indent="0" algn="l" rtl="0">
              <a:spcBef>
                <a:spcPts val="0"/>
              </a:spcBef>
              <a:spcAft>
                <a:spcPts val="0"/>
              </a:spcAft>
              <a:buNone/>
            </a:pPr>
            <a:r>
              <a:rPr lang="en-US" sz="1900"/>
              <a:t>Issue : Bad Shim</a:t>
            </a:r>
            <a:endParaRPr sz="1900"/>
          </a:p>
        </p:txBody>
      </p:sp>
      <p:sp>
        <p:nvSpPr>
          <p:cNvPr id="1055" name="Google Shape;1055;p46"/>
          <p:cNvSpPr txBox="1"/>
          <p:nvPr/>
        </p:nvSpPr>
        <p:spPr>
          <a:xfrm>
            <a:off x="9583599" y="6276600"/>
            <a:ext cx="2480700" cy="430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200"/>
              <a:t>Urine noesy data as an example</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47"/>
          <p:cNvSpPr txBox="1">
            <a:spLocks noGrp="1"/>
          </p:cNvSpPr>
          <p:nvPr>
            <p:ph type="title"/>
          </p:nvPr>
        </p:nvSpPr>
        <p:spPr>
          <a:xfrm>
            <a:off x="554128" y="364975"/>
            <a:ext cx="9474300" cy="101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500"/>
              <a:buFont typeface="Arial"/>
              <a:buNone/>
            </a:pPr>
            <a:r>
              <a:rPr lang="en-US">
                <a:latin typeface="Arial"/>
                <a:ea typeface="Arial"/>
                <a:cs typeface="Arial"/>
                <a:sym typeface="Arial"/>
              </a:rPr>
              <a:t>Line width test from the QC report </a:t>
            </a:r>
            <a:endParaRPr>
              <a:latin typeface="Arial"/>
              <a:ea typeface="Arial"/>
              <a:cs typeface="Arial"/>
              <a:sym typeface="Arial"/>
            </a:endParaRPr>
          </a:p>
        </p:txBody>
      </p:sp>
      <p:pic>
        <p:nvPicPr>
          <p:cNvPr id="1061" name="Google Shape;1061;p47"/>
          <p:cNvPicPr preferRelativeResize="0"/>
          <p:nvPr/>
        </p:nvPicPr>
        <p:blipFill>
          <a:blip r:embed="rId3">
            <a:alphaModFix/>
          </a:blip>
          <a:stretch>
            <a:fillRect/>
          </a:stretch>
        </p:blipFill>
        <p:spPr>
          <a:xfrm>
            <a:off x="4968433" y="1382871"/>
            <a:ext cx="6807966" cy="3368867"/>
          </a:xfrm>
          <a:prstGeom prst="rect">
            <a:avLst/>
          </a:prstGeom>
          <a:noFill/>
          <a:ln>
            <a:noFill/>
          </a:ln>
        </p:spPr>
      </p:pic>
      <p:sp>
        <p:nvSpPr>
          <p:cNvPr id="1062" name="Google Shape;1062;p47"/>
          <p:cNvSpPr txBox="1"/>
          <p:nvPr/>
        </p:nvSpPr>
        <p:spPr>
          <a:xfrm>
            <a:off x="5134433" y="4955433"/>
            <a:ext cx="5791200" cy="14160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t>If the line width test failed, (e.g., LW &gt;2.0 Hz)</a:t>
            </a:r>
            <a:endParaRPr sz="1900"/>
          </a:p>
          <a:p>
            <a:pPr marL="0" lvl="0" indent="0" algn="l" rtl="0">
              <a:spcBef>
                <a:spcPts val="0"/>
              </a:spcBef>
              <a:spcAft>
                <a:spcPts val="0"/>
              </a:spcAft>
              <a:buNone/>
            </a:pPr>
            <a:r>
              <a:rPr lang="en-US" sz="1900"/>
              <a:t>Check the NOESY around 1.48 ppm look for Alanine doublet peak in NOESY, in most cases the peak is not found → Line width test failed.</a:t>
            </a:r>
            <a:endParaRPr sz="1900"/>
          </a:p>
        </p:txBody>
      </p:sp>
      <p:grpSp>
        <p:nvGrpSpPr>
          <p:cNvPr id="1063" name="Google Shape;1063;p47"/>
          <p:cNvGrpSpPr/>
          <p:nvPr/>
        </p:nvGrpSpPr>
        <p:grpSpPr>
          <a:xfrm>
            <a:off x="212898" y="1659117"/>
            <a:ext cx="4778366" cy="1693514"/>
            <a:chOff x="159300" y="1113352"/>
            <a:chExt cx="3140150" cy="954200"/>
          </a:xfrm>
        </p:grpSpPr>
        <p:pic>
          <p:nvPicPr>
            <p:cNvPr id="1064" name="Google Shape;1064;p47"/>
            <p:cNvPicPr preferRelativeResize="0"/>
            <p:nvPr/>
          </p:nvPicPr>
          <p:blipFill rotWithShape="1">
            <a:blip r:embed="rId4">
              <a:alphaModFix/>
            </a:blip>
            <a:srcRect b="45051"/>
            <a:stretch/>
          </p:blipFill>
          <p:spPr>
            <a:xfrm>
              <a:off x="159300" y="1113352"/>
              <a:ext cx="3140150" cy="954200"/>
            </a:xfrm>
            <a:prstGeom prst="rect">
              <a:avLst/>
            </a:prstGeom>
            <a:noFill/>
            <a:ln>
              <a:noFill/>
            </a:ln>
          </p:spPr>
        </p:pic>
        <p:sp>
          <p:nvSpPr>
            <p:cNvPr id="1065" name="Google Shape;1065;p47"/>
            <p:cNvSpPr/>
            <p:nvPr/>
          </p:nvSpPr>
          <p:spPr>
            <a:xfrm>
              <a:off x="540892" y="1725379"/>
              <a:ext cx="2360100" cy="94200"/>
            </a:xfrm>
            <a:prstGeom prst="roundRect">
              <a:avLst>
                <a:gd name="adj" fmla="val 16667"/>
              </a:avLst>
            </a:prstGeom>
            <a:noFill/>
            <a:ln w="127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066" name="Google Shape;1066;p47"/>
          <p:cNvGrpSpPr/>
          <p:nvPr/>
        </p:nvGrpSpPr>
        <p:grpSpPr>
          <a:xfrm>
            <a:off x="203206" y="3504873"/>
            <a:ext cx="4326367" cy="1450695"/>
            <a:chOff x="225551" y="2313209"/>
            <a:chExt cx="4058886" cy="1588062"/>
          </a:xfrm>
        </p:grpSpPr>
        <p:pic>
          <p:nvPicPr>
            <p:cNvPr id="1067" name="Google Shape;1067;p47"/>
            <p:cNvPicPr preferRelativeResize="0"/>
            <p:nvPr/>
          </p:nvPicPr>
          <p:blipFill rotWithShape="1">
            <a:blip r:embed="rId5">
              <a:alphaModFix/>
            </a:blip>
            <a:srcRect t="13453" b="37195"/>
            <a:stretch/>
          </p:blipFill>
          <p:spPr>
            <a:xfrm>
              <a:off x="225551" y="2313209"/>
              <a:ext cx="4036657" cy="1588062"/>
            </a:xfrm>
            <a:prstGeom prst="rect">
              <a:avLst/>
            </a:prstGeom>
            <a:noFill/>
            <a:ln>
              <a:noFill/>
            </a:ln>
          </p:spPr>
        </p:pic>
        <p:sp>
          <p:nvSpPr>
            <p:cNvPr id="1068" name="Google Shape;1068;p47"/>
            <p:cNvSpPr/>
            <p:nvPr/>
          </p:nvSpPr>
          <p:spPr>
            <a:xfrm>
              <a:off x="599238" y="3049064"/>
              <a:ext cx="3685200" cy="155400"/>
            </a:xfrm>
            <a:prstGeom prst="roundRect">
              <a:avLst>
                <a:gd name="adj" fmla="val 16667"/>
              </a:avLst>
            </a:prstGeom>
            <a:noFill/>
            <a:ln w="127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069" name="Google Shape;1069;p47"/>
          <p:cNvSpPr txBox="1"/>
          <p:nvPr/>
        </p:nvSpPr>
        <p:spPr>
          <a:xfrm>
            <a:off x="2521080" y="1989314"/>
            <a:ext cx="2216100" cy="538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b="1" u="sng"/>
              <a:t>Plasma/Serum</a:t>
            </a:r>
            <a:endParaRPr sz="1900" b="1" u="sng"/>
          </a:p>
        </p:txBody>
      </p:sp>
      <p:sp>
        <p:nvSpPr>
          <p:cNvPr id="1070" name="Google Shape;1070;p47"/>
          <p:cNvSpPr txBox="1"/>
          <p:nvPr/>
        </p:nvSpPr>
        <p:spPr>
          <a:xfrm>
            <a:off x="2655831" y="3348830"/>
            <a:ext cx="2216100" cy="538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b="1" u="sng"/>
              <a:t>Urine</a:t>
            </a:r>
            <a:endParaRPr sz="1900" b="1" u="sn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48"/>
          <p:cNvSpPr txBox="1">
            <a:spLocks noGrp="1"/>
          </p:cNvSpPr>
          <p:nvPr>
            <p:ph type="title"/>
          </p:nvPr>
        </p:nvSpPr>
        <p:spPr>
          <a:xfrm>
            <a:off x="554133" y="791156"/>
            <a:ext cx="15147600" cy="1017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latin typeface="Arial"/>
                <a:ea typeface="Arial"/>
                <a:cs typeface="Arial"/>
                <a:sym typeface="Arial"/>
              </a:rPr>
              <a:t>Alanine peak shift from the QC report</a:t>
            </a:r>
            <a:endParaRPr>
              <a:latin typeface="Arial"/>
              <a:ea typeface="Arial"/>
              <a:cs typeface="Arial"/>
              <a:sym typeface="Arial"/>
            </a:endParaRPr>
          </a:p>
          <a:p>
            <a:pPr marL="0" lvl="0" indent="0" algn="l" rtl="0">
              <a:spcBef>
                <a:spcPts val="0"/>
              </a:spcBef>
              <a:spcAft>
                <a:spcPts val="0"/>
              </a:spcAft>
              <a:buClr>
                <a:schemeClr val="dk1"/>
              </a:buClr>
              <a:buSzPct val="34090"/>
              <a:buFont typeface="Arial"/>
              <a:buNone/>
            </a:pPr>
            <a:r>
              <a:rPr lang="en-US">
                <a:latin typeface="Arial"/>
                <a:ea typeface="Arial"/>
                <a:cs typeface="Arial"/>
                <a:sym typeface="Arial"/>
              </a:rPr>
              <a:t>in Plasma and Serum sample </a:t>
            </a:r>
            <a:endParaRPr>
              <a:latin typeface="Arial"/>
              <a:ea typeface="Arial"/>
              <a:cs typeface="Arial"/>
              <a:sym typeface="Arial"/>
            </a:endParaRPr>
          </a:p>
        </p:txBody>
      </p:sp>
      <p:grpSp>
        <p:nvGrpSpPr>
          <p:cNvPr id="1076" name="Google Shape;1076;p48"/>
          <p:cNvGrpSpPr/>
          <p:nvPr/>
        </p:nvGrpSpPr>
        <p:grpSpPr>
          <a:xfrm>
            <a:off x="923591" y="1779391"/>
            <a:ext cx="5752190" cy="1410685"/>
            <a:chOff x="257750" y="1332202"/>
            <a:chExt cx="4314250" cy="1058040"/>
          </a:xfrm>
        </p:grpSpPr>
        <p:pic>
          <p:nvPicPr>
            <p:cNvPr id="1077" name="Google Shape;1077;p48"/>
            <p:cNvPicPr preferRelativeResize="0"/>
            <p:nvPr/>
          </p:nvPicPr>
          <p:blipFill rotWithShape="1">
            <a:blip r:embed="rId3">
              <a:alphaModFix/>
            </a:blip>
            <a:srcRect t="55654"/>
            <a:stretch/>
          </p:blipFill>
          <p:spPr>
            <a:xfrm>
              <a:off x="257750" y="1332202"/>
              <a:ext cx="4314250" cy="1058040"/>
            </a:xfrm>
            <a:prstGeom prst="rect">
              <a:avLst/>
            </a:prstGeom>
            <a:noFill/>
            <a:ln>
              <a:noFill/>
            </a:ln>
          </p:spPr>
        </p:pic>
        <p:sp>
          <p:nvSpPr>
            <p:cNvPr id="1078" name="Google Shape;1078;p48"/>
            <p:cNvSpPr/>
            <p:nvPr/>
          </p:nvSpPr>
          <p:spPr>
            <a:xfrm>
              <a:off x="382675" y="2156050"/>
              <a:ext cx="4109400" cy="159000"/>
            </a:xfrm>
            <a:prstGeom prst="roundRect">
              <a:avLst>
                <a:gd name="adj" fmla="val 16667"/>
              </a:avLst>
            </a:prstGeom>
            <a:noFill/>
            <a:ln w="127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pic>
        <p:nvPicPr>
          <p:cNvPr id="1079" name="Google Shape;1079;p48"/>
          <p:cNvPicPr preferRelativeResize="0"/>
          <p:nvPr/>
        </p:nvPicPr>
        <p:blipFill>
          <a:blip r:embed="rId4">
            <a:alphaModFix/>
          </a:blip>
          <a:stretch>
            <a:fillRect/>
          </a:stretch>
        </p:blipFill>
        <p:spPr>
          <a:xfrm>
            <a:off x="822000" y="3550933"/>
            <a:ext cx="7263867" cy="3043568"/>
          </a:xfrm>
          <a:prstGeom prst="rect">
            <a:avLst/>
          </a:prstGeom>
          <a:noFill/>
          <a:ln>
            <a:noFill/>
          </a:ln>
        </p:spPr>
      </p:pic>
      <p:grpSp>
        <p:nvGrpSpPr>
          <p:cNvPr id="1080" name="Google Shape;1080;p48"/>
          <p:cNvGrpSpPr/>
          <p:nvPr/>
        </p:nvGrpSpPr>
        <p:grpSpPr>
          <a:xfrm>
            <a:off x="6726678" y="1471827"/>
            <a:ext cx="4527487" cy="3220853"/>
            <a:chOff x="5654750" y="1180100"/>
            <a:chExt cx="3395700" cy="2415700"/>
          </a:xfrm>
        </p:grpSpPr>
        <p:pic>
          <p:nvPicPr>
            <p:cNvPr id="1081" name="Google Shape;1081;p48"/>
            <p:cNvPicPr preferRelativeResize="0"/>
            <p:nvPr/>
          </p:nvPicPr>
          <p:blipFill>
            <a:blip r:embed="rId5">
              <a:alphaModFix/>
            </a:blip>
            <a:stretch>
              <a:fillRect/>
            </a:stretch>
          </p:blipFill>
          <p:spPr>
            <a:xfrm>
              <a:off x="6965023" y="1250792"/>
              <a:ext cx="2085324" cy="2345008"/>
            </a:xfrm>
            <a:prstGeom prst="rect">
              <a:avLst/>
            </a:prstGeom>
            <a:noFill/>
            <a:ln>
              <a:noFill/>
            </a:ln>
          </p:spPr>
        </p:pic>
        <p:sp>
          <p:nvSpPr>
            <p:cNvPr id="1082" name="Google Shape;1082;p48"/>
            <p:cNvSpPr txBox="1"/>
            <p:nvPr/>
          </p:nvSpPr>
          <p:spPr>
            <a:xfrm>
              <a:off x="7171809" y="1180100"/>
              <a:ext cx="1739400" cy="4041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t>1.47 ~ 1.52 ppm</a:t>
              </a:r>
              <a:endParaRPr sz="1900"/>
            </a:p>
          </p:txBody>
        </p:sp>
        <p:sp>
          <p:nvSpPr>
            <p:cNvPr id="1083" name="Google Shape;1083;p48"/>
            <p:cNvSpPr txBox="1"/>
            <p:nvPr/>
          </p:nvSpPr>
          <p:spPr>
            <a:xfrm>
              <a:off x="5686254" y="1842025"/>
              <a:ext cx="1472700" cy="484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300">
                  <a:latin typeface="Helvetica Neue"/>
                  <a:ea typeface="Helvetica Neue"/>
                  <a:cs typeface="Helvetica Neue"/>
                  <a:sym typeface="Helvetica Neue"/>
                </a:rPr>
                <a:t>Samples that failed both tests</a:t>
              </a:r>
              <a:endParaRPr sz="1300">
                <a:latin typeface="Helvetica Neue"/>
                <a:ea typeface="Helvetica Neue"/>
                <a:cs typeface="Helvetica Neue"/>
                <a:sym typeface="Helvetica Neue"/>
              </a:endParaRPr>
            </a:p>
          </p:txBody>
        </p:sp>
        <p:sp>
          <p:nvSpPr>
            <p:cNvPr id="1084" name="Google Shape;1084;p48"/>
            <p:cNvSpPr txBox="1"/>
            <p:nvPr/>
          </p:nvSpPr>
          <p:spPr>
            <a:xfrm>
              <a:off x="5654750" y="2503724"/>
              <a:ext cx="1472700" cy="484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300">
                  <a:latin typeface="Helvetica Neue"/>
                  <a:ea typeface="Helvetica Neue"/>
                  <a:cs typeface="Helvetica Neue"/>
                  <a:sym typeface="Helvetica Neue"/>
                </a:rPr>
                <a:t>Samples that failed only alanine test</a:t>
              </a:r>
              <a:endParaRPr sz="1300">
                <a:latin typeface="Helvetica Neue"/>
                <a:ea typeface="Helvetica Neue"/>
                <a:cs typeface="Helvetica Neue"/>
                <a:sym typeface="Helvetica Neue"/>
              </a:endParaRPr>
            </a:p>
          </p:txBody>
        </p:sp>
        <p:sp>
          <p:nvSpPr>
            <p:cNvPr id="1085" name="Google Shape;1085;p48"/>
            <p:cNvSpPr/>
            <p:nvPr/>
          </p:nvSpPr>
          <p:spPr>
            <a:xfrm>
              <a:off x="5686250" y="1931000"/>
              <a:ext cx="3364200" cy="333300"/>
            </a:xfrm>
            <a:prstGeom prst="rect">
              <a:avLst/>
            </a:prstGeom>
            <a:noFill/>
            <a:ln w="127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86" name="Google Shape;1086;p48"/>
            <p:cNvSpPr/>
            <p:nvPr/>
          </p:nvSpPr>
          <p:spPr>
            <a:xfrm>
              <a:off x="5686250" y="2597925"/>
              <a:ext cx="3364200" cy="333300"/>
            </a:xfrm>
            <a:prstGeom prst="rect">
              <a:avLst/>
            </a:prstGeom>
            <a:noFill/>
            <a:ln w="127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1087" name="Google Shape;1087;p48"/>
            <p:cNvCxnSpPr/>
            <p:nvPr/>
          </p:nvCxnSpPr>
          <p:spPr>
            <a:xfrm>
              <a:off x="7908975" y="1478275"/>
              <a:ext cx="0" cy="1786200"/>
            </a:xfrm>
            <a:prstGeom prst="straightConnector1">
              <a:avLst/>
            </a:prstGeom>
            <a:noFill/>
            <a:ln w="38100" cap="flat" cmpd="sng">
              <a:solidFill>
                <a:schemeClr val="dk2"/>
              </a:solidFill>
              <a:prstDash val="dash"/>
              <a:round/>
              <a:headEnd type="none" w="med" len="med"/>
              <a:tailEnd type="none" w="med" len="med"/>
            </a:ln>
          </p:spPr>
        </p:cxnSp>
        <p:cxnSp>
          <p:nvCxnSpPr>
            <p:cNvPr id="1088" name="Google Shape;1088;p48"/>
            <p:cNvCxnSpPr/>
            <p:nvPr/>
          </p:nvCxnSpPr>
          <p:spPr>
            <a:xfrm>
              <a:off x="8326400" y="1478275"/>
              <a:ext cx="0" cy="1786200"/>
            </a:xfrm>
            <a:prstGeom prst="straightConnector1">
              <a:avLst/>
            </a:prstGeom>
            <a:noFill/>
            <a:ln w="38100" cap="flat" cmpd="sng">
              <a:solidFill>
                <a:schemeClr val="dk2"/>
              </a:solidFill>
              <a:prstDash val="dash"/>
              <a:round/>
              <a:headEnd type="none" w="med" len="med"/>
              <a:tailEnd type="none" w="med" len="med"/>
            </a:ln>
          </p:spPr>
        </p:cxn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49"/>
          <p:cNvSpPr txBox="1">
            <a:spLocks noGrp="1"/>
          </p:cNvSpPr>
          <p:nvPr>
            <p:ph type="title"/>
          </p:nvPr>
        </p:nvSpPr>
        <p:spPr>
          <a:xfrm>
            <a:off x="554133" y="791156"/>
            <a:ext cx="15147600" cy="1017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latin typeface="Arial"/>
                <a:ea typeface="Arial"/>
                <a:cs typeface="Arial"/>
                <a:sym typeface="Arial"/>
              </a:rPr>
              <a:t>TSP concentration from the QC report</a:t>
            </a:r>
            <a:endParaRPr>
              <a:latin typeface="Arial"/>
              <a:ea typeface="Arial"/>
              <a:cs typeface="Arial"/>
              <a:sym typeface="Arial"/>
            </a:endParaRPr>
          </a:p>
          <a:p>
            <a:pPr marL="0" lvl="0" indent="0" algn="l" rtl="0">
              <a:spcBef>
                <a:spcPts val="0"/>
              </a:spcBef>
              <a:spcAft>
                <a:spcPts val="0"/>
              </a:spcAft>
              <a:buNone/>
            </a:pPr>
            <a:r>
              <a:rPr lang="en-US">
                <a:latin typeface="Arial"/>
                <a:ea typeface="Arial"/>
                <a:cs typeface="Arial"/>
                <a:sym typeface="Arial"/>
              </a:rPr>
              <a:t>in Urine sample </a:t>
            </a:r>
            <a:endParaRPr>
              <a:latin typeface="Arial"/>
              <a:ea typeface="Arial"/>
              <a:cs typeface="Arial"/>
              <a:sym typeface="Arial"/>
            </a:endParaRPr>
          </a:p>
        </p:txBody>
      </p:sp>
      <p:pic>
        <p:nvPicPr>
          <p:cNvPr id="1094" name="Google Shape;1094;p49"/>
          <p:cNvPicPr preferRelativeResize="0"/>
          <p:nvPr/>
        </p:nvPicPr>
        <p:blipFill>
          <a:blip r:embed="rId3">
            <a:alphaModFix/>
          </a:blip>
          <a:stretch>
            <a:fillRect/>
          </a:stretch>
        </p:blipFill>
        <p:spPr>
          <a:xfrm>
            <a:off x="437167" y="2155767"/>
            <a:ext cx="3366633" cy="3737995"/>
          </a:xfrm>
          <a:prstGeom prst="rect">
            <a:avLst/>
          </a:prstGeom>
          <a:noFill/>
          <a:ln>
            <a:noFill/>
          </a:ln>
        </p:spPr>
      </p:pic>
      <p:sp>
        <p:nvSpPr>
          <p:cNvPr id="1095" name="Google Shape;1095;p49"/>
          <p:cNvSpPr txBox="1"/>
          <p:nvPr/>
        </p:nvSpPr>
        <p:spPr>
          <a:xfrm>
            <a:off x="685587" y="2061500"/>
            <a:ext cx="2319300" cy="538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t>-0.1 ~ 0.1 ppm</a:t>
            </a:r>
            <a:endParaRPr sz="1900"/>
          </a:p>
        </p:txBody>
      </p:sp>
      <p:pic>
        <p:nvPicPr>
          <p:cNvPr id="1096" name="Google Shape;1096;p49"/>
          <p:cNvPicPr preferRelativeResize="0"/>
          <p:nvPr/>
        </p:nvPicPr>
        <p:blipFill>
          <a:blip r:embed="rId4">
            <a:alphaModFix/>
          </a:blip>
          <a:stretch>
            <a:fillRect/>
          </a:stretch>
        </p:blipFill>
        <p:spPr>
          <a:xfrm>
            <a:off x="3905400" y="3552419"/>
            <a:ext cx="7870996" cy="2434413"/>
          </a:xfrm>
          <a:prstGeom prst="rect">
            <a:avLst/>
          </a:prstGeom>
          <a:noFill/>
          <a:ln>
            <a:noFill/>
          </a:ln>
        </p:spPr>
      </p:pic>
      <p:pic>
        <p:nvPicPr>
          <p:cNvPr id="1097" name="Google Shape;1097;p49"/>
          <p:cNvPicPr preferRelativeResize="0"/>
          <p:nvPr/>
        </p:nvPicPr>
        <p:blipFill>
          <a:blip r:embed="rId5">
            <a:alphaModFix/>
          </a:blip>
          <a:stretch>
            <a:fillRect/>
          </a:stretch>
        </p:blipFill>
        <p:spPr>
          <a:xfrm>
            <a:off x="3987433" y="1838033"/>
            <a:ext cx="7252833" cy="1470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50"/>
          <p:cNvSpPr txBox="1">
            <a:spLocks noGrp="1"/>
          </p:cNvSpPr>
          <p:nvPr>
            <p:ph type="title"/>
          </p:nvPr>
        </p:nvSpPr>
        <p:spPr>
          <a:xfrm>
            <a:off x="203200" y="195933"/>
            <a:ext cx="4051200" cy="7635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Sample issue?</a:t>
            </a:r>
            <a:endParaRPr>
              <a:latin typeface="Arial"/>
              <a:ea typeface="Arial"/>
              <a:cs typeface="Arial"/>
              <a:sym typeface="Arial"/>
            </a:endParaRPr>
          </a:p>
        </p:txBody>
      </p:sp>
      <p:pic>
        <p:nvPicPr>
          <p:cNvPr id="1103" name="Google Shape;1103;p50"/>
          <p:cNvPicPr preferRelativeResize="0"/>
          <p:nvPr/>
        </p:nvPicPr>
        <p:blipFill rotWithShape="1">
          <a:blip r:embed="rId3">
            <a:alphaModFix/>
          </a:blip>
          <a:srcRect l="35970" t="46190" r="36800" b="15075"/>
          <a:stretch/>
        </p:blipFill>
        <p:spPr>
          <a:xfrm>
            <a:off x="4630033" y="1317967"/>
            <a:ext cx="1044836" cy="1981865"/>
          </a:xfrm>
          <a:prstGeom prst="rect">
            <a:avLst/>
          </a:prstGeom>
          <a:noFill/>
          <a:ln>
            <a:noFill/>
          </a:ln>
        </p:spPr>
      </p:pic>
      <p:pic>
        <p:nvPicPr>
          <p:cNvPr id="1104" name="Google Shape;1104;p50"/>
          <p:cNvPicPr preferRelativeResize="0"/>
          <p:nvPr/>
        </p:nvPicPr>
        <p:blipFill rotWithShape="1">
          <a:blip r:embed="rId4">
            <a:alphaModFix/>
          </a:blip>
          <a:srcRect t="32418" r="7935"/>
          <a:stretch/>
        </p:blipFill>
        <p:spPr>
          <a:xfrm rot="-5400000">
            <a:off x="-95814" y="2032582"/>
            <a:ext cx="5193098" cy="3763871"/>
          </a:xfrm>
          <a:prstGeom prst="rect">
            <a:avLst/>
          </a:prstGeom>
          <a:noFill/>
          <a:ln>
            <a:noFill/>
          </a:ln>
        </p:spPr>
      </p:pic>
      <p:pic>
        <p:nvPicPr>
          <p:cNvPr id="1105" name="Google Shape;1105;p50"/>
          <p:cNvPicPr preferRelativeResize="0"/>
          <p:nvPr/>
        </p:nvPicPr>
        <p:blipFill rotWithShape="1">
          <a:blip r:embed="rId5">
            <a:alphaModFix/>
          </a:blip>
          <a:srcRect l="46990" t="38598" r="32696" b="26555"/>
          <a:stretch/>
        </p:blipFill>
        <p:spPr>
          <a:xfrm>
            <a:off x="7013599" y="1317967"/>
            <a:ext cx="866505" cy="1981865"/>
          </a:xfrm>
          <a:prstGeom prst="rect">
            <a:avLst/>
          </a:prstGeom>
          <a:noFill/>
          <a:ln>
            <a:noFill/>
          </a:ln>
        </p:spPr>
      </p:pic>
      <p:pic>
        <p:nvPicPr>
          <p:cNvPr id="1106" name="Google Shape;1106;p50"/>
          <p:cNvPicPr preferRelativeResize="0"/>
          <p:nvPr/>
        </p:nvPicPr>
        <p:blipFill rotWithShape="1">
          <a:blip r:embed="rId6">
            <a:alphaModFix/>
          </a:blip>
          <a:srcRect l="38348" t="37296" r="41338" b="25102"/>
          <a:stretch/>
        </p:blipFill>
        <p:spPr>
          <a:xfrm>
            <a:off x="9669623" y="1317967"/>
            <a:ext cx="803010" cy="1981865"/>
          </a:xfrm>
          <a:prstGeom prst="rect">
            <a:avLst/>
          </a:prstGeom>
          <a:noFill/>
          <a:ln>
            <a:noFill/>
          </a:ln>
        </p:spPr>
      </p:pic>
      <p:pic>
        <p:nvPicPr>
          <p:cNvPr id="1107" name="Google Shape;1107;p50"/>
          <p:cNvPicPr preferRelativeResize="0"/>
          <p:nvPr/>
        </p:nvPicPr>
        <p:blipFill rotWithShape="1">
          <a:blip r:embed="rId7">
            <a:alphaModFix/>
          </a:blip>
          <a:srcRect l="32945" t="35032" r="43716" b="27366"/>
          <a:stretch/>
        </p:blipFill>
        <p:spPr>
          <a:xfrm>
            <a:off x="5893433" y="1317967"/>
            <a:ext cx="922575" cy="1981865"/>
          </a:xfrm>
          <a:prstGeom prst="rect">
            <a:avLst/>
          </a:prstGeom>
          <a:noFill/>
          <a:ln>
            <a:noFill/>
          </a:ln>
        </p:spPr>
      </p:pic>
      <p:pic>
        <p:nvPicPr>
          <p:cNvPr id="1108" name="Google Shape;1108;p50"/>
          <p:cNvPicPr preferRelativeResize="0"/>
          <p:nvPr/>
        </p:nvPicPr>
        <p:blipFill rotWithShape="1">
          <a:blip r:embed="rId8">
            <a:alphaModFix/>
          </a:blip>
          <a:srcRect l="31005" t="32737" r="33454" b="25770"/>
          <a:stretch/>
        </p:blipFill>
        <p:spPr>
          <a:xfrm>
            <a:off x="8138270" y="1317967"/>
            <a:ext cx="1273200" cy="1981865"/>
          </a:xfrm>
          <a:prstGeom prst="rect">
            <a:avLst/>
          </a:prstGeom>
          <a:noFill/>
          <a:ln>
            <a:noFill/>
          </a:ln>
        </p:spPr>
      </p:pic>
      <p:pic>
        <p:nvPicPr>
          <p:cNvPr id="1109" name="Google Shape;1109;p50"/>
          <p:cNvPicPr preferRelativeResize="0"/>
          <p:nvPr/>
        </p:nvPicPr>
        <p:blipFill rotWithShape="1">
          <a:blip r:embed="rId9">
            <a:alphaModFix/>
          </a:blip>
          <a:srcRect l="29394" t="19480" r="38838" b="35624"/>
          <a:stretch/>
        </p:blipFill>
        <p:spPr>
          <a:xfrm>
            <a:off x="10697300" y="1324483"/>
            <a:ext cx="1044836" cy="1968825"/>
          </a:xfrm>
          <a:prstGeom prst="rect">
            <a:avLst/>
          </a:prstGeom>
          <a:noFill/>
          <a:ln>
            <a:noFill/>
          </a:ln>
        </p:spPr>
      </p:pic>
      <p:pic>
        <p:nvPicPr>
          <p:cNvPr id="1110" name="Google Shape;1110;p50"/>
          <p:cNvPicPr preferRelativeResize="0"/>
          <p:nvPr/>
        </p:nvPicPr>
        <p:blipFill rotWithShape="1">
          <a:blip r:embed="rId10">
            <a:alphaModFix/>
          </a:blip>
          <a:srcRect l="21066" t="27388" r="10379" b="29823"/>
          <a:stretch/>
        </p:blipFill>
        <p:spPr>
          <a:xfrm>
            <a:off x="5038167" y="3494800"/>
            <a:ext cx="6268900" cy="2934401"/>
          </a:xfrm>
          <a:prstGeom prst="rect">
            <a:avLst/>
          </a:prstGeom>
          <a:noFill/>
          <a:ln>
            <a:noFill/>
          </a:ln>
        </p:spPr>
      </p:pic>
      <p:sp>
        <p:nvSpPr>
          <p:cNvPr id="1111" name="Google Shape;1111;p50"/>
          <p:cNvSpPr txBox="1"/>
          <p:nvPr/>
        </p:nvSpPr>
        <p:spPr>
          <a:xfrm>
            <a:off x="6388083" y="708900"/>
            <a:ext cx="3596100" cy="615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2400">
                <a:solidFill>
                  <a:schemeClr val="dk1"/>
                </a:solidFill>
              </a:rPr>
              <a:t>Haemolysed plasma</a:t>
            </a:r>
            <a:endParaRPr sz="24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51"/>
          <p:cNvSpPr txBox="1">
            <a:spLocks noGrp="1"/>
          </p:cNvSpPr>
          <p:nvPr>
            <p:ph type="title"/>
          </p:nvPr>
        </p:nvSpPr>
        <p:spPr>
          <a:xfrm>
            <a:off x="415600" y="593367"/>
            <a:ext cx="4433100" cy="7635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Sample issue?</a:t>
            </a:r>
            <a:endParaRPr>
              <a:latin typeface="Arial"/>
              <a:ea typeface="Arial"/>
              <a:cs typeface="Arial"/>
              <a:sym typeface="Arial"/>
            </a:endParaRPr>
          </a:p>
        </p:txBody>
      </p:sp>
      <p:sp>
        <p:nvSpPr>
          <p:cNvPr id="1117" name="Google Shape;1117;p51"/>
          <p:cNvSpPr txBox="1"/>
          <p:nvPr/>
        </p:nvSpPr>
        <p:spPr>
          <a:xfrm>
            <a:off x="471667" y="3429000"/>
            <a:ext cx="3999900" cy="4155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10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https://doi.org/10.1021/acs.analchem.2c02167</a:t>
            </a:r>
            <a:endParaRPr sz="1100">
              <a:solidFill>
                <a:schemeClr val="dk1"/>
              </a:solidFill>
            </a:endParaRPr>
          </a:p>
        </p:txBody>
      </p:sp>
      <p:pic>
        <p:nvPicPr>
          <p:cNvPr id="1118" name="Google Shape;1118;p51"/>
          <p:cNvPicPr preferRelativeResize="0"/>
          <p:nvPr/>
        </p:nvPicPr>
        <p:blipFill>
          <a:blip r:embed="rId4">
            <a:alphaModFix/>
          </a:blip>
          <a:stretch>
            <a:fillRect/>
          </a:stretch>
        </p:blipFill>
        <p:spPr>
          <a:xfrm>
            <a:off x="471667" y="1356967"/>
            <a:ext cx="5481199" cy="2142866"/>
          </a:xfrm>
          <a:prstGeom prst="rect">
            <a:avLst/>
          </a:prstGeom>
          <a:noFill/>
          <a:ln>
            <a:noFill/>
          </a:ln>
        </p:spPr>
      </p:pic>
      <p:pic>
        <p:nvPicPr>
          <p:cNvPr id="1119" name="Google Shape;1119;p51"/>
          <p:cNvPicPr preferRelativeResize="0"/>
          <p:nvPr/>
        </p:nvPicPr>
        <p:blipFill>
          <a:blip r:embed="rId5">
            <a:alphaModFix/>
          </a:blip>
          <a:stretch>
            <a:fillRect/>
          </a:stretch>
        </p:blipFill>
        <p:spPr>
          <a:xfrm>
            <a:off x="562099" y="3768967"/>
            <a:ext cx="5207000" cy="2425700"/>
          </a:xfrm>
          <a:prstGeom prst="rect">
            <a:avLst/>
          </a:prstGeom>
          <a:noFill/>
          <a:ln>
            <a:noFill/>
          </a:ln>
        </p:spPr>
      </p:pic>
      <p:pic>
        <p:nvPicPr>
          <p:cNvPr id="1120" name="Google Shape;1120;p51"/>
          <p:cNvPicPr preferRelativeResize="0"/>
          <p:nvPr/>
        </p:nvPicPr>
        <p:blipFill>
          <a:blip r:embed="rId6">
            <a:alphaModFix/>
          </a:blip>
          <a:stretch>
            <a:fillRect/>
          </a:stretch>
        </p:blipFill>
        <p:spPr>
          <a:xfrm>
            <a:off x="5769101" y="1603646"/>
            <a:ext cx="6210275" cy="3828378"/>
          </a:xfrm>
          <a:prstGeom prst="rect">
            <a:avLst/>
          </a:prstGeom>
          <a:noFill/>
          <a:ln>
            <a:noFill/>
          </a:ln>
        </p:spPr>
      </p:pic>
      <p:sp>
        <p:nvSpPr>
          <p:cNvPr id="1121" name="Google Shape;1121;p51"/>
          <p:cNvSpPr txBox="1"/>
          <p:nvPr/>
        </p:nvSpPr>
        <p:spPr>
          <a:xfrm>
            <a:off x="10083367" y="5432033"/>
            <a:ext cx="1896000" cy="4464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300"/>
              <a:t>Plots from Sam L.</a:t>
            </a:r>
            <a:endParaRPr sz="13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5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Arial"/>
                <a:ea typeface="Arial"/>
                <a:cs typeface="Arial"/>
                <a:sym typeface="Arial"/>
              </a:rPr>
              <a:t>Quality Control – Why?</a:t>
            </a:r>
            <a:endParaRPr>
              <a:latin typeface="Arial"/>
              <a:ea typeface="Arial"/>
              <a:cs typeface="Arial"/>
              <a:sym typeface="Arial"/>
            </a:endParaRPr>
          </a:p>
        </p:txBody>
      </p:sp>
      <p:pic>
        <p:nvPicPr>
          <p:cNvPr id="1127" name="Google Shape;1127;p52"/>
          <p:cNvPicPr preferRelativeResize="0">
            <a:picLocks noGrp="1"/>
          </p:cNvPicPr>
          <p:nvPr>
            <p:ph type="body" idx="1"/>
          </p:nvPr>
        </p:nvPicPr>
        <p:blipFill rotWithShape="1">
          <a:blip r:embed="rId3">
            <a:alphaModFix/>
          </a:blip>
          <a:srcRect/>
          <a:stretch/>
        </p:blipFill>
        <p:spPr>
          <a:xfrm>
            <a:off x="1900624" y="1825625"/>
            <a:ext cx="8390700" cy="4351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5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Arial"/>
                <a:ea typeface="Arial"/>
                <a:cs typeface="Arial"/>
                <a:sym typeface="Arial"/>
              </a:rPr>
              <a:t>Quality Control – How?</a:t>
            </a:r>
            <a:endParaRPr>
              <a:latin typeface="Arial"/>
              <a:ea typeface="Arial"/>
              <a:cs typeface="Arial"/>
              <a:sym typeface="Arial"/>
            </a:endParaRPr>
          </a:p>
        </p:txBody>
      </p:sp>
      <p:pic>
        <p:nvPicPr>
          <p:cNvPr id="1133" name="Google Shape;1133;p53"/>
          <p:cNvPicPr preferRelativeResize="0">
            <a:picLocks noGrp="1"/>
          </p:cNvPicPr>
          <p:nvPr>
            <p:ph type="body" idx="1"/>
          </p:nvPr>
        </p:nvPicPr>
        <p:blipFill rotWithShape="1">
          <a:blip r:embed="rId3">
            <a:alphaModFix/>
          </a:blip>
          <a:srcRect/>
          <a:stretch/>
        </p:blipFill>
        <p:spPr>
          <a:xfrm>
            <a:off x="1684227" y="1825625"/>
            <a:ext cx="8823600" cy="4351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7"/>
        <p:cNvGrpSpPr/>
        <p:nvPr/>
      </p:nvGrpSpPr>
      <p:grpSpPr>
        <a:xfrm>
          <a:off x="0" y="0"/>
          <a:ext cx="0" cy="0"/>
          <a:chOff x="0" y="0"/>
          <a:chExt cx="0" cy="0"/>
        </a:xfrm>
      </p:grpSpPr>
      <p:sp>
        <p:nvSpPr>
          <p:cNvPr id="1138" name="Google Shape;1138;p54"/>
          <p:cNvSpPr/>
          <p:nvPr/>
        </p:nvSpPr>
        <p:spPr>
          <a:xfrm rot="-5400000">
            <a:off x="800223" y="1491369"/>
            <a:ext cx="3333600" cy="3499200"/>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9" name="Google Shape;1139;p54"/>
          <p:cNvSpPr txBox="1">
            <a:spLocks noGrp="1"/>
          </p:cNvSpPr>
          <p:nvPr>
            <p:ph type="title"/>
          </p:nvPr>
        </p:nvSpPr>
        <p:spPr>
          <a:xfrm>
            <a:off x="1028700" y="1967266"/>
            <a:ext cx="2628900" cy="254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Calibri"/>
              <a:buNone/>
            </a:pPr>
            <a:r>
              <a:rPr lang="en-US" sz="3600">
                <a:solidFill>
                  <a:srgbClr val="FFFFFF"/>
                </a:solidFill>
                <a:latin typeface="Arial"/>
                <a:ea typeface="Arial"/>
                <a:cs typeface="Arial"/>
                <a:sym typeface="Arial"/>
              </a:rPr>
              <a:t>Pooled QC Samples</a:t>
            </a:r>
            <a:endParaRPr>
              <a:latin typeface="Arial"/>
              <a:ea typeface="Arial"/>
              <a:cs typeface="Arial"/>
              <a:sym typeface="Arial"/>
            </a:endParaRPr>
          </a:p>
        </p:txBody>
      </p:sp>
      <p:pic>
        <p:nvPicPr>
          <p:cNvPr id="1140" name="Google Shape;1140;p54" descr="Diagram&#10;&#10;Description automatically generated"/>
          <p:cNvPicPr preferRelativeResize="0">
            <a:picLocks noGrp="1"/>
          </p:cNvPicPr>
          <p:nvPr>
            <p:ph type="body" idx="1"/>
          </p:nvPr>
        </p:nvPicPr>
        <p:blipFill rotWithShape="1">
          <a:blip r:embed="rId3">
            <a:alphaModFix/>
          </a:blip>
          <a:srcRect/>
          <a:stretch/>
        </p:blipFill>
        <p:spPr>
          <a:xfrm>
            <a:off x="4777316" y="2003889"/>
            <a:ext cx="6780600" cy="2847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Arial"/>
                <a:ea typeface="Arial"/>
                <a:cs typeface="Arial"/>
                <a:sym typeface="Arial"/>
              </a:rPr>
              <a:t>Batch Correction</a:t>
            </a:r>
            <a:endParaRPr>
              <a:latin typeface="Arial"/>
              <a:ea typeface="Arial"/>
              <a:cs typeface="Arial"/>
              <a:sym typeface="Arial"/>
            </a:endParaRPr>
          </a:p>
        </p:txBody>
      </p:sp>
      <p:pic>
        <p:nvPicPr>
          <p:cNvPr id="1146" name="Google Shape;1146;p55" descr="Chart, scatter chart&#10;&#10;Description automatically generated"/>
          <p:cNvPicPr preferRelativeResize="0">
            <a:picLocks noGrp="1"/>
          </p:cNvPicPr>
          <p:nvPr>
            <p:ph type="body" idx="1"/>
          </p:nvPr>
        </p:nvPicPr>
        <p:blipFill rotWithShape="1">
          <a:blip r:embed="rId3">
            <a:alphaModFix/>
          </a:blip>
          <a:srcRect/>
          <a:stretch/>
        </p:blipFill>
        <p:spPr>
          <a:xfrm>
            <a:off x="1993057" y="1333020"/>
            <a:ext cx="7698000" cy="5290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pic>
        <p:nvPicPr>
          <p:cNvPr id="1151" name="Google Shape;1151;p56"/>
          <p:cNvPicPr preferRelativeResize="0">
            <a:picLocks noGrp="1"/>
          </p:cNvPicPr>
          <p:nvPr>
            <p:ph type="body" idx="1"/>
          </p:nvPr>
        </p:nvPicPr>
        <p:blipFill rotWithShape="1">
          <a:blip r:embed="rId3">
            <a:alphaModFix/>
          </a:blip>
          <a:srcRect/>
          <a:stretch/>
        </p:blipFill>
        <p:spPr>
          <a:xfrm>
            <a:off x="3000375" y="2705894"/>
            <a:ext cx="6191400" cy="2590800"/>
          </a:xfrm>
          <a:prstGeom prst="rect">
            <a:avLst/>
          </a:prstGeom>
          <a:noFill/>
          <a:ln>
            <a:noFill/>
          </a:ln>
        </p:spPr>
      </p:pic>
      <p:pic>
        <p:nvPicPr>
          <p:cNvPr id="1152" name="Google Shape;1152;p56"/>
          <p:cNvPicPr preferRelativeResize="0"/>
          <p:nvPr/>
        </p:nvPicPr>
        <p:blipFill rotWithShape="1">
          <a:blip r:embed="rId4">
            <a:alphaModFix/>
          </a:blip>
          <a:srcRect/>
          <a:stretch/>
        </p:blipFill>
        <p:spPr>
          <a:xfrm>
            <a:off x="1576339" y="3431682"/>
            <a:ext cx="8323503" cy="128772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5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Arial"/>
                <a:ea typeface="Arial"/>
                <a:cs typeface="Arial"/>
                <a:sym typeface="Arial"/>
              </a:rPr>
              <a:t>Assessment of Peaks</a:t>
            </a:r>
            <a:endParaRPr>
              <a:latin typeface="Arial"/>
              <a:ea typeface="Arial"/>
              <a:cs typeface="Arial"/>
              <a:sym typeface="Arial"/>
            </a:endParaRPr>
          </a:p>
        </p:txBody>
      </p:sp>
      <p:pic>
        <p:nvPicPr>
          <p:cNvPr id="1158" name="Google Shape;1158;p57" descr="Chart, scatter chart&#10;&#10;Description automatically generated"/>
          <p:cNvPicPr preferRelativeResize="0">
            <a:picLocks noGrp="1"/>
          </p:cNvPicPr>
          <p:nvPr>
            <p:ph type="body" idx="1"/>
          </p:nvPr>
        </p:nvPicPr>
        <p:blipFill rotWithShape="1">
          <a:blip r:embed="rId3">
            <a:alphaModFix/>
          </a:blip>
          <a:srcRect/>
          <a:stretch/>
        </p:blipFill>
        <p:spPr>
          <a:xfrm>
            <a:off x="1829461" y="1327427"/>
            <a:ext cx="8625300" cy="5467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5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Arial"/>
                <a:ea typeface="Arial"/>
                <a:cs typeface="Arial"/>
                <a:sym typeface="Arial"/>
              </a:rPr>
              <a:t>Peak Assessment</a:t>
            </a:r>
            <a:endParaRPr>
              <a:latin typeface="Arial"/>
              <a:ea typeface="Arial"/>
              <a:cs typeface="Arial"/>
              <a:sym typeface="Arial"/>
            </a:endParaRPr>
          </a:p>
        </p:txBody>
      </p:sp>
      <p:pic>
        <p:nvPicPr>
          <p:cNvPr id="1164" name="Google Shape;1164;p58" descr="Chart, box and whisker chart&#10;&#10;Description automatically generated"/>
          <p:cNvPicPr preferRelativeResize="0">
            <a:picLocks noGrp="1"/>
          </p:cNvPicPr>
          <p:nvPr>
            <p:ph type="body" idx="1"/>
          </p:nvPr>
        </p:nvPicPr>
        <p:blipFill rotWithShape="1">
          <a:blip r:embed="rId3">
            <a:alphaModFix/>
          </a:blip>
          <a:srcRect/>
          <a:stretch/>
        </p:blipFill>
        <p:spPr>
          <a:xfrm>
            <a:off x="1050126" y="1502352"/>
            <a:ext cx="9252900" cy="50826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5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Peak Assessment</a:t>
            </a:r>
            <a:endParaRPr/>
          </a:p>
        </p:txBody>
      </p:sp>
      <p:pic>
        <p:nvPicPr>
          <p:cNvPr id="1170" name="Google Shape;1170;p59" descr="A picture containing text, clock&#10;&#10;Description automatically generated"/>
          <p:cNvPicPr preferRelativeResize="0">
            <a:picLocks noGrp="1"/>
          </p:cNvPicPr>
          <p:nvPr>
            <p:ph type="body" idx="1"/>
          </p:nvPr>
        </p:nvPicPr>
        <p:blipFill rotWithShape="1">
          <a:blip r:embed="rId3">
            <a:alphaModFix/>
          </a:blip>
          <a:srcRect/>
          <a:stretch/>
        </p:blipFill>
        <p:spPr>
          <a:xfrm>
            <a:off x="669895" y="1186777"/>
            <a:ext cx="10298100" cy="5344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6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Missing Values and Imputation</a:t>
            </a:r>
            <a:endParaRPr>
              <a:latin typeface="Arial"/>
              <a:ea typeface="Arial"/>
              <a:cs typeface="Arial"/>
              <a:sym typeface="Arial"/>
            </a:endParaRPr>
          </a:p>
        </p:txBody>
      </p:sp>
      <p:pic>
        <p:nvPicPr>
          <p:cNvPr id="1177" name="Google Shape;1177;p60"/>
          <p:cNvPicPr preferRelativeResize="0"/>
          <p:nvPr/>
        </p:nvPicPr>
        <p:blipFill>
          <a:blip r:embed="rId3">
            <a:alphaModFix/>
          </a:blip>
          <a:stretch>
            <a:fillRect/>
          </a:stretch>
        </p:blipFill>
        <p:spPr>
          <a:xfrm>
            <a:off x="1" y="5657700"/>
            <a:ext cx="2275174" cy="1200289"/>
          </a:xfrm>
          <a:prstGeom prst="rect">
            <a:avLst/>
          </a:prstGeom>
          <a:noFill/>
          <a:ln>
            <a:noFill/>
          </a:ln>
        </p:spPr>
      </p:pic>
      <p:pic>
        <p:nvPicPr>
          <p:cNvPr id="1178" name="Google Shape;1178;p60" title="Screenshot 2025-09-10 at 5.40.33 PM.png"/>
          <p:cNvPicPr preferRelativeResize="0"/>
          <p:nvPr/>
        </p:nvPicPr>
        <p:blipFill>
          <a:blip r:embed="rId4">
            <a:alphaModFix/>
          </a:blip>
          <a:stretch>
            <a:fillRect/>
          </a:stretch>
        </p:blipFill>
        <p:spPr>
          <a:xfrm>
            <a:off x="6140475" y="1519250"/>
            <a:ext cx="5815575" cy="4258426"/>
          </a:xfrm>
          <a:prstGeom prst="rect">
            <a:avLst/>
          </a:prstGeom>
          <a:noFill/>
          <a:ln>
            <a:noFill/>
          </a:ln>
        </p:spPr>
      </p:pic>
      <p:sp>
        <p:nvSpPr>
          <p:cNvPr id="1179" name="Google Shape;1179;p60"/>
          <p:cNvSpPr txBox="1"/>
          <p:nvPr/>
        </p:nvSpPr>
        <p:spPr>
          <a:xfrm>
            <a:off x="838200" y="1519250"/>
            <a:ext cx="50688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rPr>
              <a:t>Types of missingness:</a:t>
            </a:r>
            <a:endParaRPr sz="2800">
              <a:solidFill>
                <a:schemeClr val="dk1"/>
              </a:solidFill>
            </a:endParaRPr>
          </a:p>
          <a:p>
            <a:pPr marL="457200" lvl="0" indent="-406400" algn="l" rtl="0">
              <a:spcBef>
                <a:spcPts val="0"/>
              </a:spcBef>
              <a:spcAft>
                <a:spcPts val="0"/>
              </a:spcAft>
              <a:buClr>
                <a:schemeClr val="dk1"/>
              </a:buClr>
              <a:buSzPts val="2800"/>
              <a:buChar char="●"/>
            </a:pPr>
            <a:r>
              <a:rPr lang="en-US" sz="2800">
                <a:solidFill>
                  <a:schemeClr val="dk1"/>
                </a:solidFill>
              </a:rPr>
              <a:t>Missing Completely At Random (MCAR)</a:t>
            </a:r>
            <a:endParaRPr sz="2800">
              <a:solidFill>
                <a:schemeClr val="dk1"/>
              </a:solidFill>
            </a:endParaRPr>
          </a:p>
          <a:p>
            <a:pPr marL="457200" lvl="0" indent="-406400" algn="l" rtl="0">
              <a:spcBef>
                <a:spcPts val="0"/>
              </a:spcBef>
              <a:spcAft>
                <a:spcPts val="0"/>
              </a:spcAft>
              <a:buClr>
                <a:schemeClr val="dk1"/>
              </a:buClr>
              <a:buSzPts val="2800"/>
              <a:buChar char="●"/>
            </a:pPr>
            <a:r>
              <a:rPr lang="en-US" sz="2800">
                <a:solidFill>
                  <a:schemeClr val="dk1"/>
                </a:solidFill>
              </a:rPr>
              <a:t>Missing At Random (MAR)</a:t>
            </a:r>
            <a:endParaRPr sz="2800">
              <a:solidFill>
                <a:schemeClr val="dk1"/>
              </a:solidFill>
            </a:endParaRPr>
          </a:p>
          <a:p>
            <a:pPr marL="457200" lvl="0" indent="-406400" algn="l" rtl="0">
              <a:spcBef>
                <a:spcPts val="0"/>
              </a:spcBef>
              <a:spcAft>
                <a:spcPts val="0"/>
              </a:spcAft>
              <a:buClr>
                <a:schemeClr val="dk1"/>
              </a:buClr>
              <a:buSzPts val="2800"/>
              <a:buChar char="●"/>
            </a:pPr>
            <a:r>
              <a:rPr lang="en-US" sz="2800">
                <a:solidFill>
                  <a:schemeClr val="dk1"/>
                </a:solidFill>
              </a:rPr>
              <a:t>Missing Not At Random (MNAR)</a:t>
            </a:r>
            <a:endParaRPr sz="2800">
              <a:solidFill>
                <a:schemeClr val="dk1"/>
              </a:solidFill>
            </a:endParaRPr>
          </a:p>
          <a:p>
            <a:pPr marL="0" lvl="0" indent="0" algn="l" rtl="0">
              <a:spcBef>
                <a:spcPts val="0"/>
              </a:spcBef>
              <a:spcAft>
                <a:spcPts val="0"/>
              </a:spcAft>
              <a:buNone/>
            </a:pPr>
            <a:endParaRPr sz="28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6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Arial"/>
                <a:ea typeface="Arial"/>
                <a:cs typeface="Arial"/>
                <a:sym typeface="Arial"/>
              </a:rPr>
              <a:t>Commonly used imputation methods</a:t>
            </a:r>
            <a:endParaRPr>
              <a:latin typeface="Arial"/>
              <a:ea typeface="Arial"/>
              <a:cs typeface="Arial"/>
              <a:sym typeface="Arial"/>
            </a:endParaRPr>
          </a:p>
        </p:txBody>
      </p:sp>
      <p:pic>
        <p:nvPicPr>
          <p:cNvPr id="1186" name="Google Shape;1186;p61"/>
          <p:cNvPicPr preferRelativeResize="0"/>
          <p:nvPr/>
        </p:nvPicPr>
        <p:blipFill>
          <a:blip r:embed="rId3">
            <a:alphaModFix/>
          </a:blip>
          <a:stretch>
            <a:fillRect/>
          </a:stretch>
        </p:blipFill>
        <p:spPr>
          <a:xfrm>
            <a:off x="1" y="5657700"/>
            <a:ext cx="2275174" cy="1200289"/>
          </a:xfrm>
          <a:prstGeom prst="rect">
            <a:avLst/>
          </a:prstGeom>
          <a:noFill/>
          <a:ln>
            <a:noFill/>
          </a:ln>
        </p:spPr>
      </p:pic>
      <p:sp>
        <p:nvSpPr>
          <p:cNvPr id="1187" name="Google Shape;1187;p61"/>
          <p:cNvSpPr txBox="1"/>
          <p:nvPr/>
        </p:nvSpPr>
        <p:spPr>
          <a:xfrm>
            <a:off x="527278" y="1690825"/>
            <a:ext cx="3377400" cy="42174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00000"/>
              </a:lnSpc>
              <a:spcBef>
                <a:spcPts val="1400"/>
              </a:spcBef>
              <a:spcAft>
                <a:spcPts val="0"/>
              </a:spcAft>
              <a:buNone/>
            </a:pPr>
            <a:r>
              <a:rPr lang="en-US" b="1">
                <a:solidFill>
                  <a:schemeClr val="dk1"/>
                </a:solidFill>
              </a:rPr>
              <a:t>Random Forest (RF)</a:t>
            </a:r>
            <a:endParaRPr b="1">
              <a:solidFill>
                <a:schemeClr val="dk1"/>
              </a:solidFill>
            </a:endParaRPr>
          </a:p>
          <a:p>
            <a:pPr marL="457200" lvl="0" indent="-317500" algn="l" rtl="0">
              <a:lnSpc>
                <a:spcPct val="100000"/>
              </a:lnSpc>
              <a:spcBef>
                <a:spcPts val="1200"/>
              </a:spcBef>
              <a:spcAft>
                <a:spcPts val="0"/>
              </a:spcAft>
              <a:buClr>
                <a:schemeClr val="dk1"/>
              </a:buClr>
              <a:buSzPts val="1400"/>
              <a:buChar char="●"/>
            </a:pPr>
            <a:r>
              <a:rPr lang="en-US">
                <a:solidFill>
                  <a:schemeClr val="dk1"/>
                </a:solidFill>
              </a:rPr>
              <a:t>Ensemble machine learning method (many decision trees).</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Non-parametric → no assumptions about data distribution.</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Captures </a:t>
            </a:r>
            <a:r>
              <a:rPr lang="en-US" b="1">
                <a:solidFill>
                  <a:schemeClr val="dk1"/>
                </a:solidFill>
              </a:rPr>
              <a:t>non-linear relationships</a:t>
            </a:r>
            <a:r>
              <a:rPr lang="en-US">
                <a:solidFill>
                  <a:schemeClr val="dk1"/>
                </a:solidFill>
              </a:rPr>
              <a:t> and </a:t>
            </a:r>
            <a:r>
              <a:rPr lang="en-US" b="1">
                <a:solidFill>
                  <a:schemeClr val="dk1"/>
                </a:solidFill>
              </a:rPr>
              <a:t>variable interactions</a:t>
            </a:r>
            <a:r>
              <a:rPr lang="en-US">
                <a:solidFill>
                  <a:schemeClr val="dk1"/>
                </a:solidFill>
              </a:rPr>
              <a:t>.</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Used for imputation by predicting missing values from observed data.</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Works well with </a:t>
            </a:r>
            <a:r>
              <a:rPr lang="en-US" b="1">
                <a:solidFill>
                  <a:schemeClr val="dk1"/>
                </a:solidFill>
              </a:rPr>
              <a:t>mixed data types</a:t>
            </a:r>
            <a:r>
              <a:rPr lang="en-US">
                <a:solidFill>
                  <a:schemeClr val="dk1"/>
                </a:solidFill>
              </a:rPr>
              <a:t> (categorical + continuous).</a:t>
            </a:r>
            <a:endParaRPr>
              <a:solidFill>
                <a:schemeClr val="dk1"/>
              </a:solidFill>
            </a:endParaRPr>
          </a:p>
        </p:txBody>
      </p:sp>
      <p:sp>
        <p:nvSpPr>
          <p:cNvPr id="1188" name="Google Shape;1188;p61"/>
          <p:cNvSpPr txBox="1"/>
          <p:nvPr/>
        </p:nvSpPr>
        <p:spPr>
          <a:xfrm>
            <a:off x="3904553" y="1690825"/>
            <a:ext cx="4088100" cy="4863900"/>
          </a:xfrm>
          <a:prstGeom prst="rect">
            <a:avLst/>
          </a:prstGeom>
          <a:solidFill>
            <a:srgbClr val="B6D7A8"/>
          </a:solidFill>
          <a:ln>
            <a:noFill/>
          </a:ln>
        </p:spPr>
        <p:txBody>
          <a:bodyPr spcFirstLastPara="1" wrap="square" lIns="91425" tIns="91425" rIns="91425" bIns="91425" anchor="t" anchorCtr="0">
            <a:spAutoFit/>
          </a:bodyPr>
          <a:lstStyle/>
          <a:p>
            <a:pPr marL="0" lvl="0" indent="0" algn="l" rtl="0">
              <a:lnSpc>
                <a:spcPct val="100000"/>
              </a:lnSpc>
              <a:spcBef>
                <a:spcPts val="1400"/>
              </a:spcBef>
              <a:spcAft>
                <a:spcPts val="0"/>
              </a:spcAft>
              <a:buNone/>
            </a:pPr>
            <a:r>
              <a:rPr lang="en-US" b="1">
                <a:solidFill>
                  <a:schemeClr val="dk1"/>
                </a:solidFill>
              </a:rPr>
              <a:t>missForest</a:t>
            </a:r>
            <a:endParaRPr b="1">
              <a:solidFill>
                <a:schemeClr val="dk1"/>
              </a:solidFill>
            </a:endParaRPr>
          </a:p>
          <a:p>
            <a:pPr marL="457200" lvl="0" indent="-317500" algn="l" rtl="0">
              <a:lnSpc>
                <a:spcPct val="100000"/>
              </a:lnSpc>
              <a:spcBef>
                <a:spcPts val="1200"/>
              </a:spcBef>
              <a:spcAft>
                <a:spcPts val="0"/>
              </a:spcAft>
              <a:buClr>
                <a:schemeClr val="dk1"/>
              </a:buClr>
              <a:buSzPts val="1400"/>
              <a:buChar char="●"/>
            </a:pPr>
            <a:r>
              <a:rPr lang="en-US">
                <a:solidFill>
                  <a:schemeClr val="dk1"/>
                </a:solidFill>
              </a:rPr>
              <a:t>Specific </a:t>
            </a:r>
            <a:r>
              <a:rPr lang="en-US" b="1">
                <a:solidFill>
                  <a:schemeClr val="dk1"/>
                </a:solidFill>
              </a:rPr>
              <a:t>RF-based imputation algorithm</a:t>
            </a:r>
            <a:r>
              <a:rPr lang="en-US">
                <a:solidFill>
                  <a:schemeClr val="dk1"/>
                </a:solidFill>
              </a:rPr>
              <a:t>.</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Steps:</a:t>
            </a:r>
            <a:br>
              <a:rPr lang="en-US">
                <a:solidFill>
                  <a:schemeClr val="dk1"/>
                </a:solidFill>
              </a:rPr>
            </a:br>
            <a:endParaRPr>
              <a:solidFill>
                <a:schemeClr val="dk1"/>
              </a:solidFill>
            </a:endParaRPr>
          </a:p>
          <a:p>
            <a:pPr marL="914400" lvl="1" indent="-317500" algn="l" rtl="0">
              <a:lnSpc>
                <a:spcPct val="100000"/>
              </a:lnSpc>
              <a:spcBef>
                <a:spcPts val="0"/>
              </a:spcBef>
              <a:spcAft>
                <a:spcPts val="0"/>
              </a:spcAft>
              <a:buClr>
                <a:schemeClr val="dk1"/>
              </a:buClr>
              <a:buSzPts val="1400"/>
              <a:buChar char="○"/>
            </a:pPr>
            <a:r>
              <a:rPr lang="en-US">
                <a:solidFill>
                  <a:schemeClr val="dk1"/>
                </a:solidFill>
              </a:rPr>
              <a:t>Start with initial guess for missing values.</a:t>
            </a:r>
            <a:br>
              <a:rPr lang="en-US">
                <a:solidFill>
                  <a:schemeClr val="dk1"/>
                </a:solidFill>
              </a:rPr>
            </a:br>
            <a:endParaRPr>
              <a:solidFill>
                <a:schemeClr val="dk1"/>
              </a:solidFill>
            </a:endParaRPr>
          </a:p>
          <a:p>
            <a:pPr marL="914400" lvl="1" indent="-317500" algn="l" rtl="0">
              <a:lnSpc>
                <a:spcPct val="100000"/>
              </a:lnSpc>
              <a:spcBef>
                <a:spcPts val="0"/>
              </a:spcBef>
              <a:spcAft>
                <a:spcPts val="0"/>
              </a:spcAft>
              <a:buClr>
                <a:schemeClr val="dk1"/>
              </a:buClr>
              <a:buSzPts val="1400"/>
              <a:buChar char="○"/>
            </a:pPr>
            <a:r>
              <a:rPr lang="en-US">
                <a:solidFill>
                  <a:schemeClr val="dk1"/>
                </a:solidFill>
              </a:rPr>
              <a:t>Iteratively train Random Forests to predict missing entries.</a:t>
            </a:r>
            <a:br>
              <a:rPr lang="en-US">
                <a:solidFill>
                  <a:schemeClr val="dk1"/>
                </a:solidFill>
              </a:rPr>
            </a:br>
            <a:endParaRPr>
              <a:solidFill>
                <a:schemeClr val="dk1"/>
              </a:solidFill>
            </a:endParaRPr>
          </a:p>
          <a:p>
            <a:pPr marL="914400" lvl="1" indent="-317500" algn="l" rtl="0">
              <a:lnSpc>
                <a:spcPct val="100000"/>
              </a:lnSpc>
              <a:spcBef>
                <a:spcPts val="0"/>
              </a:spcBef>
              <a:spcAft>
                <a:spcPts val="0"/>
              </a:spcAft>
              <a:buClr>
                <a:schemeClr val="dk1"/>
              </a:buClr>
              <a:buSzPts val="1400"/>
              <a:buChar char="○"/>
            </a:pPr>
            <a:r>
              <a:rPr lang="en-US">
                <a:solidFill>
                  <a:schemeClr val="dk1"/>
                </a:solidFill>
              </a:rPr>
              <a:t>Repeat until imputations stabilise (convergence).</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Provides </a:t>
            </a:r>
            <a:r>
              <a:rPr lang="en-US" b="1">
                <a:solidFill>
                  <a:schemeClr val="dk1"/>
                </a:solidFill>
              </a:rPr>
              <a:t>out-of-bag (OOB) error estimate</a:t>
            </a:r>
            <a:r>
              <a:rPr lang="en-US">
                <a:solidFill>
                  <a:schemeClr val="dk1"/>
                </a:solidFill>
              </a:rPr>
              <a:t> as an accuracy measure.</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Effective for high-dimensional, heterogeneous datasets (e.g., omics).</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Produces a </a:t>
            </a:r>
            <a:r>
              <a:rPr lang="en-US" b="1">
                <a:solidFill>
                  <a:schemeClr val="dk1"/>
                </a:solidFill>
              </a:rPr>
              <a:t>single completed dataset</a:t>
            </a:r>
            <a:r>
              <a:rPr lang="en-US">
                <a:solidFill>
                  <a:schemeClr val="dk1"/>
                </a:solidFill>
              </a:rPr>
              <a:t>.</a:t>
            </a:r>
            <a:endParaRPr>
              <a:solidFill>
                <a:schemeClr val="dk1"/>
              </a:solidFill>
            </a:endParaRPr>
          </a:p>
        </p:txBody>
      </p:sp>
      <p:sp>
        <p:nvSpPr>
          <p:cNvPr id="1189" name="Google Shape;1189;p61"/>
          <p:cNvSpPr txBox="1"/>
          <p:nvPr/>
        </p:nvSpPr>
        <p:spPr>
          <a:xfrm>
            <a:off x="7992653" y="1690825"/>
            <a:ext cx="3628200" cy="44331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00000"/>
              </a:lnSpc>
              <a:spcBef>
                <a:spcPts val="1400"/>
              </a:spcBef>
              <a:spcAft>
                <a:spcPts val="0"/>
              </a:spcAft>
              <a:buNone/>
            </a:pPr>
            <a:r>
              <a:rPr lang="en-US" b="1">
                <a:solidFill>
                  <a:schemeClr val="dk1"/>
                </a:solidFill>
              </a:rPr>
              <a:t>MICE (Multiple Imputation by Chained Equations)</a:t>
            </a:r>
            <a:endParaRPr b="1">
              <a:solidFill>
                <a:schemeClr val="dk1"/>
              </a:solidFill>
            </a:endParaRPr>
          </a:p>
          <a:p>
            <a:pPr marL="457200" lvl="0" indent="-317500" algn="l" rtl="0">
              <a:lnSpc>
                <a:spcPct val="100000"/>
              </a:lnSpc>
              <a:spcBef>
                <a:spcPts val="1200"/>
              </a:spcBef>
              <a:spcAft>
                <a:spcPts val="0"/>
              </a:spcAft>
              <a:buClr>
                <a:schemeClr val="dk1"/>
              </a:buClr>
              <a:buSzPts val="1400"/>
              <a:buChar char="●"/>
            </a:pPr>
            <a:r>
              <a:rPr lang="en-US">
                <a:solidFill>
                  <a:schemeClr val="dk1"/>
                </a:solidFill>
              </a:rPr>
              <a:t>Regression-based framework for imputation.</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Each incomplete variable modelled conditionally on others.</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Iterative cycle → generates </a:t>
            </a:r>
            <a:r>
              <a:rPr lang="en-US" b="1">
                <a:solidFill>
                  <a:schemeClr val="dk1"/>
                </a:solidFill>
              </a:rPr>
              <a:t>multiple completed datasets</a:t>
            </a:r>
            <a:r>
              <a:rPr lang="en-US">
                <a:solidFill>
                  <a:schemeClr val="dk1"/>
                </a:solidFill>
              </a:rPr>
              <a:t>.</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Explicitly accounts for </a:t>
            </a:r>
            <a:r>
              <a:rPr lang="en-US" b="1">
                <a:solidFill>
                  <a:schemeClr val="dk1"/>
                </a:solidFill>
              </a:rPr>
              <a:t>uncertainty in imputation</a:t>
            </a:r>
            <a:r>
              <a:rPr lang="en-US">
                <a:solidFill>
                  <a:schemeClr val="dk1"/>
                </a:solidFill>
              </a:rPr>
              <a:t>.</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Suitable for downstream </a:t>
            </a:r>
            <a:r>
              <a:rPr lang="en-US" b="1">
                <a:solidFill>
                  <a:schemeClr val="dk1"/>
                </a:solidFill>
              </a:rPr>
              <a:t>statistical inference</a:t>
            </a:r>
            <a:r>
              <a:rPr lang="en-US">
                <a:solidFill>
                  <a:schemeClr val="dk1"/>
                </a:solidFill>
              </a:rPr>
              <a:t> (regression, CIs, p-values).</a:t>
            </a:r>
            <a:br>
              <a:rPr lang="en-US">
                <a:solidFill>
                  <a:schemeClr val="dk1"/>
                </a:solidFill>
              </a:rPr>
            </a:b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US">
                <a:solidFill>
                  <a:schemeClr val="dk1"/>
                </a:solidFill>
              </a:rPr>
              <a:t>Assumes parametric models (linear, logistic, multinomial).</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62"/>
          <p:cNvSpPr txBox="1">
            <a:spLocks noGrp="1"/>
          </p:cNvSpPr>
          <p:nvPr>
            <p:ph type="title"/>
          </p:nvPr>
        </p:nvSpPr>
        <p:spPr>
          <a:xfrm>
            <a:off x="0" y="92033"/>
            <a:ext cx="14020800" cy="17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Statistical Total Correlation SpectroscopY (STOCSY)</a:t>
            </a:r>
            <a:endParaRPr/>
          </a:p>
        </p:txBody>
      </p:sp>
      <p:sp>
        <p:nvSpPr>
          <p:cNvPr id="1195" name="Google Shape;1195;p62"/>
          <p:cNvSpPr txBox="1"/>
          <p:nvPr/>
        </p:nvSpPr>
        <p:spPr>
          <a:xfrm>
            <a:off x="9426900" y="6268900"/>
            <a:ext cx="2541300" cy="5850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100">
                <a:solidFill>
                  <a:schemeClr val="dk1"/>
                </a:solidFill>
                <a:highlight>
                  <a:srgbClr val="FFFFFF"/>
                </a:highlight>
                <a:latin typeface="Roboto"/>
                <a:ea typeface="Roboto"/>
                <a:cs typeface="Roboto"/>
                <a:sym typeface="Roboto"/>
              </a:rPr>
              <a:t>Anal Chem. 2005 Mar 1;77(5):1282-9.</a:t>
            </a:r>
            <a:endParaRPr sz="1100">
              <a:solidFill>
                <a:schemeClr val="dk1"/>
              </a:solidFill>
            </a:endParaRPr>
          </a:p>
        </p:txBody>
      </p:sp>
      <p:pic>
        <p:nvPicPr>
          <p:cNvPr id="1196" name="Google Shape;1196;p62"/>
          <p:cNvPicPr preferRelativeResize="0"/>
          <p:nvPr/>
        </p:nvPicPr>
        <p:blipFill>
          <a:blip r:embed="rId3">
            <a:alphaModFix/>
          </a:blip>
          <a:stretch>
            <a:fillRect/>
          </a:stretch>
        </p:blipFill>
        <p:spPr>
          <a:xfrm>
            <a:off x="1865233" y="1859633"/>
            <a:ext cx="8659967" cy="33947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graphicFrame>
        <p:nvGraphicFramePr>
          <p:cNvPr id="1201" name="Google Shape;1201;p63"/>
          <p:cNvGraphicFramePr/>
          <p:nvPr/>
        </p:nvGraphicFramePr>
        <p:xfrm>
          <a:off x="1524133" y="2553333"/>
          <a:ext cx="7145200" cy="2269950"/>
        </p:xfrm>
        <a:graphic>
          <a:graphicData uri="http://schemas.openxmlformats.org/drawingml/2006/table">
            <a:tbl>
              <a:tblPr>
                <a:noFill/>
                <a:tableStyleId>{2D2652CD-1FEC-473F-96D7-C42509400C80}</a:tableStyleId>
              </a:tblPr>
              <a:tblGrid>
                <a:gridCol w="446575">
                  <a:extLst>
                    <a:ext uri="{9D8B030D-6E8A-4147-A177-3AD203B41FA5}">
                      <a16:colId xmlns:a16="http://schemas.microsoft.com/office/drawing/2014/main" val="20000"/>
                    </a:ext>
                  </a:extLst>
                </a:gridCol>
                <a:gridCol w="446575">
                  <a:extLst>
                    <a:ext uri="{9D8B030D-6E8A-4147-A177-3AD203B41FA5}">
                      <a16:colId xmlns:a16="http://schemas.microsoft.com/office/drawing/2014/main" val="20001"/>
                    </a:ext>
                  </a:extLst>
                </a:gridCol>
                <a:gridCol w="446575">
                  <a:extLst>
                    <a:ext uri="{9D8B030D-6E8A-4147-A177-3AD203B41FA5}">
                      <a16:colId xmlns:a16="http://schemas.microsoft.com/office/drawing/2014/main" val="20002"/>
                    </a:ext>
                  </a:extLst>
                </a:gridCol>
                <a:gridCol w="446575">
                  <a:extLst>
                    <a:ext uri="{9D8B030D-6E8A-4147-A177-3AD203B41FA5}">
                      <a16:colId xmlns:a16="http://schemas.microsoft.com/office/drawing/2014/main" val="20003"/>
                    </a:ext>
                  </a:extLst>
                </a:gridCol>
                <a:gridCol w="446575">
                  <a:extLst>
                    <a:ext uri="{9D8B030D-6E8A-4147-A177-3AD203B41FA5}">
                      <a16:colId xmlns:a16="http://schemas.microsoft.com/office/drawing/2014/main" val="20004"/>
                    </a:ext>
                  </a:extLst>
                </a:gridCol>
                <a:gridCol w="446575">
                  <a:extLst>
                    <a:ext uri="{9D8B030D-6E8A-4147-A177-3AD203B41FA5}">
                      <a16:colId xmlns:a16="http://schemas.microsoft.com/office/drawing/2014/main" val="20005"/>
                    </a:ext>
                  </a:extLst>
                </a:gridCol>
                <a:gridCol w="446575">
                  <a:extLst>
                    <a:ext uri="{9D8B030D-6E8A-4147-A177-3AD203B41FA5}">
                      <a16:colId xmlns:a16="http://schemas.microsoft.com/office/drawing/2014/main" val="20006"/>
                    </a:ext>
                  </a:extLst>
                </a:gridCol>
                <a:gridCol w="446575">
                  <a:extLst>
                    <a:ext uri="{9D8B030D-6E8A-4147-A177-3AD203B41FA5}">
                      <a16:colId xmlns:a16="http://schemas.microsoft.com/office/drawing/2014/main" val="20007"/>
                    </a:ext>
                  </a:extLst>
                </a:gridCol>
                <a:gridCol w="446575">
                  <a:extLst>
                    <a:ext uri="{9D8B030D-6E8A-4147-A177-3AD203B41FA5}">
                      <a16:colId xmlns:a16="http://schemas.microsoft.com/office/drawing/2014/main" val="20008"/>
                    </a:ext>
                  </a:extLst>
                </a:gridCol>
                <a:gridCol w="446575">
                  <a:extLst>
                    <a:ext uri="{9D8B030D-6E8A-4147-A177-3AD203B41FA5}">
                      <a16:colId xmlns:a16="http://schemas.microsoft.com/office/drawing/2014/main" val="20009"/>
                    </a:ext>
                  </a:extLst>
                </a:gridCol>
                <a:gridCol w="446575">
                  <a:extLst>
                    <a:ext uri="{9D8B030D-6E8A-4147-A177-3AD203B41FA5}">
                      <a16:colId xmlns:a16="http://schemas.microsoft.com/office/drawing/2014/main" val="20010"/>
                    </a:ext>
                  </a:extLst>
                </a:gridCol>
                <a:gridCol w="446575">
                  <a:extLst>
                    <a:ext uri="{9D8B030D-6E8A-4147-A177-3AD203B41FA5}">
                      <a16:colId xmlns:a16="http://schemas.microsoft.com/office/drawing/2014/main" val="20011"/>
                    </a:ext>
                  </a:extLst>
                </a:gridCol>
                <a:gridCol w="446575">
                  <a:extLst>
                    <a:ext uri="{9D8B030D-6E8A-4147-A177-3AD203B41FA5}">
                      <a16:colId xmlns:a16="http://schemas.microsoft.com/office/drawing/2014/main" val="20012"/>
                    </a:ext>
                  </a:extLst>
                </a:gridCol>
                <a:gridCol w="446575">
                  <a:extLst>
                    <a:ext uri="{9D8B030D-6E8A-4147-A177-3AD203B41FA5}">
                      <a16:colId xmlns:a16="http://schemas.microsoft.com/office/drawing/2014/main" val="20013"/>
                    </a:ext>
                  </a:extLst>
                </a:gridCol>
                <a:gridCol w="446575">
                  <a:extLst>
                    <a:ext uri="{9D8B030D-6E8A-4147-A177-3AD203B41FA5}">
                      <a16:colId xmlns:a16="http://schemas.microsoft.com/office/drawing/2014/main" val="20014"/>
                    </a:ext>
                  </a:extLst>
                </a:gridCol>
                <a:gridCol w="446575">
                  <a:extLst>
                    <a:ext uri="{9D8B030D-6E8A-4147-A177-3AD203B41FA5}">
                      <a16:colId xmlns:a16="http://schemas.microsoft.com/office/drawing/2014/main" val="20015"/>
                    </a:ext>
                  </a:extLst>
                </a:gridCol>
              </a:tblGrid>
              <a:tr h="378325">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00FF"/>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highlight>
                          <a:schemeClr val="lt2"/>
                        </a:highlight>
                      </a:endParaRPr>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extLst>
                  <a:ext uri="{0D108BD9-81ED-4DB2-BD59-A6C34878D82A}">
                    <a16:rowId xmlns:a16="http://schemas.microsoft.com/office/drawing/2014/main" val="10000"/>
                  </a:ext>
                </a:extLst>
              </a:tr>
              <a:tr h="378325">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00FF"/>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highlight>
                          <a:schemeClr val="lt2"/>
                        </a:highlight>
                      </a:endParaRPr>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extLst>
                  <a:ext uri="{0D108BD9-81ED-4DB2-BD59-A6C34878D82A}">
                    <a16:rowId xmlns:a16="http://schemas.microsoft.com/office/drawing/2014/main" val="10001"/>
                  </a:ext>
                </a:extLst>
              </a:tr>
              <a:tr h="378325">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00FF"/>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highlight>
                          <a:schemeClr val="lt2"/>
                        </a:highlight>
                      </a:endParaRPr>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extLst>
                  <a:ext uri="{0D108BD9-81ED-4DB2-BD59-A6C34878D82A}">
                    <a16:rowId xmlns:a16="http://schemas.microsoft.com/office/drawing/2014/main" val="10002"/>
                  </a:ext>
                </a:extLst>
              </a:tr>
              <a:tr h="378325">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00FF"/>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highlight>
                          <a:schemeClr val="lt2"/>
                        </a:highlight>
                      </a:endParaRPr>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extLst>
                  <a:ext uri="{0D108BD9-81ED-4DB2-BD59-A6C34878D82A}">
                    <a16:rowId xmlns:a16="http://schemas.microsoft.com/office/drawing/2014/main" val="10003"/>
                  </a:ext>
                </a:extLst>
              </a:tr>
              <a:tr h="378325">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00FF"/>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highlight>
                          <a:schemeClr val="lt2"/>
                        </a:highlight>
                      </a:endParaRPr>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extLst>
                  <a:ext uri="{0D108BD9-81ED-4DB2-BD59-A6C34878D82A}">
                    <a16:rowId xmlns:a16="http://schemas.microsoft.com/office/drawing/2014/main" val="10004"/>
                  </a:ext>
                </a:extLst>
              </a:tr>
              <a:tr h="378325">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00FF"/>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highlight>
                          <a:schemeClr val="lt2"/>
                        </a:highlight>
                      </a:endParaRPr>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tc>
                  <a:txBody>
                    <a:bodyPr/>
                    <a:lstStyle/>
                    <a:p>
                      <a:pPr marL="0" lvl="0" indent="0" algn="l" rtl="0">
                        <a:spcBef>
                          <a:spcPts val="0"/>
                        </a:spcBef>
                        <a:spcAft>
                          <a:spcPts val="0"/>
                        </a:spcAft>
                        <a:buNone/>
                      </a:pPr>
                      <a:endParaRPr sz="800"/>
                    </a:p>
                  </a:txBody>
                  <a:tcPr marL="121900" marR="121900" marT="121900" marB="121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0E0E3"/>
                    </a:solidFill>
                  </a:tcPr>
                </a:tc>
                <a:extLst>
                  <a:ext uri="{0D108BD9-81ED-4DB2-BD59-A6C34878D82A}">
                    <a16:rowId xmlns:a16="http://schemas.microsoft.com/office/drawing/2014/main" val="10005"/>
                  </a:ext>
                </a:extLst>
              </a:tr>
            </a:tbl>
          </a:graphicData>
        </a:graphic>
      </p:graphicFrame>
      <p:pic>
        <p:nvPicPr>
          <p:cNvPr id="1202" name="Google Shape;1202;p63"/>
          <p:cNvPicPr preferRelativeResize="0"/>
          <p:nvPr/>
        </p:nvPicPr>
        <p:blipFill>
          <a:blip r:embed="rId3">
            <a:alphaModFix/>
          </a:blip>
          <a:stretch>
            <a:fillRect/>
          </a:stretch>
        </p:blipFill>
        <p:spPr>
          <a:xfrm>
            <a:off x="1524133" y="304798"/>
            <a:ext cx="7145068" cy="2248533"/>
          </a:xfrm>
          <a:prstGeom prst="rect">
            <a:avLst/>
          </a:prstGeom>
          <a:noFill/>
          <a:ln>
            <a:noFill/>
          </a:ln>
        </p:spPr>
      </p:pic>
      <p:sp>
        <p:nvSpPr>
          <p:cNvPr id="1203" name="Google Shape;1203;p63"/>
          <p:cNvSpPr/>
          <p:nvPr/>
        </p:nvSpPr>
        <p:spPr>
          <a:xfrm>
            <a:off x="6010633" y="215400"/>
            <a:ext cx="396000" cy="2265300"/>
          </a:xfrm>
          <a:prstGeom prst="rect">
            <a:avLst/>
          </a:prstGeom>
          <a:noFill/>
          <a:ln w="25400" cap="flat" cmpd="sng">
            <a:solidFill>
              <a:schemeClr val="dk2"/>
            </a:solidFill>
            <a:prstDash val="dot"/>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1204" name="Google Shape;1204;p63"/>
          <p:cNvCxnSpPr/>
          <p:nvPr/>
        </p:nvCxnSpPr>
        <p:spPr>
          <a:xfrm rot="10800000">
            <a:off x="6202533" y="4895967"/>
            <a:ext cx="12300" cy="886500"/>
          </a:xfrm>
          <a:prstGeom prst="straightConnector1">
            <a:avLst/>
          </a:prstGeom>
          <a:noFill/>
          <a:ln w="50800" cap="flat" cmpd="sng">
            <a:solidFill>
              <a:schemeClr val="dk2"/>
            </a:solidFill>
            <a:prstDash val="solid"/>
            <a:round/>
            <a:headEnd type="none" w="med" len="med"/>
            <a:tailEnd type="stealth" w="med" len="med"/>
          </a:ln>
        </p:spPr>
      </p:cxnSp>
      <p:sp>
        <p:nvSpPr>
          <p:cNvPr id="1205" name="Google Shape;1205;p63"/>
          <p:cNvSpPr txBox="1"/>
          <p:nvPr/>
        </p:nvSpPr>
        <p:spPr>
          <a:xfrm>
            <a:off x="452433" y="2582200"/>
            <a:ext cx="1002900" cy="492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600">
                <a:latin typeface="Calibri"/>
                <a:ea typeface="Calibri"/>
                <a:cs typeface="Calibri"/>
                <a:sym typeface="Calibri"/>
              </a:rPr>
              <a:t>Sample 1</a:t>
            </a:r>
            <a:endParaRPr sz="1600">
              <a:latin typeface="Calibri"/>
              <a:ea typeface="Calibri"/>
              <a:cs typeface="Calibri"/>
              <a:sym typeface="Calibri"/>
            </a:endParaRPr>
          </a:p>
        </p:txBody>
      </p:sp>
      <p:sp>
        <p:nvSpPr>
          <p:cNvPr id="1206" name="Google Shape;1206;p63"/>
          <p:cNvSpPr txBox="1"/>
          <p:nvPr/>
        </p:nvSpPr>
        <p:spPr>
          <a:xfrm>
            <a:off x="452433" y="2887000"/>
            <a:ext cx="1002900" cy="492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600">
                <a:latin typeface="Calibri"/>
                <a:ea typeface="Calibri"/>
                <a:cs typeface="Calibri"/>
                <a:sym typeface="Calibri"/>
              </a:rPr>
              <a:t>Sample 2</a:t>
            </a:r>
            <a:endParaRPr sz="1600">
              <a:latin typeface="Calibri"/>
              <a:ea typeface="Calibri"/>
              <a:cs typeface="Calibri"/>
              <a:sym typeface="Calibri"/>
            </a:endParaRPr>
          </a:p>
        </p:txBody>
      </p:sp>
      <p:sp>
        <p:nvSpPr>
          <p:cNvPr id="1207" name="Google Shape;1207;p63"/>
          <p:cNvSpPr txBox="1"/>
          <p:nvPr/>
        </p:nvSpPr>
        <p:spPr>
          <a:xfrm>
            <a:off x="452433" y="3241316"/>
            <a:ext cx="1002900" cy="492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600">
                <a:latin typeface="Calibri"/>
                <a:ea typeface="Calibri"/>
                <a:cs typeface="Calibri"/>
                <a:sym typeface="Calibri"/>
              </a:rPr>
              <a:t>Sample 3</a:t>
            </a:r>
            <a:endParaRPr sz="1600">
              <a:latin typeface="Calibri"/>
              <a:ea typeface="Calibri"/>
              <a:cs typeface="Calibri"/>
              <a:sym typeface="Calibri"/>
            </a:endParaRPr>
          </a:p>
        </p:txBody>
      </p:sp>
      <p:sp>
        <p:nvSpPr>
          <p:cNvPr id="1208" name="Google Shape;1208;p63"/>
          <p:cNvSpPr txBox="1"/>
          <p:nvPr/>
        </p:nvSpPr>
        <p:spPr>
          <a:xfrm>
            <a:off x="452433" y="3598200"/>
            <a:ext cx="1002900" cy="492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600">
                <a:latin typeface="Calibri"/>
                <a:ea typeface="Calibri"/>
                <a:cs typeface="Calibri"/>
                <a:sym typeface="Calibri"/>
              </a:rPr>
              <a:t>Sample 4</a:t>
            </a:r>
            <a:endParaRPr sz="1600">
              <a:latin typeface="Calibri"/>
              <a:ea typeface="Calibri"/>
              <a:cs typeface="Calibri"/>
              <a:sym typeface="Calibri"/>
            </a:endParaRPr>
          </a:p>
        </p:txBody>
      </p:sp>
      <p:sp>
        <p:nvSpPr>
          <p:cNvPr id="1209" name="Google Shape;1209;p63"/>
          <p:cNvSpPr txBox="1"/>
          <p:nvPr/>
        </p:nvSpPr>
        <p:spPr>
          <a:xfrm>
            <a:off x="452433" y="4004600"/>
            <a:ext cx="1002900" cy="492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600">
                <a:latin typeface="Calibri"/>
                <a:ea typeface="Calibri"/>
                <a:cs typeface="Calibri"/>
                <a:sym typeface="Calibri"/>
              </a:rPr>
              <a:t>Sample 5</a:t>
            </a:r>
            <a:endParaRPr sz="1600">
              <a:latin typeface="Calibri"/>
              <a:ea typeface="Calibri"/>
              <a:cs typeface="Calibri"/>
              <a:sym typeface="Calibri"/>
            </a:endParaRPr>
          </a:p>
        </p:txBody>
      </p:sp>
      <p:sp>
        <p:nvSpPr>
          <p:cNvPr id="1210" name="Google Shape;1210;p63"/>
          <p:cNvSpPr txBox="1"/>
          <p:nvPr/>
        </p:nvSpPr>
        <p:spPr>
          <a:xfrm>
            <a:off x="452433" y="4432533"/>
            <a:ext cx="1002900" cy="4926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600">
                <a:latin typeface="Calibri"/>
                <a:ea typeface="Calibri"/>
                <a:cs typeface="Calibri"/>
                <a:sym typeface="Calibri"/>
              </a:rPr>
              <a:t>Sample 6</a:t>
            </a:r>
            <a:endParaRPr sz="1600">
              <a:latin typeface="Calibri"/>
              <a:ea typeface="Calibri"/>
              <a:cs typeface="Calibri"/>
              <a:sym typeface="Calibri"/>
            </a:endParaRPr>
          </a:p>
        </p:txBody>
      </p:sp>
      <p:sp>
        <p:nvSpPr>
          <p:cNvPr id="1211" name="Google Shape;1211;p63"/>
          <p:cNvSpPr txBox="1"/>
          <p:nvPr/>
        </p:nvSpPr>
        <p:spPr>
          <a:xfrm rot="-5400000">
            <a:off x="5084575" y="954030"/>
            <a:ext cx="2253300" cy="538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b="1">
                <a:solidFill>
                  <a:srgbClr val="FF0000"/>
                </a:solidFill>
                <a:latin typeface="Calibri"/>
                <a:ea typeface="Calibri"/>
                <a:cs typeface="Calibri"/>
                <a:sym typeface="Calibri"/>
              </a:rPr>
              <a:t>Driver peak</a:t>
            </a:r>
            <a:endParaRPr sz="1900" b="1">
              <a:solidFill>
                <a:srgbClr val="FF0000"/>
              </a:solidFill>
              <a:latin typeface="Calibri"/>
              <a:ea typeface="Calibri"/>
              <a:cs typeface="Calibri"/>
              <a:sym typeface="Calibri"/>
            </a:endParaRPr>
          </a:p>
        </p:txBody>
      </p:sp>
      <p:cxnSp>
        <p:nvCxnSpPr>
          <p:cNvPr id="1212" name="Google Shape;1212;p63"/>
          <p:cNvCxnSpPr/>
          <p:nvPr/>
        </p:nvCxnSpPr>
        <p:spPr>
          <a:xfrm rot="10800000">
            <a:off x="1714067" y="4924833"/>
            <a:ext cx="12300" cy="886500"/>
          </a:xfrm>
          <a:prstGeom prst="straightConnector1">
            <a:avLst/>
          </a:prstGeom>
          <a:noFill/>
          <a:ln w="50800" cap="flat" cmpd="sng">
            <a:solidFill>
              <a:srgbClr val="0000FF"/>
            </a:solidFill>
            <a:prstDash val="solid"/>
            <a:round/>
            <a:headEnd type="none" w="med" len="med"/>
            <a:tailEnd type="stealth" w="med" len="med"/>
          </a:ln>
        </p:spPr>
      </p:cxnSp>
      <p:sp>
        <p:nvSpPr>
          <p:cNvPr id="1213" name="Google Shape;1213;p63"/>
          <p:cNvSpPr txBox="1">
            <a:spLocks noGrp="1"/>
          </p:cNvSpPr>
          <p:nvPr>
            <p:ph type="title"/>
          </p:nvPr>
        </p:nvSpPr>
        <p:spPr>
          <a:xfrm>
            <a:off x="507999" y="508000"/>
            <a:ext cx="2084400" cy="849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STOCSY</a:t>
            </a:r>
            <a:endParaRPr/>
          </a:p>
        </p:txBody>
      </p:sp>
      <p:sp>
        <p:nvSpPr>
          <p:cNvPr id="1214" name="Google Shape;1214;p63"/>
          <p:cNvSpPr txBox="1"/>
          <p:nvPr/>
        </p:nvSpPr>
        <p:spPr>
          <a:xfrm>
            <a:off x="1522167" y="5782467"/>
            <a:ext cx="396000" cy="538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latin typeface="Calibri"/>
                <a:ea typeface="Calibri"/>
                <a:cs typeface="Calibri"/>
                <a:sym typeface="Calibri"/>
              </a:rPr>
              <a:t>x</a:t>
            </a:r>
            <a:endParaRPr sz="1900">
              <a:latin typeface="Calibri"/>
              <a:ea typeface="Calibri"/>
              <a:cs typeface="Calibri"/>
              <a:sym typeface="Calibri"/>
            </a:endParaRPr>
          </a:p>
        </p:txBody>
      </p:sp>
      <p:sp>
        <p:nvSpPr>
          <p:cNvPr id="1215" name="Google Shape;1215;p63"/>
          <p:cNvSpPr txBox="1"/>
          <p:nvPr/>
        </p:nvSpPr>
        <p:spPr>
          <a:xfrm>
            <a:off x="6010633" y="5782467"/>
            <a:ext cx="396000" cy="5388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latin typeface="Calibri"/>
                <a:ea typeface="Calibri"/>
                <a:cs typeface="Calibri"/>
                <a:sym typeface="Calibri"/>
              </a:rPr>
              <a:t>y</a:t>
            </a:r>
            <a:endParaRPr sz="1900">
              <a:latin typeface="Calibri"/>
              <a:ea typeface="Calibri"/>
              <a:cs typeface="Calibri"/>
              <a:sym typeface="Calibri"/>
            </a:endParaRPr>
          </a:p>
        </p:txBody>
      </p:sp>
      <p:sp>
        <p:nvSpPr>
          <p:cNvPr id="1216" name="Google Shape;1216;p63"/>
          <p:cNvSpPr txBox="1"/>
          <p:nvPr/>
        </p:nvSpPr>
        <p:spPr>
          <a:xfrm>
            <a:off x="2863833" y="4733933"/>
            <a:ext cx="2805600" cy="20010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latin typeface="Calibri"/>
                <a:ea typeface="Calibri"/>
                <a:cs typeface="Calibri"/>
                <a:sym typeface="Calibri"/>
              </a:rPr>
              <a:t>Correlation</a:t>
            </a:r>
            <a:endParaRPr sz="1900">
              <a:latin typeface="Calibri"/>
              <a:ea typeface="Calibri"/>
              <a:cs typeface="Calibri"/>
              <a:sym typeface="Calibri"/>
            </a:endParaRPr>
          </a:p>
          <a:p>
            <a:pPr marL="0" lvl="0" indent="0" algn="l" rtl="0">
              <a:spcBef>
                <a:spcPts val="0"/>
              </a:spcBef>
              <a:spcAft>
                <a:spcPts val="0"/>
              </a:spcAft>
              <a:buNone/>
            </a:pPr>
            <a:r>
              <a:rPr lang="en-US" sz="1900">
                <a:latin typeface="Calibri"/>
                <a:ea typeface="Calibri"/>
                <a:cs typeface="Calibri"/>
                <a:sym typeface="Calibri"/>
              </a:rPr>
              <a:t>Cc = cor(x,y)</a:t>
            </a: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0" lvl="0" indent="0" algn="l" rtl="0">
              <a:spcBef>
                <a:spcPts val="0"/>
              </a:spcBef>
              <a:spcAft>
                <a:spcPts val="0"/>
              </a:spcAft>
              <a:buNone/>
            </a:pPr>
            <a:r>
              <a:rPr lang="en-US" sz="1900">
                <a:latin typeface="Calibri"/>
                <a:ea typeface="Calibri"/>
                <a:cs typeface="Calibri"/>
                <a:sym typeface="Calibri"/>
              </a:rPr>
              <a:t>Covariance</a:t>
            </a:r>
            <a:endParaRPr sz="1900">
              <a:latin typeface="Calibri"/>
              <a:ea typeface="Calibri"/>
              <a:cs typeface="Calibri"/>
              <a:sym typeface="Calibri"/>
            </a:endParaRPr>
          </a:p>
          <a:p>
            <a:pPr marL="0" lvl="0" indent="0" algn="l" rtl="0">
              <a:spcBef>
                <a:spcPts val="0"/>
              </a:spcBef>
              <a:spcAft>
                <a:spcPts val="0"/>
              </a:spcAft>
              <a:buNone/>
            </a:pPr>
            <a:r>
              <a:rPr lang="en-US" sz="1900">
                <a:latin typeface="Calibri"/>
                <a:ea typeface="Calibri"/>
                <a:cs typeface="Calibri"/>
                <a:sym typeface="Calibri"/>
              </a:rPr>
              <a:t>Cv = cov(x,y)</a:t>
            </a: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p:txBody>
      </p:sp>
      <p:cxnSp>
        <p:nvCxnSpPr>
          <p:cNvPr id="1217" name="Google Shape;1217;p63"/>
          <p:cNvCxnSpPr/>
          <p:nvPr/>
        </p:nvCxnSpPr>
        <p:spPr>
          <a:xfrm rot="10800000" flipH="1">
            <a:off x="1918167" y="5533167"/>
            <a:ext cx="3825600" cy="8100"/>
          </a:xfrm>
          <a:prstGeom prst="straightConnector1">
            <a:avLst/>
          </a:prstGeom>
          <a:noFill/>
          <a:ln w="25400" cap="flat" cmpd="sng">
            <a:solidFill>
              <a:schemeClr val="dk1"/>
            </a:solidFill>
            <a:prstDash val="dot"/>
            <a:round/>
            <a:headEnd type="none" w="med" len="med"/>
            <a:tailEnd type="triangl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p64"/>
          <p:cNvSpPr txBox="1"/>
          <p:nvPr/>
        </p:nvSpPr>
        <p:spPr>
          <a:xfrm>
            <a:off x="9164933" y="6345467"/>
            <a:ext cx="2607900" cy="4155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100">
                <a:solidFill>
                  <a:schemeClr val="dk1"/>
                </a:solidFill>
              </a:rPr>
              <a:t>Anal. Chem. 2022, 94, 4426−4436 </a:t>
            </a:r>
            <a:endParaRPr sz="1100">
              <a:solidFill>
                <a:schemeClr val="dk1"/>
              </a:solidFill>
            </a:endParaRPr>
          </a:p>
        </p:txBody>
      </p:sp>
      <p:grpSp>
        <p:nvGrpSpPr>
          <p:cNvPr id="1223" name="Google Shape;1223;p64"/>
          <p:cNvGrpSpPr/>
          <p:nvPr/>
        </p:nvGrpSpPr>
        <p:grpSpPr>
          <a:xfrm>
            <a:off x="526036" y="1182969"/>
            <a:ext cx="10969743" cy="4030161"/>
            <a:chOff x="394537" y="887249"/>
            <a:chExt cx="8227513" cy="3022696"/>
          </a:xfrm>
        </p:grpSpPr>
        <p:grpSp>
          <p:nvGrpSpPr>
            <p:cNvPr id="1224" name="Google Shape;1224;p64"/>
            <p:cNvGrpSpPr/>
            <p:nvPr/>
          </p:nvGrpSpPr>
          <p:grpSpPr>
            <a:xfrm>
              <a:off x="394537" y="887249"/>
              <a:ext cx="6202295" cy="3022696"/>
              <a:chOff x="1425999" y="174100"/>
              <a:chExt cx="6695051" cy="3735875"/>
            </a:xfrm>
          </p:grpSpPr>
          <p:pic>
            <p:nvPicPr>
              <p:cNvPr id="1225" name="Google Shape;1225;p64"/>
              <p:cNvPicPr preferRelativeResize="0"/>
              <p:nvPr/>
            </p:nvPicPr>
            <p:blipFill>
              <a:blip r:embed="rId3">
                <a:alphaModFix/>
              </a:blip>
              <a:stretch>
                <a:fillRect/>
              </a:stretch>
            </p:blipFill>
            <p:spPr>
              <a:xfrm>
                <a:off x="1425999" y="174100"/>
                <a:ext cx="6695051" cy="3735875"/>
              </a:xfrm>
              <a:prstGeom prst="rect">
                <a:avLst/>
              </a:prstGeom>
              <a:noFill/>
              <a:ln>
                <a:noFill/>
              </a:ln>
            </p:spPr>
          </p:pic>
          <p:sp>
            <p:nvSpPr>
              <p:cNvPr id="1226" name="Google Shape;1226;p64"/>
              <p:cNvSpPr txBox="1"/>
              <p:nvPr/>
            </p:nvSpPr>
            <p:spPr>
              <a:xfrm>
                <a:off x="2181600" y="445025"/>
                <a:ext cx="1064700" cy="4995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t>Controls</a:t>
                </a:r>
                <a:endParaRPr sz="1900"/>
              </a:p>
            </p:txBody>
          </p:sp>
          <p:sp>
            <p:nvSpPr>
              <p:cNvPr id="1227" name="Google Shape;1227;p64"/>
              <p:cNvSpPr txBox="1"/>
              <p:nvPr/>
            </p:nvSpPr>
            <p:spPr>
              <a:xfrm>
                <a:off x="5068850" y="445025"/>
                <a:ext cx="1747500" cy="7704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900"/>
                  <a:t>SARS-CoV-2 Positive</a:t>
                </a:r>
                <a:endParaRPr sz="1900"/>
              </a:p>
            </p:txBody>
          </p:sp>
        </p:grpSp>
        <p:pic>
          <p:nvPicPr>
            <p:cNvPr id="1228" name="Google Shape;1228;p64"/>
            <p:cNvPicPr preferRelativeResize="0"/>
            <p:nvPr/>
          </p:nvPicPr>
          <p:blipFill>
            <a:blip r:embed="rId4">
              <a:alphaModFix/>
            </a:blip>
            <a:stretch>
              <a:fillRect/>
            </a:stretch>
          </p:blipFill>
          <p:spPr>
            <a:xfrm>
              <a:off x="6818550" y="1649017"/>
              <a:ext cx="1803500" cy="1734884"/>
            </a:xfrm>
            <a:prstGeom prst="rect">
              <a:avLst/>
            </a:prstGeom>
            <a:noFill/>
            <a:ln>
              <a:noFill/>
            </a:ln>
          </p:spPr>
        </p:pic>
        <p:sp>
          <p:nvSpPr>
            <p:cNvPr id="1229" name="Google Shape;1229;p64"/>
            <p:cNvSpPr/>
            <p:nvPr/>
          </p:nvSpPr>
          <p:spPr>
            <a:xfrm rot="5400000" flipH="1">
              <a:off x="6990900" y="2900950"/>
              <a:ext cx="402300" cy="1461300"/>
            </a:xfrm>
            <a:prstGeom prst="bentArrow">
              <a:avLst>
                <a:gd name="adj1" fmla="val 12907"/>
                <a:gd name="adj2" fmla="val 14934"/>
                <a:gd name="adj3" fmla="val 18076"/>
                <a:gd name="adj4" fmla="val 46215"/>
              </a:avLst>
            </a:prstGeom>
            <a:solidFill>
              <a:srgbClr val="202122"/>
            </a:solidFill>
            <a:ln w="12700" cap="flat" cmpd="sng">
              <a:solidFill>
                <a:srgbClr val="20212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230" name="Google Shape;1230;p64"/>
          <p:cNvSpPr txBox="1"/>
          <p:nvPr/>
        </p:nvSpPr>
        <p:spPr>
          <a:xfrm>
            <a:off x="879667" y="5285000"/>
            <a:ext cx="9963900" cy="1169700"/>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US" sz="1200"/>
              <a:t>Figure 4.The internal correlation structure of the SPC peak complex: Autocorrelation heatmaps of the SPC spectral region using DIRE NMR experiments and selected serum lipid components. Three distinct SPC spectral high-correlation regions are observed with chemical shift boundaries optimized using Spearman’s rs (range 0.6−1.0). (A) Controls and (B) SARS-CoV-2 infected patients. Lower panels show correlations of SPC signals with lipoprotein phospholipid components derived from the IVDr measurements on the same samples: H4PL (SPC1), HDPL (SPC2), and LDPL (SPC3). SPC1 and SPC2 are mainly from HDL phospholipids, and SPC3 is from LDL phospholipids.</a:t>
            </a:r>
            <a:endParaRPr sz="1200"/>
          </a:p>
        </p:txBody>
      </p:sp>
      <p:pic>
        <p:nvPicPr>
          <p:cNvPr id="1231" name="Google Shape;1231;p64"/>
          <p:cNvPicPr preferRelativeResize="0"/>
          <p:nvPr/>
        </p:nvPicPr>
        <p:blipFill>
          <a:blip r:embed="rId5">
            <a:alphaModFix/>
          </a:blip>
          <a:stretch>
            <a:fillRect/>
          </a:stretch>
        </p:blipFill>
        <p:spPr>
          <a:xfrm>
            <a:off x="8030033" y="1001069"/>
            <a:ext cx="3654667" cy="627700"/>
          </a:xfrm>
          <a:prstGeom prst="rect">
            <a:avLst/>
          </a:prstGeom>
          <a:noFill/>
          <a:ln>
            <a:noFill/>
          </a:ln>
        </p:spPr>
      </p:pic>
      <p:pic>
        <p:nvPicPr>
          <p:cNvPr id="1232" name="Google Shape;1232;p64"/>
          <p:cNvPicPr preferRelativeResize="0"/>
          <p:nvPr/>
        </p:nvPicPr>
        <p:blipFill>
          <a:blip r:embed="rId6">
            <a:alphaModFix/>
          </a:blip>
          <a:stretch>
            <a:fillRect/>
          </a:stretch>
        </p:blipFill>
        <p:spPr>
          <a:xfrm>
            <a:off x="8250567" y="1628767"/>
            <a:ext cx="3345835" cy="557634"/>
          </a:xfrm>
          <a:prstGeom prst="rect">
            <a:avLst/>
          </a:prstGeom>
          <a:noFill/>
          <a:ln>
            <a:noFill/>
          </a:ln>
        </p:spPr>
      </p:pic>
      <p:sp>
        <p:nvSpPr>
          <p:cNvPr id="1233" name="Google Shape;1233;p64"/>
          <p:cNvSpPr txBox="1">
            <a:spLocks noGrp="1"/>
          </p:cNvSpPr>
          <p:nvPr>
            <p:ph type="title"/>
          </p:nvPr>
        </p:nvSpPr>
        <p:spPr>
          <a:xfrm>
            <a:off x="0" y="8"/>
            <a:ext cx="14020800" cy="1767600"/>
          </a:xfrm>
          <a:prstGeom prst="rect">
            <a:avLst/>
          </a:prstGeom>
          <a:noFill/>
          <a:ln>
            <a:noFill/>
          </a:ln>
        </p:spPr>
        <p:txBody>
          <a:bodyPr spcFirstLastPara="1" wrap="square" lIns="152400" tIns="152400" rIns="152400" bIns="152400" anchor="ctr" anchorCtr="0">
            <a:normAutofit/>
          </a:bodyPr>
          <a:lstStyle/>
          <a:p>
            <a:pPr marL="0" lvl="0" indent="0" algn="l" rtl="0">
              <a:spcBef>
                <a:spcPts val="0"/>
              </a:spcBef>
              <a:spcAft>
                <a:spcPts val="0"/>
              </a:spcAft>
              <a:buNone/>
            </a:pPr>
            <a:r>
              <a:rPr lang="en-US"/>
              <a:t>Statistical HeterospectroscopY (SHY)</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2988</Words>
  <Application>Microsoft Macintosh PowerPoint</Application>
  <PresentationFormat>Widescreen</PresentationFormat>
  <Paragraphs>389</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Helvetica Neue</vt:lpstr>
      <vt:lpstr>Arial</vt:lpstr>
      <vt:lpstr>Roboto</vt:lpstr>
      <vt:lpstr>Calibri</vt:lpstr>
      <vt:lpstr>Office Theme</vt:lpstr>
      <vt:lpstr>PowerPoint Presentation</vt:lpstr>
      <vt:lpstr>Why Data Processing Matters</vt:lpstr>
      <vt:lpstr>NMR Data Acquisition Basics</vt:lpstr>
      <vt:lpstr>NMR Data Acquisition Basics</vt:lpstr>
      <vt:lpstr>NMR Data Acquisition Basics</vt:lpstr>
      <vt:lpstr>Steps Before FT: Window function </vt:lpstr>
      <vt:lpstr>Steps Before FT: Zero filling</vt:lpstr>
      <vt:lpstr>Common NMR Artifacts and Errors</vt:lpstr>
      <vt:lpstr>Truncation Artifacts from Digital Overflow</vt:lpstr>
      <vt:lpstr>Signal Folding</vt:lpstr>
      <vt:lpstr>Sampling rate and Resolution</vt:lpstr>
      <vt:lpstr>Spinning sideband</vt:lpstr>
      <vt:lpstr>Phase Correction</vt:lpstr>
      <vt:lpstr>Water suppression failure </vt:lpstr>
      <vt:lpstr>Experimental Failures</vt:lpstr>
      <vt:lpstr>What is in your NMR Data folder?</vt:lpstr>
      <vt:lpstr>What is in your NMR Data folder?</vt:lpstr>
      <vt:lpstr>Overview of NMR Spectra pre-processing steps (1D and CPMG)</vt:lpstr>
      <vt:lpstr>Overview of NMR Spectra pre-processing steps</vt:lpstr>
      <vt:lpstr>ERETIC factor correction</vt:lpstr>
      <vt:lpstr>Spectra calibration/Alignment</vt:lpstr>
      <vt:lpstr>Spectra calibration/Alignment</vt:lpstr>
      <vt:lpstr>Alignment, or not?</vt:lpstr>
      <vt:lpstr>Remove water residuals and other regions with no signals</vt:lpstr>
      <vt:lpstr>Baseline correction</vt:lpstr>
      <vt:lpstr>Baseline correction depends on being able of distinguishing true signals from noise</vt:lpstr>
      <vt:lpstr>Normalization works against external or internal references and depends on the experimental design and type of data</vt:lpstr>
      <vt:lpstr>Normalization are either physiological if we have access to extra measurements or numerical</vt:lpstr>
      <vt:lpstr>Normalization to internal standards</vt:lpstr>
      <vt:lpstr>Normalization will affect our interpretation of the models</vt:lpstr>
      <vt:lpstr>Quality check of your data/experiments before analyzing</vt:lpstr>
      <vt:lpstr>LTR and outliers</vt:lpstr>
      <vt:lpstr>Line width test from the QC report </vt:lpstr>
      <vt:lpstr>Alanine peak shift from the QC report in Plasma and Serum sample </vt:lpstr>
      <vt:lpstr>TSP concentration from the QC report in Urine sample </vt:lpstr>
      <vt:lpstr>Sample issue?</vt:lpstr>
      <vt:lpstr>Sample issue?</vt:lpstr>
      <vt:lpstr>Quality Control – Why?</vt:lpstr>
      <vt:lpstr>Quality Control – How?</vt:lpstr>
      <vt:lpstr>Pooled QC Samples</vt:lpstr>
      <vt:lpstr>Batch Correction</vt:lpstr>
      <vt:lpstr>PowerPoint Presentation</vt:lpstr>
      <vt:lpstr>Assessment of Peaks</vt:lpstr>
      <vt:lpstr>Peak Assessment</vt:lpstr>
      <vt:lpstr>Peak Assessment</vt:lpstr>
      <vt:lpstr>Missing Values and Imputation</vt:lpstr>
      <vt:lpstr>Commonly used imputation methods</vt:lpstr>
      <vt:lpstr>Statistical Total Correlation SpectroscopY (STOCSY)</vt:lpstr>
      <vt:lpstr>STOCSY</vt:lpstr>
      <vt:lpstr>Statistical HeterospectroscopY (SHY)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Reika Masuda</cp:lastModifiedBy>
  <cp:revision>1</cp:revision>
  <dcterms:modified xsi:type="dcterms:W3CDTF">2025-09-11T03:34:32Z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f931c-4856-410e-abf2-8a4d5c5dd217_Enabled">
    <vt:lpwstr>true</vt:lpwstr>
  </property>
  <property fmtid="{D5CDD505-2E9C-101B-9397-08002B2CF9AE}" pid="3" name="MSIP_Label_374f931c-4856-410e-abf2-8a4d5c5dd217_SetDate">
    <vt:lpwstr>2025-09-11T03:34:27Z</vt:lpwstr>
  </property>
  <property fmtid="{D5CDD505-2E9C-101B-9397-08002B2CF9AE}" pid="4" name="MSIP_Label_374f931c-4856-410e-abf2-8a4d5c5dd217_Method">
    <vt:lpwstr>Standard</vt:lpwstr>
  </property>
  <property fmtid="{D5CDD505-2E9C-101B-9397-08002B2CF9AE}" pid="5" name="MSIP_Label_374f931c-4856-410e-abf2-8a4d5c5dd217_Name">
    <vt:lpwstr>Official</vt:lpwstr>
  </property>
  <property fmtid="{D5CDD505-2E9C-101B-9397-08002B2CF9AE}" pid="6" name="MSIP_Label_374f931c-4856-410e-abf2-8a4d5c5dd217_SiteId">
    <vt:lpwstr>c00d4c1b-cf7b-4e93-b7c7-10113a9bc230</vt:lpwstr>
  </property>
  <property fmtid="{D5CDD505-2E9C-101B-9397-08002B2CF9AE}" pid="7" name="MSIP_Label_374f931c-4856-410e-abf2-8a4d5c5dd217_ActionId">
    <vt:lpwstr>b7639c7f-aa8b-4655-b618-0db86c09fc48</vt:lpwstr>
  </property>
  <property fmtid="{D5CDD505-2E9C-101B-9397-08002B2CF9AE}" pid="8" name="MSIP_Label_374f931c-4856-410e-abf2-8a4d5c5dd217_ContentBits">
    <vt:lpwstr>2</vt:lpwstr>
  </property>
  <property fmtid="{D5CDD505-2E9C-101B-9397-08002B2CF9AE}" pid="9" name="MSIP_Label_374f931c-4856-410e-abf2-8a4d5c5dd217_Tag">
    <vt:lpwstr>50, 3, 0, 1</vt:lpwstr>
  </property>
  <property fmtid="{D5CDD505-2E9C-101B-9397-08002B2CF9AE}" pid="10" name="ClassificationContentMarkingFooterLocations">
    <vt:lpwstr>Office Theme:3</vt:lpwstr>
  </property>
  <property fmtid="{D5CDD505-2E9C-101B-9397-08002B2CF9AE}" pid="11" name="ClassificationContentMarkingFooterText">
    <vt:lpwstr>[OFFICIAL]</vt:lpwstr>
  </property>
</Properties>
</file>